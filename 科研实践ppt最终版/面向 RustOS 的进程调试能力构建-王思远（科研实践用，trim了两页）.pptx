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0" r:id="rId3"/>
  </p:sldMasterIdLst>
  <p:notesMasterIdLst>
    <p:notesMasterId r:id="rId5"/>
  </p:notesMasterIdLst>
  <p:handoutMasterIdLst>
    <p:handoutMasterId r:id="rId26"/>
  </p:handoutMasterIdLst>
  <p:sldIdLst>
    <p:sldId id="256" r:id="rId4"/>
    <p:sldId id="348" r:id="rId6"/>
    <p:sldId id="357" r:id="rId7"/>
    <p:sldId id="385" r:id="rId8"/>
    <p:sldId id="405" r:id="rId9"/>
    <p:sldId id="406" r:id="rId10"/>
    <p:sldId id="438" r:id="rId11"/>
    <p:sldId id="361" r:id="rId12"/>
    <p:sldId id="386" r:id="rId13"/>
    <p:sldId id="407" r:id="rId14"/>
    <p:sldId id="415" r:id="rId15"/>
    <p:sldId id="408" r:id="rId16"/>
    <p:sldId id="416" r:id="rId17"/>
    <p:sldId id="417" r:id="rId18"/>
    <p:sldId id="418" r:id="rId19"/>
    <p:sldId id="358" r:id="rId20"/>
    <p:sldId id="395" r:id="rId21"/>
    <p:sldId id="413" r:id="rId22"/>
    <p:sldId id="360" r:id="rId23"/>
    <p:sldId id="401" r:id="rId24"/>
    <p:sldId id="403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0012"/>
    <a:srgbClr val="F2D2D2"/>
    <a:srgbClr val="AE8585"/>
    <a:srgbClr val="DFC3C2"/>
    <a:srgbClr val="E6E6E6"/>
    <a:srgbClr val="DEE2E6"/>
    <a:srgbClr val="8A8D8F"/>
    <a:srgbClr val="384600"/>
    <a:srgbClr val="87674F"/>
    <a:srgbClr val="3D6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58" autoAdjust="0"/>
    <p:restoredTop sz="93846" autoAdjust="0"/>
  </p:normalViewPr>
  <p:slideViewPr>
    <p:cSldViewPr snapToGrid="0">
      <p:cViewPr>
        <p:scale>
          <a:sx n="44" d="100"/>
          <a:sy n="44" d="100"/>
        </p:scale>
        <p:origin x="564" y="4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handoutMaster" Target="handoutMasters/handoutMaster1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E9746-BB1D-419B-A6DD-5EE22E0D79E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DF304A-327D-4195-A1A1-851EA2BD1FC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DF304A-327D-4195-A1A1-851EA2BD1FC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ECE054B-68E7-45EF-8070-F21E5616883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ECE054B-68E7-45EF-8070-F21E5616883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ECE054B-68E7-45EF-8070-F21E5616883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>
                <a:sym typeface="+mn-ea"/>
              </a:rPr>
              <a:t>解耦与无大锁——ptrace-stop 的停止与恢复仅依赖一个原子标志与等待者，不依赖目标线程是否离开 CPU；跟踪关系为旁路 map、不修改进程树，故不需要 Linux 的全局 tasklist_lock。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寄存器快照与内存安全——进入停止时将寄存器现场快照为一份连续副本，在副本上读写、resume 时回写。Linux 原地修改内核栈 pt_regs 的写法可一比一翻译为 unsafe Rust，但以安全 Rust 表达需要更优的设计，将内存安全交由所有权与类型系统在编译期保证。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历史包袱与可维护性——将 Linux 中分散重复、复用字段的处理收敛为单一显式表示：寄存器字段策略以一张表声明一次，ptrace-stop 信号的生命周期以一个四态机显式建模。</a:t>
            </a:r>
            <a:endParaRPr>
              <a:sym typeface="+mn-ea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>
              <a:lnSpc>
                <a:spcPct val="112000"/>
              </a:lnSpc>
              <a:spcAft>
                <a:spcPts val="700"/>
              </a:spcAft>
            </a:pPr>
            <a:r>
              <a:rPr>
                <a:solidFill>
                  <a:srgbClr val="A00016"/>
                </a:solidFill>
                <a:sym typeface="+mn-ea"/>
              </a:rPr>
              <a:t>•  </a:t>
            </a:r>
            <a:r>
              <a:rPr>
                <a:solidFill>
                  <a:srgbClr val="202020"/>
                </a:solidFill>
                <a:sym typeface="+mn-ea"/>
              </a:rPr>
              <a:t>生命周期：未被跟踪 → 建立关系 → </a:t>
            </a:r>
            <a:r>
              <a:rPr b="1">
                <a:solidFill>
                  <a:srgbClr val="202020"/>
                </a:solidFill>
                <a:sym typeface="+mn-ea"/>
              </a:rPr>
              <a:t>ptrace-stop（快照现场、阻塞）</a:t>
            </a:r>
            <a:r>
              <a:rPr>
                <a:solidFill>
                  <a:srgbClr val="202020"/>
                </a:solidFill>
                <a:sym typeface="+mn-ea"/>
              </a:rPr>
              <a:t> → wait 报告 → 恢复运行 → 命中下一次停止条件再回到 stop，或退出清理。</a:t>
            </a:r>
            <a:endParaRPr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>
                <a:solidFill>
                  <a:srgbClr val="A00016"/>
                </a:solidFill>
                <a:sym typeface="+mn-ea"/>
              </a:rPr>
              <a:t>•  </a:t>
            </a:r>
            <a:r>
              <a:rPr b="1">
                <a:solidFill>
                  <a:srgbClr val="202020"/>
                </a:solidFill>
                <a:sym typeface="+mn-ea"/>
              </a:rPr>
              <a:t>同步机制</a:t>
            </a:r>
            <a:r>
              <a:rPr>
                <a:solidFill>
                  <a:srgbClr val="202020"/>
                </a:solidFill>
                <a:sym typeface="+mn-ea"/>
              </a:rPr>
              <a:t>：tracer 与 tracee 共享 </a:t>
            </a:r>
            <a:r>
              <a:rPr>
                <a:solidFill>
                  <a:srgbClr val="A00016"/>
                </a:solidFill>
                <a:latin typeface="Menlo" panose="020B0609030804020204"/>
                <a:cs typeface="Menlo" panose="020B0609030804020204"/>
                <a:sym typeface="+mn-ea"/>
              </a:rPr>
              <a:t>TraceeStatus</a:t>
            </a:r>
            <a:r>
              <a:rPr>
                <a:solidFill>
                  <a:srgbClr val="202020"/>
                </a:solidFill>
                <a:sym typeface="+mn-ea"/>
              </a:rPr>
              <a:t> = 原子标志 </a:t>
            </a:r>
            <a:r>
              <a:rPr>
                <a:solidFill>
                  <a:srgbClr val="A00016"/>
                </a:solidFill>
                <a:latin typeface="Menlo" panose="020B0609030804020204"/>
                <a:cs typeface="Menlo" panose="020B0609030804020204"/>
                <a:sym typeface="+mn-ea"/>
              </a:rPr>
              <a:t>is_stopped</a:t>
            </a:r>
            <a:r>
              <a:rPr>
                <a:solidFill>
                  <a:srgbClr val="202020"/>
                </a:solidFill>
                <a:sym typeface="+mn-ea"/>
              </a:rPr>
              <a:t>（是否停在 ptrace-stop 的唯一依据）和一把互斥锁 </a:t>
            </a:r>
            <a:r>
              <a:rPr>
                <a:solidFill>
                  <a:srgbClr val="A00016"/>
                </a:solidFill>
                <a:latin typeface="Menlo" panose="020B0609030804020204"/>
                <a:cs typeface="Menlo" panose="020B0609030804020204"/>
                <a:sym typeface="+mn-ea"/>
              </a:rPr>
              <a:t>state</a:t>
            </a:r>
            <a:r>
              <a:rPr>
                <a:solidFill>
                  <a:srgbClr val="202020"/>
                </a:solidFill>
                <a:sym typeface="+mn-ea"/>
              </a:rPr>
              <a:t>（保护寄存器快照、待投递信号、事件）。tracee 进入 ptrace stop 时将自身挂起，tracer 执行 resume 时翻转 </a:t>
            </a:r>
            <a:r>
              <a:rPr>
                <a:solidFill>
                  <a:srgbClr val="A00016"/>
                </a:solidFill>
                <a:latin typeface="Menlo" panose="020B0609030804020204"/>
                <a:cs typeface="Menlo" panose="020B0609030804020204"/>
                <a:sym typeface="+mn-ea"/>
              </a:rPr>
              <a:t>is_stopped</a:t>
            </a:r>
            <a:r>
              <a:rPr>
                <a:solidFill>
                  <a:srgbClr val="202020"/>
                </a:solidFill>
                <a:sym typeface="+mn-ea"/>
              </a:rPr>
              <a:t> 并将其唤醒。</a:t>
            </a:r>
            <a:endParaRPr>
              <a:sym typeface="+mn-ea"/>
            </a:endParaRPr>
          </a:p>
          <a:p>
            <a:endParaRPr>
              <a:sym typeface="+mn-ea"/>
            </a:endParaRPr>
          </a:p>
          <a:p>
            <a:r>
              <a:rPr>
                <a:sym typeface="+mn-ea"/>
              </a:rPr>
              <a:t>本页要点——ptrace-stop 的停止与恢复仅依赖共享的 `is_stopped` 原子标志与 `Waiter`，不依赖调度器是否已将目标线程移出 CPU。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本项目机制（ptrace/mod.rs `do_ptrace_stop`）——进入停止时持 `state` 锁将 `general_regs` 快照为独立副本，置 `is_stopped` 为真，向 tracer 投递 `SIGCHLD` 并唤醒其 `children_wait_queue`；随后 tracee 自身挂起于 `Waiter::pause_until_by`，唤醒条件为 `is_stopped` 变为假。tracer 的 `resume` 仅在持锁下翻转 `is_stopped` 并唤醒之。一致性由 `is_stopped` 原子标志与 `state` 互斥锁共同保证。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Linux 7.1 机制——三类停止收敛：事件停经 `ptrace_event`、系统调用停经 `ptrace_report_syscall`，均走 `ptrace_notify` → `ptrace_do_notify` → `ptrace_stop`；信号停经 `ptrace_signal` 直接进入 `ptrace_stop`。`ptrace_stop` 内 `set_special_state(TASK_TRACED)`、记录 `current-&gt;last_siginfo` 与 `exit_code`，随后 `schedule()` 让出 CPU；停止状态保存于 `TASK_TRACED` 与 `jobctl`(`JOBCTL_TRACED`)；resume 经 `wake_up_state(__TASK_TRACED)` 并清 `JOBCTL_TRACED`（kernel/ptrace.c）。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关键差异与成因——Linux 的 tracer 直接读写 tracee 内核栈上的活动现场，故 `ptrace_check_attach` 必须经 `wait_task_inactive(child, __TASK_TRACED|TASK_FROZEN)` 确认其确未在执行；本项目进入停止即把现场快照为独立副本，tracer 仅需判定 `is_stopped`，与目标是否已离开 CPU 无关。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诚实边界与问答——三类停止的收敛 Linux 同样具备，不构成本项目的优势；差异仅在于停止与恢复同调度状态解耦。若被追问「本项目仍阻塞了 tracee」，可答：阻塞由 `Waiter` 实现，但其正确性只依赖 `is_stopped` 标志与互斥锁，而非线程的调度态。</a:t>
            </a:r>
            <a:endParaRPr>
              <a:sym typeface="+mn-ea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>
                <a:sym typeface="+mn-ea"/>
              </a:rPr>
              <a:t>本页要点——跟踪关系以一张旁路 map 维护，不修改进程树，因此建立与解除关系均无需 Linux 的全局写锁 `tasklist_lock`。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本项目机制（ptrace/mod.rs）——tracer 以 `tracees: Mutex&lt;BTreeMap&lt;Tid, Arc&lt;Thread&gt;&gt;&gt;` 强引用持有各 tracee，tracee 以 `TraceeState.tracer: Weak&lt;Thread&gt;` 反向弱引用 tracer（打破 `Arc` 引用环）。`attach_to` 仅按文档化锁序 `tracer.tracees → tracee.tracee_status` 加两把 per-object 锁；`clear_tracees`、`detach` 均按同一方向加锁。tracer 的 wait 经 wait.rs `try_wait_tracees` 遍历该旁路 map，而非子进程链。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Linux 7.1 机制——`__ptrace_link` 将 `child-&gt;parent` 改为 tracer，把 tracee reparent 进全局进程树；因改动的是全局共享的链表与父指针，`ptrace_attach`、`ptrace_traceme`、`ptrace_detach` 与 kernel/exit.c 的 `exit_ptrace` 路径全程持有全局写锁 `write_lock_irq(&amp;tasklist_lock)`，`ptrace_check_attach` 持 `read_lock(&amp;tasklist_lock)` 配对校验关系。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诚实边界与问答——准确表述为「不需要跨关系变更持有的全局大锁」，而非「零全局锁」：按 tid 查询全局 `PID_TABLE`（类比 Linux `find_task_by_vpid`）仍需一次瞬时加锁，但不跨 attach 操作持有。当前主要支持 TRACEME（tracer 即 tracee 的 parent）；即便补充 ATTACH 亦无需全局大锁，其难点不在锁，而在「停止一个正在运行的 tracee」以及目标并发 exit/exec 的竞态处理。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>
                <a:sym typeface="+mn-ea"/>
              </a:rPr>
              <a:t>本页要点——跨线程读写寄存器访问的是 tracee 进入内核时保存的用户寄存器帧；本项目以「停止时快照、副本上读写、resume 回写」配合安全 Rust，使内存安全可由编译期静态验证，而非依赖运行期检查与人工审阅。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本项目机制（ptrace/mod.rs、arch/x86/ptrace.rs）——`do_ptrace_stop` 持 `state` 锁取 `state.general_regs = Some(*user_ctx.general_regs())`，得到一份连续副本 `CUserRegsStruct`（`Pod`）；`get_regs`/`set_regs`/`peek_user`/`poke_user` 均在 `check_ptrace_stopped` 通过后于副本上操作，resume 时 `*user_ctx.general_regs_mut() = regs` 回写。跨进程内存经可失败的 `VmReader`/`VmWriter` 与 `UFrame` 句柄访问，kernel/ 全程零 `unsafe`。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Linux 7.1 机制——`getreg`/`putreg` 经 `*pt_regs_access(task_pt_regs(child), offset)` 原地读写内核栈上保存的 `pt_regs`；fsbase/gsbase 经 `x86_fsbase_write_task`/`x86_gsbase_read_task` 存于 `task-&gt;thread`，debug 寄存器另存于 `thread-&gt;ptrace_bps` 等处，现场是分散的。因改的是活动 task 的保存帧，`ptrace_check_attach` 须先 `wait_task_inactive` 确认其已下 CPU。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内存安全成因与定调——该路径是内核中最易出内存安全漏洞之处：按调用方偏移的裸指针访问、跨地址空间拷贝、目标可能并发 exit/exec。Linux 以裸指针加 `copy_to_user`/`get_user_pages` 实现，安全性靠运行期检查与人工审阅；本项目把越界与释放后访问交由所有权与类型系统在编译期约束，部分字段策略源码注释原文标注「比 Linux 更严」。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>
                <a:sym typeface="+mn-ea"/>
              </a:rPr>
              <a:t>本页要点——把 Linux 中分散、复用的处理收敛为单一显式表示：寄存器字段策略归一为一张 `REG_RULES` 表，ptrace-stop 信号归一为一个四态机。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寄存器表（arch/x86/ptrace.rs）——单张 `REG_RULES` 为每个字段声明一次策略（`Set`/`SetIf`/`SetBitsTruncate`/`Fixed`）；`From&lt;&amp;GeneralRegs&gt;` 读快照、`apply_to` 写校验、`read_user_word`/`write_user_word` 按偏移 PEEK/POKEUSER 四条路径共查同表，并以 `const` 断言 `(REG_RULES.len()+1)*size_of::&lt;usize&gt;() == size_of::&lt;CUserRegsStruct&gt;()` 防止表与结构体不一致。Linux 则在 `getreg`/`putreg` 等多处分派各字段的特殊处理。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信号四态机（ptrace/util.rs `StopDeliverySignal`）——`Empty`/`Pending`/`Consumed`/`Injected` 在一处显式建模整条生命周期；同一份 `DequeuedSignal`（含完整 siginfo）贯穿 wait 与 resume 重投，`get_siginfo`（即 GETSIGINFO）也读它。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Linux 为何分散（已核 Linux 7.1，回答历史成因）——经典 ptrace 只有一条信号通道：信号号存于 `task-&gt;exit_code`，经 POSIX wait status 暴露给 tracer，resume 注入的信号也写回 `exit_code`（`PTRACE_CONT` 的 `data` → `child-&gt;exit_code`，`ptrace_signal` 再回读）。完整 siginfo 是后来才有的——`PTRACE_GETSIGINFO`/`SETSIGINFO`（请求号 0x4202/0x4203，远晚于 `CONT`=7）引入 `task-&gt;last_siginfo` 作后备，于 `ptrace_stop` 置、resume 清。于是「这次停止的信号」有两份表示：号在 `exit_code`、完整 siginfo 在 `last_siginfo`，外加 `jobctl` 记停止态——正是历史叠加。本项目自始即以一个 `DequeuedSignal` 配四态机统一承载，GETSIGINFO 与 wait、重投共用同一份。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定调——本条为「实现更显式、更易维护」，并给出了 Linux 分散的历史成因，而非指 Linux 存在缺陷。</a:t>
            </a:r>
            <a:endParaRPr>
              <a:sym typeface="+mn-ea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ECE054B-68E7-45EF-8070-F21E5616883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ECE054B-68E7-45EF-8070-F21E5616883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DF304A-327D-4195-A1A1-851EA2BD1FC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DD4EF-579F-46EB-BF66-139DDED1F3A7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A6778-4507-47EF-96C7-987F9C86921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94A38-03E6-4848-9DF1-4517706B342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EA783-A948-4910-9AA6-2010E4B004AA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0021F-D06D-45E9-BB31-8F3789D36735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D1830-0344-4C9F-ACE2-4B2503039215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AFFB4-E3EF-470B-984C-AEB6EC8B8CDC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68C06-FE1E-416E-8196-F6537F542E86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207DE-9B4B-416A-A22A-9E1884ACA44B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38D1-D93D-40C6-A058-B35BB160CBC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795BD-6817-4FBF-BD9B-612C7DA0BD3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DD4EF-579F-46EB-BF66-139DDED1F3A7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A6778-4507-47EF-96C7-987F9C86921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94A38-03E6-4848-9DF1-4517706B342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EA783-A948-4910-9AA6-2010E4B004AA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0021F-D06D-45E9-BB31-8F3789D36735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D1830-0344-4C9F-ACE2-4B2503039215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AFFB4-E3EF-470B-984C-AEB6EC8B8CDC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68C06-FE1E-416E-8196-F6537F542E86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207DE-9B4B-416A-A22A-9E1884ACA44B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38D1-D93D-40C6-A058-B35BB160CBC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795BD-6817-4FBF-BD9B-612C7DA0BD3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75F846-4F30-4005-979D-CFB5E495259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75F846-4F30-4005-979D-CFB5E495259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9" Type="http://schemas.openxmlformats.org/officeDocument/2006/relationships/notesSlide" Target="../notesSlides/notesSlide2.xml"/><Relationship Id="rId28" Type="http://schemas.openxmlformats.org/officeDocument/2006/relationships/slideLayout" Target="../slideLayouts/slideLayout7.xml"/><Relationship Id="rId27" Type="http://schemas.openxmlformats.org/officeDocument/2006/relationships/tags" Target="../tags/tag24.xml"/><Relationship Id="rId26" Type="http://schemas.openxmlformats.org/officeDocument/2006/relationships/tags" Target="../tags/tag23.xml"/><Relationship Id="rId25" Type="http://schemas.openxmlformats.org/officeDocument/2006/relationships/tags" Target="../tags/tag22.xml"/><Relationship Id="rId24" Type="http://schemas.openxmlformats.org/officeDocument/2006/relationships/tags" Target="../tags/tag21.xml"/><Relationship Id="rId23" Type="http://schemas.openxmlformats.org/officeDocument/2006/relationships/tags" Target="../tags/tag20.xml"/><Relationship Id="rId22" Type="http://schemas.openxmlformats.org/officeDocument/2006/relationships/tags" Target="../tags/tag19.xml"/><Relationship Id="rId21" Type="http://schemas.openxmlformats.org/officeDocument/2006/relationships/tags" Target="../tags/tag18.xml"/><Relationship Id="rId20" Type="http://schemas.openxmlformats.org/officeDocument/2006/relationships/tags" Target="../tags/tag17.xml"/><Relationship Id="rId2" Type="http://schemas.openxmlformats.org/officeDocument/2006/relationships/image" Target="../media/image3.png"/><Relationship Id="rId19" Type="http://schemas.openxmlformats.org/officeDocument/2006/relationships/tags" Target="../tags/tag16.xml"/><Relationship Id="rId18" Type="http://schemas.openxmlformats.org/officeDocument/2006/relationships/tags" Target="../tags/tag15.xml"/><Relationship Id="rId17" Type="http://schemas.openxmlformats.org/officeDocument/2006/relationships/tags" Target="../tags/tag14.xml"/><Relationship Id="rId16" Type="http://schemas.openxmlformats.org/officeDocument/2006/relationships/tags" Target="../tags/tag13.xml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36.xml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7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7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2" Type="http://schemas.openxmlformats.org/officeDocument/2006/relationships/notesSlide" Target="../notesSlides/notesSlide4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46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2.png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5.png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6.png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7.png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47.xml"/><Relationship Id="rId2" Type="http://schemas.openxmlformats.org/officeDocument/2006/relationships/image" Target="../media/image18.png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tags" Target="../tags/tag48.xml"/><Relationship Id="rId3" Type="http://schemas.microsoft.com/office/2007/relationships/media" Target="../media/media1.mp4"/><Relationship Id="rId2" Type="http://schemas.openxmlformats.org/officeDocument/2006/relationships/video" Target="../media/media1.mp4"/><Relationship Id="rId1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0.png"/><Relationship Id="rId1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2376177" y="1840681"/>
            <a:ext cx="8301159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面向 RustOS 的进程调试能力构建</a:t>
            </a:r>
            <a:endParaRPr lang="zh-CN" altLang="en-US" sz="4000" b="1" kern="1600" dirty="0">
              <a:latin typeface="方正小标宋简体" panose="03000509000000000000" pitchFamily="2" charset="-122"/>
              <a:ea typeface="方正小标宋简体" panose="03000509000000000000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939790" y="3623945"/>
            <a:ext cx="4312920" cy="1366520"/>
            <a:chOff x="4056604" y="3756300"/>
            <a:chExt cx="4732655" cy="1366387"/>
          </a:xfrm>
        </p:grpSpPr>
        <p:grpSp>
          <p:nvGrpSpPr>
            <p:cNvPr id="5" name="组合 4"/>
            <p:cNvGrpSpPr>
              <a:grpSpLocks noChangeAspect="1"/>
            </p:cNvGrpSpPr>
            <p:nvPr/>
          </p:nvGrpSpPr>
          <p:grpSpPr>
            <a:xfrm>
              <a:off x="4056604" y="3756300"/>
              <a:ext cx="576000" cy="576000"/>
              <a:chOff x="5312576" y="3233246"/>
              <a:chExt cx="1561578" cy="1561578"/>
            </a:xfrm>
          </p:grpSpPr>
          <p:sp>
            <p:nvSpPr>
              <p:cNvPr id="20" name="椭圆 19"/>
              <p:cNvSpPr/>
              <p:nvPr/>
            </p:nvSpPr>
            <p:spPr>
              <a:xfrm>
                <a:off x="5312576" y="3233246"/>
                <a:ext cx="1561578" cy="1561578"/>
              </a:xfrm>
              <a:prstGeom prst="ellipse">
                <a:avLst/>
              </a:prstGeom>
              <a:solidFill>
                <a:srgbClr val="8B0012"/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marL="225425" indent="-225425"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 kern="0" dirty="0">
                  <a:solidFill>
                    <a:prstClr val="black"/>
                  </a:solidFill>
                  <a:cs typeface="Arial" panose="020B0604020202020204" pitchFamily="34" charset="0"/>
                  <a:sym typeface="+mn-lt"/>
                </a:endParaRPr>
              </a:p>
            </p:txBody>
          </p:sp>
          <p:sp>
            <p:nvSpPr>
              <p:cNvPr id="28" name="椭圆 11"/>
              <p:cNvSpPr/>
              <p:nvPr/>
            </p:nvSpPr>
            <p:spPr>
              <a:xfrm>
                <a:off x="5736406" y="3597442"/>
                <a:ext cx="740329" cy="830424"/>
              </a:xfrm>
              <a:custGeom>
                <a:avLst/>
                <a:gdLst>
                  <a:gd name="connsiteX0" fmla="*/ 199932 w 300038"/>
                  <a:gd name="connsiteY0" fmla="*/ 273051 h 336551"/>
                  <a:gd name="connsiteX1" fmla="*/ 192088 w 300038"/>
                  <a:gd name="connsiteY1" fmla="*/ 280989 h 336551"/>
                  <a:gd name="connsiteX2" fmla="*/ 192088 w 300038"/>
                  <a:gd name="connsiteY2" fmla="*/ 306124 h 336551"/>
                  <a:gd name="connsiteX3" fmla="*/ 199932 w 300038"/>
                  <a:gd name="connsiteY3" fmla="*/ 312739 h 336551"/>
                  <a:gd name="connsiteX4" fmla="*/ 250919 w 300038"/>
                  <a:gd name="connsiteY4" fmla="*/ 312739 h 336551"/>
                  <a:gd name="connsiteX5" fmla="*/ 258763 w 300038"/>
                  <a:gd name="connsiteY5" fmla="*/ 306124 h 336551"/>
                  <a:gd name="connsiteX6" fmla="*/ 258763 w 300038"/>
                  <a:gd name="connsiteY6" fmla="*/ 280989 h 336551"/>
                  <a:gd name="connsiteX7" fmla="*/ 250919 w 300038"/>
                  <a:gd name="connsiteY7" fmla="*/ 273051 h 336551"/>
                  <a:gd name="connsiteX8" fmla="*/ 199932 w 300038"/>
                  <a:gd name="connsiteY8" fmla="*/ 273051 h 336551"/>
                  <a:gd name="connsiteX9" fmla="*/ 101328 w 300038"/>
                  <a:gd name="connsiteY9" fmla="*/ 196851 h 336551"/>
                  <a:gd name="connsiteX10" fmla="*/ 107908 w 300038"/>
                  <a:gd name="connsiteY10" fmla="*/ 196851 h 336551"/>
                  <a:gd name="connsiteX11" fmla="*/ 111856 w 300038"/>
                  <a:gd name="connsiteY11" fmla="*/ 202123 h 336551"/>
                  <a:gd name="connsiteX12" fmla="*/ 128964 w 300038"/>
                  <a:gd name="connsiteY12" fmla="*/ 248250 h 336551"/>
                  <a:gd name="connsiteX13" fmla="*/ 131595 w 300038"/>
                  <a:gd name="connsiteY13" fmla="*/ 239025 h 336551"/>
                  <a:gd name="connsiteX14" fmla="*/ 126332 w 300038"/>
                  <a:gd name="connsiteY14" fmla="*/ 225845 h 336551"/>
                  <a:gd name="connsiteX15" fmla="*/ 127648 w 300038"/>
                  <a:gd name="connsiteY15" fmla="*/ 217938 h 336551"/>
                  <a:gd name="connsiteX16" fmla="*/ 132911 w 300038"/>
                  <a:gd name="connsiteY16" fmla="*/ 215302 h 336551"/>
                  <a:gd name="connsiteX17" fmla="*/ 167126 w 300038"/>
                  <a:gd name="connsiteY17" fmla="*/ 215302 h 336551"/>
                  <a:gd name="connsiteX18" fmla="*/ 172390 w 300038"/>
                  <a:gd name="connsiteY18" fmla="*/ 217938 h 336551"/>
                  <a:gd name="connsiteX19" fmla="*/ 173706 w 300038"/>
                  <a:gd name="connsiteY19" fmla="*/ 225845 h 336551"/>
                  <a:gd name="connsiteX20" fmla="*/ 168442 w 300038"/>
                  <a:gd name="connsiteY20" fmla="*/ 239025 h 336551"/>
                  <a:gd name="connsiteX21" fmla="*/ 171074 w 300038"/>
                  <a:gd name="connsiteY21" fmla="*/ 248250 h 336551"/>
                  <a:gd name="connsiteX22" fmla="*/ 188182 w 300038"/>
                  <a:gd name="connsiteY22" fmla="*/ 202123 h 336551"/>
                  <a:gd name="connsiteX23" fmla="*/ 192130 w 300038"/>
                  <a:gd name="connsiteY23" fmla="*/ 196851 h 336551"/>
                  <a:gd name="connsiteX24" fmla="*/ 198710 w 300038"/>
                  <a:gd name="connsiteY24" fmla="*/ 196851 h 336551"/>
                  <a:gd name="connsiteX25" fmla="*/ 265823 w 300038"/>
                  <a:gd name="connsiteY25" fmla="*/ 224527 h 336551"/>
                  <a:gd name="connsiteX26" fmla="*/ 300038 w 300038"/>
                  <a:gd name="connsiteY26" fmla="*/ 274609 h 336551"/>
                  <a:gd name="connsiteX27" fmla="*/ 300038 w 300038"/>
                  <a:gd name="connsiteY27" fmla="*/ 328643 h 336551"/>
                  <a:gd name="connsiteX28" fmla="*/ 292142 w 300038"/>
                  <a:gd name="connsiteY28" fmla="*/ 336551 h 336551"/>
                  <a:gd name="connsiteX29" fmla="*/ 7896 w 300038"/>
                  <a:gd name="connsiteY29" fmla="*/ 336551 h 336551"/>
                  <a:gd name="connsiteX30" fmla="*/ 0 w 300038"/>
                  <a:gd name="connsiteY30" fmla="*/ 328643 h 336551"/>
                  <a:gd name="connsiteX31" fmla="*/ 0 w 300038"/>
                  <a:gd name="connsiteY31" fmla="*/ 274609 h 336551"/>
                  <a:gd name="connsiteX32" fmla="*/ 34215 w 300038"/>
                  <a:gd name="connsiteY32" fmla="*/ 224527 h 336551"/>
                  <a:gd name="connsiteX33" fmla="*/ 101328 w 300038"/>
                  <a:gd name="connsiteY33" fmla="*/ 196851 h 336551"/>
                  <a:gd name="connsiteX34" fmla="*/ 155328 w 300038"/>
                  <a:gd name="connsiteY34" fmla="*/ 0 h 336551"/>
                  <a:gd name="connsiteX35" fmla="*/ 201775 w 300038"/>
                  <a:gd name="connsiteY35" fmla="*/ 15854 h 336551"/>
                  <a:gd name="connsiteX36" fmla="*/ 223008 w 300038"/>
                  <a:gd name="connsiteY36" fmla="*/ 79268 h 336551"/>
                  <a:gd name="connsiteX37" fmla="*/ 224335 w 300038"/>
                  <a:gd name="connsiteY37" fmla="*/ 93801 h 336551"/>
                  <a:gd name="connsiteX38" fmla="*/ 229643 w 300038"/>
                  <a:gd name="connsiteY38" fmla="*/ 100407 h 336551"/>
                  <a:gd name="connsiteX39" fmla="*/ 232297 w 300038"/>
                  <a:gd name="connsiteY39" fmla="*/ 125508 h 336551"/>
                  <a:gd name="connsiteX40" fmla="*/ 208410 w 300038"/>
                  <a:gd name="connsiteY40" fmla="*/ 151931 h 336551"/>
                  <a:gd name="connsiteX41" fmla="*/ 185850 w 300038"/>
                  <a:gd name="connsiteY41" fmla="*/ 183639 h 336551"/>
                  <a:gd name="connsiteX42" fmla="*/ 172579 w 300038"/>
                  <a:gd name="connsiteY42" fmla="*/ 192887 h 336551"/>
                  <a:gd name="connsiteX43" fmla="*/ 150019 w 300038"/>
                  <a:gd name="connsiteY43" fmla="*/ 196850 h 336551"/>
                  <a:gd name="connsiteX44" fmla="*/ 127459 w 300038"/>
                  <a:gd name="connsiteY44" fmla="*/ 192887 h 336551"/>
                  <a:gd name="connsiteX45" fmla="*/ 114189 w 300038"/>
                  <a:gd name="connsiteY45" fmla="*/ 183639 h 336551"/>
                  <a:gd name="connsiteX46" fmla="*/ 91629 w 300038"/>
                  <a:gd name="connsiteY46" fmla="*/ 151931 h 336551"/>
                  <a:gd name="connsiteX47" fmla="*/ 67742 w 300038"/>
                  <a:gd name="connsiteY47" fmla="*/ 125508 h 336551"/>
                  <a:gd name="connsiteX48" fmla="*/ 70396 w 300038"/>
                  <a:gd name="connsiteY48" fmla="*/ 100407 h 336551"/>
                  <a:gd name="connsiteX49" fmla="*/ 75704 w 300038"/>
                  <a:gd name="connsiteY49" fmla="*/ 93801 h 336551"/>
                  <a:gd name="connsiteX50" fmla="*/ 77031 w 300038"/>
                  <a:gd name="connsiteY50" fmla="*/ 85874 h 336551"/>
                  <a:gd name="connsiteX51" fmla="*/ 74377 w 300038"/>
                  <a:gd name="connsiteY51" fmla="*/ 50203 h 336551"/>
                  <a:gd name="connsiteX52" fmla="*/ 103572 w 300038"/>
                  <a:gd name="connsiteY52" fmla="*/ 27744 h 336551"/>
                  <a:gd name="connsiteX53" fmla="*/ 119497 w 300038"/>
                  <a:gd name="connsiteY53" fmla="*/ 10569 h 336551"/>
                  <a:gd name="connsiteX54" fmla="*/ 155328 w 300038"/>
                  <a:gd name="connsiteY54" fmla="*/ 0 h 336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</a:cxnLst>
                <a:rect l="l" t="t" r="r" b="b"/>
                <a:pathLst>
                  <a:path w="300038" h="336551">
                    <a:moveTo>
                      <a:pt x="199932" y="273051"/>
                    </a:moveTo>
                    <a:cubicBezTo>
                      <a:pt x="194703" y="273051"/>
                      <a:pt x="192088" y="277020"/>
                      <a:pt x="192088" y="280989"/>
                    </a:cubicBezTo>
                    <a:cubicBezTo>
                      <a:pt x="192088" y="306124"/>
                      <a:pt x="192088" y="306124"/>
                      <a:pt x="192088" y="306124"/>
                    </a:cubicBezTo>
                    <a:cubicBezTo>
                      <a:pt x="192088" y="310093"/>
                      <a:pt x="194703" y="312739"/>
                      <a:pt x="199932" y="312739"/>
                    </a:cubicBezTo>
                    <a:cubicBezTo>
                      <a:pt x="250919" y="312739"/>
                      <a:pt x="250919" y="312739"/>
                      <a:pt x="250919" y="312739"/>
                    </a:cubicBezTo>
                    <a:cubicBezTo>
                      <a:pt x="254841" y="312739"/>
                      <a:pt x="258763" y="310093"/>
                      <a:pt x="258763" y="306124"/>
                    </a:cubicBezTo>
                    <a:lnTo>
                      <a:pt x="258763" y="280989"/>
                    </a:lnTo>
                    <a:cubicBezTo>
                      <a:pt x="258763" y="277020"/>
                      <a:pt x="254841" y="273051"/>
                      <a:pt x="250919" y="273051"/>
                    </a:cubicBezTo>
                    <a:cubicBezTo>
                      <a:pt x="199932" y="273051"/>
                      <a:pt x="199932" y="273051"/>
                      <a:pt x="199932" y="273051"/>
                    </a:cubicBezTo>
                    <a:close/>
                    <a:moveTo>
                      <a:pt x="101328" y="196851"/>
                    </a:moveTo>
                    <a:cubicBezTo>
                      <a:pt x="103960" y="196851"/>
                      <a:pt x="105276" y="196851"/>
                      <a:pt x="107908" y="196851"/>
                    </a:cubicBezTo>
                    <a:cubicBezTo>
                      <a:pt x="109224" y="198169"/>
                      <a:pt x="110540" y="199487"/>
                      <a:pt x="111856" y="202123"/>
                    </a:cubicBezTo>
                    <a:cubicBezTo>
                      <a:pt x="128964" y="248250"/>
                      <a:pt x="128964" y="248250"/>
                      <a:pt x="128964" y="248250"/>
                    </a:cubicBezTo>
                    <a:cubicBezTo>
                      <a:pt x="131595" y="239025"/>
                      <a:pt x="131595" y="239025"/>
                      <a:pt x="131595" y="239025"/>
                    </a:cubicBezTo>
                    <a:cubicBezTo>
                      <a:pt x="126332" y="225845"/>
                      <a:pt x="126332" y="225845"/>
                      <a:pt x="126332" y="225845"/>
                    </a:cubicBezTo>
                    <a:cubicBezTo>
                      <a:pt x="125016" y="223209"/>
                      <a:pt x="126332" y="220574"/>
                      <a:pt x="127648" y="217938"/>
                    </a:cubicBezTo>
                    <a:cubicBezTo>
                      <a:pt x="128964" y="216620"/>
                      <a:pt x="131595" y="215302"/>
                      <a:pt x="132911" y="215302"/>
                    </a:cubicBezTo>
                    <a:cubicBezTo>
                      <a:pt x="167126" y="215302"/>
                      <a:pt x="167126" y="215302"/>
                      <a:pt x="167126" y="215302"/>
                    </a:cubicBezTo>
                    <a:cubicBezTo>
                      <a:pt x="168442" y="215302"/>
                      <a:pt x="171074" y="216620"/>
                      <a:pt x="172390" y="217938"/>
                    </a:cubicBezTo>
                    <a:cubicBezTo>
                      <a:pt x="173706" y="220574"/>
                      <a:pt x="175022" y="223209"/>
                      <a:pt x="173706" y="225845"/>
                    </a:cubicBezTo>
                    <a:cubicBezTo>
                      <a:pt x="168442" y="239025"/>
                      <a:pt x="168442" y="239025"/>
                      <a:pt x="168442" y="239025"/>
                    </a:cubicBezTo>
                    <a:cubicBezTo>
                      <a:pt x="171074" y="248250"/>
                      <a:pt x="171074" y="248250"/>
                      <a:pt x="171074" y="248250"/>
                    </a:cubicBezTo>
                    <a:cubicBezTo>
                      <a:pt x="188182" y="202123"/>
                      <a:pt x="188182" y="202123"/>
                      <a:pt x="188182" y="202123"/>
                    </a:cubicBezTo>
                    <a:cubicBezTo>
                      <a:pt x="189498" y="199487"/>
                      <a:pt x="190814" y="198169"/>
                      <a:pt x="192130" y="196851"/>
                    </a:cubicBezTo>
                    <a:cubicBezTo>
                      <a:pt x="194762" y="196851"/>
                      <a:pt x="196078" y="196851"/>
                      <a:pt x="198710" y="196851"/>
                    </a:cubicBezTo>
                    <a:cubicBezTo>
                      <a:pt x="265823" y="224527"/>
                      <a:pt x="265823" y="224527"/>
                      <a:pt x="265823" y="224527"/>
                    </a:cubicBezTo>
                    <a:cubicBezTo>
                      <a:pt x="286879" y="232435"/>
                      <a:pt x="300038" y="252204"/>
                      <a:pt x="300038" y="274609"/>
                    </a:cubicBezTo>
                    <a:cubicBezTo>
                      <a:pt x="300038" y="328643"/>
                      <a:pt x="300038" y="328643"/>
                      <a:pt x="300038" y="328643"/>
                    </a:cubicBezTo>
                    <a:cubicBezTo>
                      <a:pt x="300038" y="332597"/>
                      <a:pt x="296090" y="336551"/>
                      <a:pt x="292142" y="336551"/>
                    </a:cubicBezTo>
                    <a:cubicBezTo>
                      <a:pt x="7896" y="336551"/>
                      <a:pt x="7896" y="336551"/>
                      <a:pt x="7896" y="336551"/>
                    </a:cubicBezTo>
                    <a:cubicBezTo>
                      <a:pt x="3948" y="336551"/>
                      <a:pt x="0" y="332597"/>
                      <a:pt x="0" y="328643"/>
                    </a:cubicBezTo>
                    <a:cubicBezTo>
                      <a:pt x="0" y="274609"/>
                      <a:pt x="0" y="274609"/>
                      <a:pt x="0" y="274609"/>
                    </a:cubicBezTo>
                    <a:cubicBezTo>
                      <a:pt x="0" y="252204"/>
                      <a:pt x="13159" y="232435"/>
                      <a:pt x="34215" y="224527"/>
                    </a:cubicBezTo>
                    <a:cubicBezTo>
                      <a:pt x="101328" y="196851"/>
                      <a:pt x="101328" y="196851"/>
                      <a:pt x="101328" y="196851"/>
                    </a:cubicBezTo>
                    <a:close/>
                    <a:moveTo>
                      <a:pt x="155328" y="0"/>
                    </a:moveTo>
                    <a:cubicBezTo>
                      <a:pt x="171252" y="0"/>
                      <a:pt x="187177" y="5285"/>
                      <a:pt x="201775" y="15854"/>
                    </a:cubicBezTo>
                    <a:cubicBezTo>
                      <a:pt x="225662" y="34350"/>
                      <a:pt x="223008" y="72663"/>
                      <a:pt x="223008" y="79268"/>
                    </a:cubicBezTo>
                    <a:cubicBezTo>
                      <a:pt x="223008" y="84553"/>
                      <a:pt x="224335" y="89838"/>
                      <a:pt x="224335" y="93801"/>
                    </a:cubicBezTo>
                    <a:cubicBezTo>
                      <a:pt x="225662" y="95122"/>
                      <a:pt x="228316" y="96443"/>
                      <a:pt x="229643" y="100407"/>
                    </a:cubicBezTo>
                    <a:cubicBezTo>
                      <a:pt x="234951" y="107012"/>
                      <a:pt x="234951" y="114939"/>
                      <a:pt x="232297" y="125508"/>
                    </a:cubicBezTo>
                    <a:cubicBezTo>
                      <a:pt x="226989" y="146647"/>
                      <a:pt x="215045" y="150610"/>
                      <a:pt x="208410" y="151931"/>
                    </a:cubicBezTo>
                    <a:cubicBezTo>
                      <a:pt x="204429" y="159858"/>
                      <a:pt x="195139" y="175712"/>
                      <a:pt x="185850" y="183639"/>
                    </a:cubicBezTo>
                    <a:cubicBezTo>
                      <a:pt x="183196" y="187602"/>
                      <a:pt x="177888" y="190244"/>
                      <a:pt x="172579" y="192887"/>
                    </a:cubicBezTo>
                    <a:cubicBezTo>
                      <a:pt x="164617" y="195529"/>
                      <a:pt x="157982" y="196850"/>
                      <a:pt x="150019" y="196850"/>
                    </a:cubicBezTo>
                    <a:cubicBezTo>
                      <a:pt x="142057" y="196850"/>
                      <a:pt x="135422" y="195529"/>
                      <a:pt x="127459" y="192887"/>
                    </a:cubicBezTo>
                    <a:cubicBezTo>
                      <a:pt x="122151" y="190244"/>
                      <a:pt x="116843" y="187602"/>
                      <a:pt x="114189" y="183639"/>
                    </a:cubicBezTo>
                    <a:cubicBezTo>
                      <a:pt x="104900" y="175712"/>
                      <a:pt x="95610" y="159858"/>
                      <a:pt x="91629" y="151931"/>
                    </a:cubicBezTo>
                    <a:cubicBezTo>
                      <a:pt x="84994" y="150610"/>
                      <a:pt x="73050" y="146647"/>
                      <a:pt x="67742" y="125508"/>
                    </a:cubicBezTo>
                    <a:cubicBezTo>
                      <a:pt x="65088" y="114939"/>
                      <a:pt x="65088" y="107012"/>
                      <a:pt x="70396" y="100407"/>
                    </a:cubicBezTo>
                    <a:cubicBezTo>
                      <a:pt x="71723" y="96443"/>
                      <a:pt x="74377" y="95122"/>
                      <a:pt x="75704" y="93801"/>
                    </a:cubicBezTo>
                    <a:cubicBezTo>
                      <a:pt x="75704" y="91159"/>
                      <a:pt x="75704" y="88516"/>
                      <a:pt x="77031" y="85874"/>
                    </a:cubicBezTo>
                    <a:cubicBezTo>
                      <a:pt x="73050" y="80590"/>
                      <a:pt x="67742" y="68699"/>
                      <a:pt x="74377" y="50203"/>
                    </a:cubicBezTo>
                    <a:cubicBezTo>
                      <a:pt x="81013" y="30386"/>
                      <a:pt x="95610" y="27744"/>
                      <a:pt x="103572" y="27744"/>
                    </a:cubicBezTo>
                    <a:cubicBezTo>
                      <a:pt x="106227" y="22459"/>
                      <a:pt x="111535" y="17175"/>
                      <a:pt x="119497" y="10569"/>
                    </a:cubicBezTo>
                    <a:cubicBezTo>
                      <a:pt x="128786" y="3963"/>
                      <a:pt x="142057" y="0"/>
                      <a:pt x="155328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  <p:grpSp>
          <p:nvGrpSpPr>
            <p:cNvPr id="6" name="组合 5"/>
            <p:cNvGrpSpPr>
              <a:grpSpLocks noChangeAspect="1"/>
            </p:cNvGrpSpPr>
            <p:nvPr/>
          </p:nvGrpSpPr>
          <p:grpSpPr>
            <a:xfrm>
              <a:off x="4056604" y="4546687"/>
              <a:ext cx="576000" cy="576000"/>
              <a:chOff x="312256" y="5505217"/>
              <a:chExt cx="1561578" cy="1561578"/>
            </a:xfrm>
          </p:grpSpPr>
          <p:sp>
            <p:nvSpPr>
              <p:cNvPr id="9" name="椭圆 8"/>
              <p:cNvSpPr/>
              <p:nvPr/>
            </p:nvSpPr>
            <p:spPr>
              <a:xfrm>
                <a:off x="312256" y="5505217"/>
                <a:ext cx="1561578" cy="1561578"/>
              </a:xfrm>
              <a:prstGeom prst="ellipse">
                <a:avLst/>
              </a:prstGeom>
              <a:solidFill>
                <a:srgbClr val="8B0012"/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marL="225425" indent="-225425"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 kern="0" dirty="0">
                  <a:solidFill>
                    <a:prstClr val="black"/>
                  </a:solidFill>
                  <a:cs typeface="Arial" panose="020B0604020202020204" pitchFamily="34" charset="0"/>
                  <a:sym typeface="+mn-lt"/>
                </a:endParaRPr>
              </a:p>
            </p:txBody>
          </p:sp>
          <p:grpSp>
            <p:nvGrpSpPr>
              <p:cNvPr id="11" name="组合 10"/>
              <p:cNvGrpSpPr>
                <a:grpSpLocks noChangeAspect="1"/>
              </p:cNvGrpSpPr>
              <p:nvPr/>
            </p:nvGrpSpPr>
            <p:grpSpPr>
              <a:xfrm>
                <a:off x="655432" y="5793810"/>
                <a:ext cx="875247" cy="1012007"/>
                <a:chOff x="-8569682" y="7503107"/>
                <a:chExt cx="1095478" cy="1266650"/>
              </a:xfrm>
            </p:grpSpPr>
            <p:sp>
              <p:nvSpPr>
                <p:cNvPr id="13" name="Freeform 431"/>
                <p:cNvSpPr>
                  <a:spLocks noEditPoints="1"/>
                </p:cNvSpPr>
                <p:nvPr/>
              </p:nvSpPr>
              <p:spPr bwMode="auto">
                <a:xfrm>
                  <a:off x="-8569682" y="7503107"/>
                  <a:ext cx="1095478" cy="1266650"/>
                </a:xfrm>
                <a:custGeom>
                  <a:avLst/>
                  <a:gdLst>
                    <a:gd name="T0" fmla="*/ 218 w 248"/>
                    <a:gd name="T1" fmla="*/ 40 h 287"/>
                    <a:gd name="T2" fmla="*/ 218 w 248"/>
                    <a:gd name="T3" fmla="*/ 24 h 287"/>
                    <a:gd name="T4" fmla="*/ 193 w 248"/>
                    <a:gd name="T5" fmla="*/ 0 h 287"/>
                    <a:gd name="T6" fmla="*/ 167 w 248"/>
                    <a:gd name="T7" fmla="*/ 24 h 287"/>
                    <a:gd name="T8" fmla="*/ 167 w 248"/>
                    <a:gd name="T9" fmla="*/ 40 h 287"/>
                    <a:gd name="T10" fmla="*/ 150 w 248"/>
                    <a:gd name="T11" fmla="*/ 40 h 287"/>
                    <a:gd name="T12" fmla="*/ 150 w 248"/>
                    <a:gd name="T13" fmla="*/ 24 h 287"/>
                    <a:gd name="T14" fmla="*/ 124 w 248"/>
                    <a:gd name="T15" fmla="*/ 0 h 287"/>
                    <a:gd name="T16" fmla="*/ 98 w 248"/>
                    <a:gd name="T17" fmla="*/ 24 h 287"/>
                    <a:gd name="T18" fmla="*/ 98 w 248"/>
                    <a:gd name="T19" fmla="*/ 40 h 287"/>
                    <a:gd name="T20" fmla="*/ 81 w 248"/>
                    <a:gd name="T21" fmla="*/ 40 h 287"/>
                    <a:gd name="T22" fmla="*/ 81 w 248"/>
                    <a:gd name="T23" fmla="*/ 24 h 287"/>
                    <a:gd name="T24" fmla="*/ 55 w 248"/>
                    <a:gd name="T25" fmla="*/ 0 h 287"/>
                    <a:gd name="T26" fmla="*/ 29 w 248"/>
                    <a:gd name="T27" fmla="*/ 24 h 287"/>
                    <a:gd name="T28" fmla="*/ 29 w 248"/>
                    <a:gd name="T29" fmla="*/ 40 h 287"/>
                    <a:gd name="T30" fmla="*/ 0 w 248"/>
                    <a:gd name="T31" fmla="*/ 40 h 287"/>
                    <a:gd name="T32" fmla="*/ 0 w 248"/>
                    <a:gd name="T33" fmla="*/ 287 h 287"/>
                    <a:gd name="T34" fmla="*/ 248 w 248"/>
                    <a:gd name="T35" fmla="*/ 287 h 287"/>
                    <a:gd name="T36" fmla="*/ 248 w 248"/>
                    <a:gd name="T37" fmla="*/ 40 h 287"/>
                    <a:gd name="T38" fmla="*/ 218 w 248"/>
                    <a:gd name="T39" fmla="*/ 40 h 287"/>
                    <a:gd name="T40" fmla="*/ 181 w 248"/>
                    <a:gd name="T41" fmla="*/ 24 h 287"/>
                    <a:gd name="T42" fmla="*/ 193 w 248"/>
                    <a:gd name="T43" fmla="*/ 14 h 287"/>
                    <a:gd name="T44" fmla="*/ 205 w 248"/>
                    <a:gd name="T45" fmla="*/ 24 h 287"/>
                    <a:gd name="T46" fmla="*/ 205 w 248"/>
                    <a:gd name="T47" fmla="*/ 66 h 287"/>
                    <a:gd name="T48" fmla="*/ 193 w 248"/>
                    <a:gd name="T49" fmla="*/ 76 h 287"/>
                    <a:gd name="T50" fmla="*/ 181 w 248"/>
                    <a:gd name="T51" fmla="*/ 66 h 287"/>
                    <a:gd name="T52" fmla="*/ 181 w 248"/>
                    <a:gd name="T53" fmla="*/ 24 h 287"/>
                    <a:gd name="T54" fmla="*/ 112 w 248"/>
                    <a:gd name="T55" fmla="*/ 24 h 287"/>
                    <a:gd name="T56" fmla="*/ 124 w 248"/>
                    <a:gd name="T57" fmla="*/ 14 h 287"/>
                    <a:gd name="T58" fmla="*/ 136 w 248"/>
                    <a:gd name="T59" fmla="*/ 24 h 287"/>
                    <a:gd name="T60" fmla="*/ 136 w 248"/>
                    <a:gd name="T61" fmla="*/ 66 h 287"/>
                    <a:gd name="T62" fmla="*/ 124 w 248"/>
                    <a:gd name="T63" fmla="*/ 76 h 287"/>
                    <a:gd name="T64" fmla="*/ 112 w 248"/>
                    <a:gd name="T65" fmla="*/ 66 h 287"/>
                    <a:gd name="T66" fmla="*/ 112 w 248"/>
                    <a:gd name="T67" fmla="*/ 24 h 287"/>
                    <a:gd name="T68" fmla="*/ 43 w 248"/>
                    <a:gd name="T69" fmla="*/ 24 h 287"/>
                    <a:gd name="T70" fmla="*/ 55 w 248"/>
                    <a:gd name="T71" fmla="*/ 14 h 287"/>
                    <a:gd name="T72" fmla="*/ 67 w 248"/>
                    <a:gd name="T73" fmla="*/ 24 h 287"/>
                    <a:gd name="T74" fmla="*/ 67 w 248"/>
                    <a:gd name="T75" fmla="*/ 66 h 287"/>
                    <a:gd name="T76" fmla="*/ 55 w 248"/>
                    <a:gd name="T77" fmla="*/ 76 h 287"/>
                    <a:gd name="T78" fmla="*/ 43 w 248"/>
                    <a:gd name="T79" fmla="*/ 66 h 287"/>
                    <a:gd name="T80" fmla="*/ 43 w 248"/>
                    <a:gd name="T81" fmla="*/ 24 h 287"/>
                    <a:gd name="T82" fmla="*/ 227 w 248"/>
                    <a:gd name="T83" fmla="*/ 267 h 287"/>
                    <a:gd name="T84" fmla="*/ 21 w 248"/>
                    <a:gd name="T85" fmla="*/ 267 h 287"/>
                    <a:gd name="T86" fmla="*/ 21 w 248"/>
                    <a:gd name="T87" fmla="*/ 95 h 287"/>
                    <a:gd name="T88" fmla="*/ 227 w 248"/>
                    <a:gd name="T89" fmla="*/ 95 h 287"/>
                    <a:gd name="T90" fmla="*/ 227 w 248"/>
                    <a:gd name="T91" fmla="*/ 267 h 2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</a:cxnLst>
                  <a:rect l="0" t="0" r="r" b="b"/>
                  <a:pathLst>
                    <a:path w="248" h="287">
                      <a:moveTo>
                        <a:pt x="218" y="40"/>
                      </a:moveTo>
                      <a:cubicBezTo>
                        <a:pt x="218" y="24"/>
                        <a:pt x="218" y="24"/>
                        <a:pt x="218" y="24"/>
                      </a:cubicBezTo>
                      <a:cubicBezTo>
                        <a:pt x="218" y="9"/>
                        <a:pt x="209" y="0"/>
                        <a:pt x="193" y="0"/>
                      </a:cubicBezTo>
                      <a:cubicBezTo>
                        <a:pt x="177" y="0"/>
                        <a:pt x="167" y="9"/>
                        <a:pt x="167" y="24"/>
                      </a:cubicBezTo>
                      <a:cubicBezTo>
                        <a:pt x="167" y="40"/>
                        <a:pt x="167" y="40"/>
                        <a:pt x="167" y="40"/>
                      </a:cubicBezTo>
                      <a:cubicBezTo>
                        <a:pt x="150" y="40"/>
                        <a:pt x="150" y="40"/>
                        <a:pt x="150" y="40"/>
                      </a:cubicBezTo>
                      <a:cubicBezTo>
                        <a:pt x="150" y="24"/>
                        <a:pt x="150" y="24"/>
                        <a:pt x="150" y="24"/>
                      </a:cubicBezTo>
                      <a:cubicBezTo>
                        <a:pt x="150" y="9"/>
                        <a:pt x="140" y="0"/>
                        <a:pt x="124" y="0"/>
                      </a:cubicBezTo>
                      <a:cubicBezTo>
                        <a:pt x="108" y="0"/>
                        <a:pt x="98" y="9"/>
                        <a:pt x="98" y="24"/>
                      </a:cubicBezTo>
                      <a:cubicBezTo>
                        <a:pt x="98" y="40"/>
                        <a:pt x="98" y="40"/>
                        <a:pt x="98" y="40"/>
                      </a:cubicBezTo>
                      <a:cubicBezTo>
                        <a:pt x="81" y="40"/>
                        <a:pt x="81" y="40"/>
                        <a:pt x="81" y="40"/>
                      </a:cubicBezTo>
                      <a:cubicBezTo>
                        <a:pt x="81" y="24"/>
                        <a:pt x="81" y="24"/>
                        <a:pt x="81" y="24"/>
                      </a:cubicBezTo>
                      <a:cubicBezTo>
                        <a:pt x="81" y="9"/>
                        <a:pt x="71" y="0"/>
                        <a:pt x="55" y="0"/>
                      </a:cubicBezTo>
                      <a:cubicBezTo>
                        <a:pt x="39" y="0"/>
                        <a:pt x="29" y="9"/>
                        <a:pt x="29" y="24"/>
                      </a:cubicBezTo>
                      <a:cubicBezTo>
                        <a:pt x="29" y="40"/>
                        <a:pt x="29" y="40"/>
                        <a:pt x="29" y="40"/>
                      </a:cubicBezTo>
                      <a:cubicBezTo>
                        <a:pt x="0" y="40"/>
                        <a:pt x="0" y="40"/>
                        <a:pt x="0" y="40"/>
                      </a:cubicBezTo>
                      <a:cubicBezTo>
                        <a:pt x="0" y="287"/>
                        <a:pt x="0" y="287"/>
                        <a:pt x="0" y="287"/>
                      </a:cubicBezTo>
                      <a:cubicBezTo>
                        <a:pt x="248" y="287"/>
                        <a:pt x="248" y="287"/>
                        <a:pt x="248" y="287"/>
                      </a:cubicBezTo>
                      <a:cubicBezTo>
                        <a:pt x="248" y="40"/>
                        <a:pt x="248" y="40"/>
                        <a:pt x="248" y="40"/>
                      </a:cubicBezTo>
                      <a:lnTo>
                        <a:pt x="218" y="40"/>
                      </a:lnTo>
                      <a:close/>
                      <a:moveTo>
                        <a:pt x="181" y="24"/>
                      </a:moveTo>
                      <a:cubicBezTo>
                        <a:pt x="181" y="17"/>
                        <a:pt x="184" y="14"/>
                        <a:pt x="193" y="14"/>
                      </a:cubicBezTo>
                      <a:cubicBezTo>
                        <a:pt x="201" y="14"/>
                        <a:pt x="205" y="17"/>
                        <a:pt x="205" y="24"/>
                      </a:cubicBezTo>
                      <a:cubicBezTo>
                        <a:pt x="205" y="66"/>
                        <a:pt x="205" y="66"/>
                        <a:pt x="205" y="66"/>
                      </a:cubicBezTo>
                      <a:cubicBezTo>
                        <a:pt x="205" y="73"/>
                        <a:pt x="201" y="76"/>
                        <a:pt x="193" y="76"/>
                      </a:cubicBezTo>
                      <a:cubicBezTo>
                        <a:pt x="184" y="76"/>
                        <a:pt x="181" y="73"/>
                        <a:pt x="181" y="66"/>
                      </a:cubicBezTo>
                      <a:lnTo>
                        <a:pt x="181" y="24"/>
                      </a:lnTo>
                      <a:close/>
                      <a:moveTo>
                        <a:pt x="112" y="24"/>
                      </a:moveTo>
                      <a:cubicBezTo>
                        <a:pt x="112" y="17"/>
                        <a:pt x="115" y="14"/>
                        <a:pt x="124" y="14"/>
                      </a:cubicBezTo>
                      <a:cubicBezTo>
                        <a:pt x="132" y="14"/>
                        <a:pt x="136" y="17"/>
                        <a:pt x="136" y="24"/>
                      </a:cubicBezTo>
                      <a:cubicBezTo>
                        <a:pt x="136" y="66"/>
                        <a:pt x="136" y="66"/>
                        <a:pt x="136" y="66"/>
                      </a:cubicBezTo>
                      <a:cubicBezTo>
                        <a:pt x="136" y="73"/>
                        <a:pt x="132" y="76"/>
                        <a:pt x="124" y="76"/>
                      </a:cubicBezTo>
                      <a:cubicBezTo>
                        <a:pt x="115" y="76"/>
                        <a:pt x="112" y="73"/>
                        <a:pt x="112" y="66"/>
                      </a:cubicBezTo>
                      <a:lnTo>
                        <a:pt x="112" y="24"/>
                      </a:lnTo>
                      <a:close/>
                      <a:moveTo>
                        <a:pt x="43" y="24"/>
                      </a:moveTo>
                      <a:cubicBezTo>
                        <a:pt x="43" y="17"/>
                        <a:pt x="47" y="14"/>
                        <a:pt x="55" y="14"/>
                      </a:cubicBezTo>
                      <a:cubicBezTo>
                        <a:pt x="64" y="14"/>
                        <a:pt x="67" y="17"/>
                        <a:pt x="67" y="24"/>
                      </a:cubicBezTo>
                      <a:cubicBezTo>
                        <a:pt x="67" y="66"/>
                        <a:pt x="67" y="66"/>
                        <a:pt x="67" y="66"/>
                      </a:cubicBezTo>
                      <a:cubicBezTo>
                        <a:pt x="67" y="73"/>
                        <a:pt x="64" y="76"/>
                        <a:pt x="55" y="76"/>
                      </a:cubicBezTo>
                      <a:cubicBezTo>
                        <a:pt x="47" y="76"/>
                        <a:pt x="43" y="73"/>
                        <a:pt x="43" y="66"/>
                      </a:cubicBezTo>
                      <a:lnTo>
                        <a:pt x="43" y="24"/>
                      </a:lnTo>
                      <a:close/>
                      <a:moveTo>
                        <a:pt x="227" y="267"/>
                      </a:moveTo>
                      <a:cubicBezTo>
                        <a:pt x="21" y="267"/>
                        <a:pt x="21" y="267"/>
                        <a:pt x="21" y="267"/>
                      </a:cubicBezTo>
                      <a:cubicBezTo>
                        <a:pt x="21" y="95"/>
                        <a:pt x="21" y="95"/>
                        <a:pt x="21" y="95"/>
                      </a:cubicBezTo>
                      <a:cubicBezTo>
                        <a:pt x="227" y="95"/>
                        <a:pt x="227" y="95"/>
                        <a:pt x="227" y="95"/>
                      </a:cubicBezTo>
                      <a:lnTo>
                        <a:pt x="227" y="26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chemeClr val="bg1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8" name="Freeform 432"/>
                <p:cNvSpPr/>
                <p:nvPr/>
              </p:nvSpPr>
              <p:spPr bwMode="auto">
                <a:xfrm>
                  <a:off x="-8318647" y="8101314"/>
                  <a:ext cx="296691" cy="456448"/>
                </a:xfrm>
                <a:custGeom>
                  <a:avLst/>
                  <a:gdLst>
                    <a:gd name="T0" fmla="*/ 66 w 66"/>
                    <a:gd name="T1" fmla="*/ 70 h 102"/>
                    <a:gd name="T2" fmla="*/ 42 w 66"/>
                    <a:gd name="T3" fmla="*/ 46 h 102"/>
                    <a:gd name="T4" fmla="*/ 42 w 66"/>
                    <a:gd name="T5" fmla="*/ 45 h 102"/>
                    <a:gd name="T6" fmla="*/ 64 w 66"/>
                    <a:gd name="T7" fmla="*/ 21 h 102"/>
                    <a:gd name="T8" fmla="*/ 31 w 66"/>
                    <a:gd name="T9" fmla="*/ 0 h 102"/>
                    <a:gd name="T10" fmla="*/ 3 w 66"/>
                    <a:gd name="T11" fmla="*/ 5 h 102"/>
                    <a:gd name="T12" fmla="*/ 5 w 66"/>
                    <a:gd name="T13" fmla="*/ 22 h 102"/>
                    <a:gd name="T14" fmla="*/ 26 w 66"/>
                    <a:gd name="T15" fmla="*/ 17 h 102"/>
                    <a:gd name="T16" fmla="*/ 40 w 66"/>
                    <a:gd name="T17" fmla="*/ 27 h 102"/>
                    <a:gd name="T18" fmla="*/ 19 w 66"/>
                    <a:gd name="T19" fmla="*/ 39 h 102"/>
                    <a:gd name="T20" fmla="*/ 19 w 66"/>
                    <a:gd name="T21" fmla="*/ 57 h 102"/>
                    <a:gd name="T22" fmla="*/ 44 w 66"/>
                    <a:gd name="T23" fmla="*/ 72 h 102"/>
                    <a:gd name="T24" fmla="*/ 27 w 66"/>
                    <a:gd name="T25" fmla="*/ 85 h 102"/>
                    <a:gd name="T26" fmla="*/ 3 w 66"/>
                    <a:gd name="T27" fmla="*/ 80 h 102"/>
                    <a:gd name="T28" fmla="*/ 0 w 66"/>
                    <a:gd name="T29" fmla="*/ 98 h 102"/>
                    <a:gd name="T30" fmla="*/ 25 w 66"/>
                    <a:gd name="T31" fmla="*/ 102 h 102"/>
                    <a:gd name="T32" fmla="*/ 66 w 66"/>
                    <a:gd name="T33" fmla="*/ 70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66" h="102">
                      <a:moveTo>
                        <a:pt x="66" y="70"/>
                      </a:moveTo>
                      <a:cubicBezTo>
                        <a:pt x="66" y="57"/>
                        <a:pt x="58" y="50"/>
                        <a:pt x="42" y="46"/>
                      </a:cubicBezTo>
                      <a:cubicBezTo>
                        <a:pt x="42" y="45"/>
                        <a:pt x="42" y="45"/>
                        <a:pt x="42" y="45"/>
                      </a:cubicBezTo>
                      <a:cubicBezTo>
                        <a:pt x="56" y="41"/>
                        <a:pt x="64" y="33"/>
                        <a:pt x="64" y="21"/>
                      </a:cubicBezTo>
                      <a:cubicBezTo>
                        <a:pt x="64" y="9"/>
                        <a:pt x="52" y="0"/>
                        <a:pt x="31" y="0"/>
                      </a:cubicBezTo>
                      <a:cubicBezTo>
                        <a:pt x="22" y="0"/>
                        <a:pt x="12" y="1"/>
                        <a:pt x="3" y="5"/>
                      </a:cubicBezTo>
                      <a:cubicBezTo>
                        <a:pt x="5" y="22"/>
                        <a:pt x="5" y="22"/>
                        <a:pt x="5" y="22"/>
                      </a:cubicBezTo>
                      <a:cubicBezTo>
                        <a:pt x="12" y="19"/>
                        <a:pt x="19" y="17"/>
                        <a:pt x="26" y="17"/>
                      </a:cubicBezTo>
                      <a:cubicBezTo>
                        <a:pt x="37" y="17"/>
                        <a:pt x="40" y="21"/>
                        <a:pt x="40" y="27"/>
                      </a:cubicBezTo>
                      <a:cubicBezTo>
                        <a:pt x="40" y="35"/>
                        <a:pt x="32" y="38"/>
                        <a:pt x="19" y="39"/>
                      </a:cubicBezTo>
                      <a:cubicBezTo>
                        <a:pt x="19" y="57"/>
                        <a:pt x="19" y="57"/>
                        <a:pt x="19" y="57"/>
                      </a:cubicBezTo>
                      <a:cubicBezTo>
                        <a:pt x="38" y="58"/>
                        <a:pt x="44" y="62"/>
                        <a:pt x="44" y="72"/>
                      </a:cubicBezTo>
                      <a:cubicBezTo>
                        <a:pt x="44" y="79"/>
                        <a:pt x="37" y="85"/>
                        <a:pt x="27" y="85"/>
                      </a:cubicBezTo>
                      <a:cubicBezTo>
                        <a:pt x="18" y="85"/>
                        <a:pt x="11" y="83"/>
                        <a:pt x="3" y="80"/>
                      </a:cubicBezTo>
                      <a:cubicBezTo>
                        <a:pt x="0" y="98"/>
                        <a:pt x="0" y="98"/>
                        <a:pt x="0" y="98"/>
                      </a:cubicBezTo>
                      <a:cubicBezTo>
                        <a:pt x="7" y="100"/>
                        <a:pt x="16" y="102"/>
                        <a:pt x="25" y="102"/>
                      </a:cubicBezTo>
                      <a:cubicBezTo>
                        <a:pt x="48" y="102"/>
                        <a:pt x="66" y="91"/>
                        <a:pt x="66" y="7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bg1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9" name="Freeform 433"/>
                <p:cNvSpPr/>
                <p:nvPr/>
              </p:nvSpPr>
              <p:spPr bwMode="auto">
                <a:xfrm>
                  <a:off x="-7914802" y="8100591"/>
                  <a:ext cx="182580" cy="433628"/>
                </a:xfrm>
                <a:custGeom>
                  <a:avLst/>
                  <a:gdLst>
                    <a:gd name="T0" fmla="*/ 8 w 16"/>
                    <a:gd name="T1" fmla="*/ 10 h 38"/>
                    <a:gd name="T2" fmla="*/ 8 w 16"/>
                    <a:gd name="T3" fmla="*/ 38 h 38"/>
                    <a:gd name="T4" fmla="*/ 16 w 16"/>
                    <a:gd name="T5" fmla="*/ 38 h 38"/>
                    <a:gd name="T6" fmla="*/ 16 w 16"/>
                    <a:gd name="T7" fmla="*/ 0 h 38"/>
                    <a:gd name="T8" fmla="*/ 12 w 16"/>
                    <a:gd name="T9" fmla="*/ 0 h 38"/>
                    <a:gd name="T10" fmla="*/ 0 w 16"/>
                    <a:gd name="T11" fmla="*/ 6 h 38"/>
                    <a:gd name="T12" fmla="*/ 1 w 16"/>
                    <a:gd name="T13" fmla="*/ 13 h 38"/>
                    <a:gd name="T14" fmla="*/ 8 w 16"/>
                    <a:gd name="T15" fmla="*/ 10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6" h="38">
                      <a:moveTo>
                        <a:pt x="8" y="10"/>
                      </a:moveTo>
                      <a:lnTo>
                        <a:pt x="8" y="38"/>
                      </a:lnTo>
                      <a:lnTo>
                        <a:pt x="16" y="38"/>
                      </a:lnTo>
                      <a:lnTo>
                        <a:pt x="16" y="0"/>
                      </a:lnTo>
                      <a:lnTo>
                        <a:pt x="12" y="0"/>
                      </a:lnTo>
                      <a:lnTo>
                        <a:pt x="0" y="6"/>
                      </a:lnTo>
                      <a:lnTo>
                        <a:pt x="1" y="13"/>
                      </a:lnTo>
                      <a:lnTo>
                        <a:pt x="8" y="1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bg1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</p:grpSp>
        <p:sp>
          <p:nvSpPr>
            <p:cNvPr id="7" name="文本框 6"/>
            <p:cNvSpPr txBox="1"/>
            <p:nvPr/>
          </p:nvSpPr>
          <p:spPr>
            <a:xfrm>
              <a:off x="4789394" y="3797575"/>
              <a:ext cx="2267585" cy="522836"/>
            </a:xfrm>
            <a:prstGeom prst="flowChartTerminator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8B0012"/>
                  </a:solidFill>
                  <a:latin typeface="等线"/>
                  <a:ea typeface="等线"/>
                  <a:cs typeface="等线"/>
                </a:rPr>
                <a:t>汇报人：王思远</a:t>
              </a:r>
              <a:endParaRPr lang="zh-CN" altLang="en-US" dirty="0">
                <a:solidFill>
                  <a:srgbClr val="8B0012"/>
                </a:solidFill>
                <a:ea typeface="+mn-lt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4727799" y="4497345"/>
              <a:ext cx="4061460" cy="520801"/>
            </a:xfrm>
            <a:prstGeom prst="flowChartTerminator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8B0012"/>
                  </a:solidFill>
                  <a:latin typeface="等线"/>
                  <a:ea typeface="等线"/>
                  <a:cs typeface="等线"/>
                </a:rPr>
                <a:t>汇报日期：</a:t>
              </a:r>
              <a:r>
                <a:rPr lang="en-US" altLang="zh-CN" dirty="0">
                  <a:solidFill>
                    <a:srgbClr val="8B0012"/>
                  </a:solidFill>
                  <a:latin typeface="等线"/>
                  <a:ea typeface="等线"/>
                  <a:cs typeface="等线"/>
                </a:rPr>
                <a:t>2026</a:t>
              </a:r>
              <a:r>
                <a:rPr lang="zh-CN" altLang="en-US" dirty="0">
                  <a:solidFill>
                    <a:srgbClr val="8B0012"/>
                  </a:solidFill>
                  <a:latin typeface="等线"/>
                  <a:ea typeface="等线"/>
                  <a:cs typeface="等线"/>
                </a:rPr>
                <a:t>年</a:t>
              </a:r>
              <a:r>
                <a:rPr lang="en-US" altLang="zh-CN" dirty="0">
                  <a:solidFill>
                    <a:srgbClr val="8B0012"/>
                  </a:solidFill>
                  <a:latin typeface="等线"/>
                  <a:ea typeface="等线"/>
                  <a:cs typeface="等线"/>
                </a:rPr>
                <a:t>6</a:t>
              </a:r>
              <a:r>
                <a:rPr lang="zh-CN" altLang="en-US" dirty="0">
                  <a:solidFill>
                    <a:srgbClr val="8B0012"/>
                  </a:solidFill>
                  <a:latin typeface="等线"/>
                  <a:ea typeface="等线"/>
                  <a:cs typeface="等线"/>
                </a:rPr>
                <a:t>月</a:t>
              </a:r>
              <a:r>
                <a:rPr lang="en-US" altLang="zh-CN" dirty="0">
                  <a:solidFill>
                    <a:srgbClr val="8B0012"/>
                  </a:solidFill>
                  <a:latin typeface="等线"/>
                  <a:ea typeface="等线"/>
                  <a:cs typeface="等线"/>
                </a:rPr>
                <a:t>23</a:t>
              </a:r>
              <a:r>
                <a:rPr lang="zh-CN" altLang="en-US" dirty="0">
                  <a:solidFill>
                    <a:srgbClr val="8B0012"/>
                  </a:solidFill>
                  <a:latin typeface="等线"/>
                  <a:ea typeface="等线"/>
                  <a:cs typeface="等线"/>
                </a:rPr>
                <a:t>日</a:t>
              </a:r>
              <a:endParaRPr lang="zh-CN" altLang="en-US" dirty="0">
                <a:solidFill>
                  <a:srgbClr val="8B0012"/>
                </a:solidFill>
                <a:ea typeface="+mn-lt"/>
                <a:cs typeface="+mn-lt"/>
              </a:endParaRPr>
            </a:p>
          </p:txBody>
        </p:sp>
      </p:grp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008"/>
          <a:stretch>
            <a:fillRect/>
          </a:stretch>
        </p:blipFill>
        <p:spPr>
          <a:xfrm>
            <a:off x="0" y="0"/>
            <a:ext cx="6216990" cy="68580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313267" y="2478963"/>
            <a:ext cx="2453293" cy="432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noProof="0" dirty="0">
                <a:solidFill>
                  <a:schemeClr val="bg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C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ONTENTS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Black" panose="020B0A04020102020204" pitchFamily="34" charset="0"/>
              <a:ea typeface="思源黑体 CN Heavy" panose="020B0A00000000000000" pitchFamily="34" charset="-122"/>
              <a:cs typeface="EB Garamond ExtraBold" pitchFamily="2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710150" y="3400499"/>
            <a:ext cx="1659528" cy="1659528"/>
            <a:chOff x="1450268" y="3294624"/>
            <a:chExt cx="1659528" cy="1659528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30397" y="3474753"/>
              <a:ext cx="1299270" cy="1299270"/>
            </a:xfrm>
            <a:prstGeom prst="rect">
              <a:avLst/>
            </a:prstGeom>
          </p:spPr>
        </p:pic>
        <p:sp>
          <p:nvSpPr>
            <p:cNvPr id="3" name="椭圆 2"/>
            <p:cNvSpPr/>
            <p:nvPr/>
          </p:nvSpPr>
          <p:spPr>
            <a:xfrm>
              <a:off x="1450268" y="3294624"/>
              <a:ext cx="1659528" cy="1659528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3" name="文本框 52"/>
          <p:cNvSpPr txBox="1"/>
          <p:nvPr/>
        </p:nvSpPr>
        <p:spPr>
          <a:xfrm>
            <a:off x="1565541" y="1564996"/>
            <a:ext cx="25814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5400" b="1" noProof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/>
              </a:rPr>
              <a:t>目  录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方正正中黑简体" panose="02000500000000000000" pitchFamily="2" charset="-122"/>
              <a:ea typeface="方正正中黑简体" panose="02000500000000000000" pitchFamily="2" charset="-122"/>
            </a:endParaRPr>
          </a:p>
        </p:txBody>
      </p:sp>
      <p:grpSp>
        <p:nvGrpSpPr>
          <p:cNvPr id="16" name="组合 15"/>
          <p:cNvGrpSpPr/>
          <p:nvPr>
            <p:custDataLst>
              <p:tags r:id="rId3"/>
            </p:custDataLst>
          </p:nvPr>
        </p:nvGrpSpPr>
        <p:grpSpPr>
          <a:xfrm>
            <a:off x="4521805" y="1322617"/>
            <a:ext cx="5483791" cy="658704"/>
            <a:chOff x="4847481" y="1648293"/>
            <a:chExt cx="5483791" cy="658704"/>
          </a:xfrm>
        </p:grpSpPr>
        <p:grpSp>
          <p:nvGrpSpPr>
            <p:cNvPr id="20" name="组合 19"/>
            <p:cNvGrpSpPr/>
            <p:nvPr/>
          </p:nvGrpSpPr>
          <p:grpSpPr>
            <a:xfrm>
              <a:off x="5880960" y="1692640"/>
              <a:ext cx="4450312" cy="584775"/>
              <a:chOff x="6588037" y="2227220"/>
              <a:chExt cx="4450312" cy="584775"/>
            </a:xfrm>
          </p:grpSpPr>
          <p:grpSp>
            <p:nvGrpSpPr>
              <p:cNvPr id="10" name="组合 9"/>
              <p:cNvGrpSpPr/>
              <p:nvPr/>
            </p:nvGrpSpPr>
            <p:grpSpPr>
              <a:xfrm>
                <a:off x="6588037" y="2227220"/>
                <a:ext cx="4450312" cy="584775"/>
                <a:chOff x="6588037" y="2227220"/>
                <a:chExt cx="4450312" cy="584775"/>
              </a:xfrm>
            </p:grpSpPr>
            <p:sp>
              <p:nvSpPr>
                <p:cNvPr id="8" name="文本框 7"/>
                <p:cNvSpPr txBox="1"/>
                <p:nvPr>
                  <p:custDataLst>
                    <p:tags r:id="rId4"/>
                  </p:custDataLst>
                </p:nvPr>
              </p:nvSpPr>
              <p:spPr>
                <a:xfrm>
                  <a:off x="6588037" y="2227220"/>
                  <a:ext cx="1020724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32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A31C2D"/>
                      </a:solidFill>
                      <a:effectLst/>
                      <a:uLnTx/>
                      <a:uFillTx/>
                      <a:latin typeface="微软雅黑" panose="020B0A04020102020204" pitchFamily="34" charset="0"/>
                      <a:ea typeface="微软雅黑" panose="020B0503020204020204" charset="-122"/>
                      <a:cs typeface="微软雅黑"/>
                    </a:rPr>
                    <a:t>01</a:t>
                  </a:r>
                  <a:endParaRPr kumimoji="0" lang="zh-CN" altLang="en-US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31C2D"/>
                    </a:solidFill>
                    <a:effectLst/>
                    <a:uLnTx/>
                    <a:uFillTx/>
                    <a:latin typeface="Arial Black" panose="020B0A04020102020204" pitchFamily="34" charset="0"/>
                    <a:ea typeface="思源黑体 CN Bold" panose="020B0800000000000000" pitchFamily="34" charset="-122"/>
                  </a:endParaRPr>
                </a:p>
              </p:txBody>
            </p:sp>
            <p:sp>
              <p:nvSpPr>
                <p:cNvPr id="9" name="矩形 8"/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8006224" y="2228039"/>
                  <a:ext cx="3032125" cy="5835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sz="3200" b="1">
                      <a:solidFill>
                        <a:srgbClr val="202020"/>
                      </a:solidFill>
                      <a:latin typeface="微软雅黑" panose="020B0A04020102020204" pitchFamily="34" charset="0"/>
                      <a:ea typeface="微软雅黑"/>
                      <a:cs typeface="微软雅黑"/>
                      <a:sym typeface="+mn-ea"/>
                    </a:rPr>
                    <a:t>研究背景与目标</a:t>
                  </a:r>
                  <a:endParaRPr kumimoji="0" lang="zh-CN" altLang="en-US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2020"/>
                    </a:solidFill>
                    <a:effectLst/>
                    <a:uLnTx/>
                    <a:uFillTx/>
                    <a:latin typeface="Arial Bold" panose="020B0604020202020204" charset="0"/>
                    <a:ea typeface="方正正中黑简体" panose="02000500000000000000" pitchFamily="2" charset="-122"/>
                    <a:sym typeface="+mn-ea"/>
                  </a:endParaRPr>
                </a:p>
              </p:txBody>
            </p:sp>
          </p:grpSp>
          <p:cxnSp>
            <p:nvCxnSpPr>
              <p:cNvPr id="18" name="直接连接符 17"/>
              <p:cNvCxnSpPr/>
              <p:nvPr>
                <p:custDataLst>
                  <p:tags r:id="rId6"/>
                </p:custDataLst>
              </p:nvPr>
            </p:nvCxnSpPr>
            <p:spPr>
              <a:xfrm>
                <a:off x="7671809" y="2310042"/>
                <a:ext cx="0" cy="396000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9" name="椭圆 38"/>
            <p:cNvSpPr/>
            <p:nvPr>
              <p:custDataLst>
                <p:tags r:id="rId7"/>
              </p:custDataLst>
            </p:nvPr>
          </p:nvSpPr>
          <p:spPr>
            <a:xfrm>
              <a:off x="4847481" y="1648293"/>
              <a:ext cx="658704" cy="658704"/>
            </a:xfrm>
            <a:prstGeom prst="ellipse">
              <a:avLst/>
            </a:prstGeom>
            <a:solidFill>
              <a:srgbClr val="8B0012"/>
            </a:solidFill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4" name="图片 5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21669" y="1728773"/>
              <a:ext cx="504799" cy="504799"/>
            </a:xfrm>
            <a:prstGeom prst="rect">
              <a:avLst/>
            </a:prstGeom>
          </p:spPr>
        </p:pic>
      </p:grpSp>
      <p:grpSp>
        <p:nvGrpSpPr>
          <p:cNvPr id="13" name="组合 12"/>
          <p:cNvGrpSpPr/>
          <p:nvPr>
            <p:custDataLst>
              <p:tags r:id="rId10"/>
            </p:custDataLst>
          </p:nvPr>
        </p:nvGrpSpPr>
        <p:grpSpPr>
          <a:xfrm>
            <a:off x="4736137" y="2699313"/>
            <a:ext cx="4654306" cy="659805"/>
            <a:chOff x="5036761" y="2699313"/>
            <a:chExt cx="4654306" cy="659805"/>
          </a:xfrm>
        </p:grpSpPr>
        <p:grpSp>
          <p:nvGrpSpPr>
            <p:cNvPr id="21" name="组合 20"/>
            <p:cNvGrpSpPr/>
            <p:nvPr/>
          </p:nvGrpSpPr>
          <p:grpSpPr>
            <a:xfrm>
              <a:off x="6054825" y="2699313"/>
              <a:ext cx="3636242" cy="596910"/>
              <a:chOff x="6588037" y="2227220"/>
              <a:chExt cx="3636242" cy="596910"/>
            </a:xfrm>
          </p:grpSpPr>
          <p:grpSp>
            <p:nvGrpSpPr>
              <p:cNvPr id="22" name="组合 21"/>
              <p:cNvGrpSpPr/>
              <p:nvPr/>
            </p:nvGrpSpPr>
            <p:grpSpPr>
              <a:xfrm>
                <a:off x="6588037" y="2227220"/>
                <a:ext cx="3636242" cy="596910"/>
                <a:chOff x="6588037" y="2227220"/>
                <a:chExt cx="3636242" cy="596910"/>
              </a:xfrm>
            </p:grpSpPr>
            <p:sp>
              <p:nvSpPr>
                <p:cNvPr id="24" name="文本框 23"/>
                <p:cNvSpPr txBox="1"/>
                <p:nvPr>
                  <p:custDataLst>
                    <p:tags r:id="rId11"/>
                  </p:custDataLst>
                </p:nvPr>
              </p:nvSpPr>
              <p:spPr>
                <a:xfrm>
                  <a:off x="6588037" y="2227220"/>
                  <a:ext cx="1020724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32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A31C2D"/>
                      </a:solidFill>
                      <a:effectLst/>
                      <a:uLnTx/>
                      <a:uFillTx/>
                      <a:latin typeface="微软雅黑" panose="020B0A04020102020204" pitchFamily="34" charset="0"/>
                      <a:ea typeface="微软雅黑" panose="020B0503020204020204" charset="-122"/>
                      <a:cs typeface="微软雅黑"/>
                    </a:rPr>
                    <a:t>02</a:t>
                  </a:r>
                  <a:endParaRPr kumimoji="0" lang="zh-CN" altLang="en-US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31C2D"/>
                    </a:solidFill>
                    <a:effectLst/>
                    <a:uLnTx/>
                    <a:uFillTx/>
                    <a:latin typeface="Arial Black" panose="020B0A04020102020204" pitchFamily="34" charset="0"/>
                    <a:ea typeface="思源黑体 CN Bold" panose="020B0800000000000000" pitchFamily="34" charset="-122"/>
                  </a:endParaRPr>
                </a:p>
              </p:txBody>
            </p:sp>
            <p:sp>
              <p:nvSpPr>
                <p:cNvPr id="25" name="矩形 24"/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8006224" y="2240565"/>
                  <a:ext cx="2218055" cy="5835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sz="3200" b="1">
                      <a:solidFill>
                        <a:srgbClr val="202020"/>
                      </a:solidFill>
                      <a:latin typeface="微软雅黑" panose="020B0A04020102020204" pitchFamily="34" charset="0"/>
                      <a:ea typeface="微软雅黑"/>
                      <a:cs typeface="微软雅黑"/>
                      <a:sym typeface="+mn-ea"/>
                    </a:rPr>
                    <a:t>设计与实现</a:t>
                  </a:r>
                  <a:endParaRPr kumimoji="0" lang="zh-CN" altLang="en-US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Bold" panose="020B0604020202020204" charset="0"/>
                    <a:ea typeface="方正正中黑简体" panose="02000500000000000000" pitchFamily="2" charset="-122"/>
                  </a:endParaRPr>
                </a:p>
              </p:txBody>
            </p:sp>
          </p:grpSp>
          <p:cxnSp>
            <p:nvCxnSpPr>
              <p:cNvPr id="23" name="直接连接符 22"/>
              <p:cNvCxnSpPr/>
              <p:nvPr>
                <p:custDataLst>
                  <p:tags r:id="rId13"/>
                </p:custDataLst>
              </p:nvPr>
            </p:nvCxnSpPr>
            <p:spPr>
              <a:xfrm>
                <a:off x="7671809" y="2310042"/>
                <a:ext cx="0" cy="396000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0" name="椭圆 39"/>
            <p:cNvSpPr/>
            <p:nvPr>
              <p:custDataLst>
                <p:tags r:id="rId14"/>
              </p:custDataLst>
            </p:nvPr>
          </p:nvSpPr>
          <p:spPr>
            <a:xfrm>
              <a:off x="5036761" y="2700414"/>
              <a:ext cx="658704" cy="658704"/>
            </a:xfrm>
            <a:prstGeom prst="ellipse">
              <a:avLst/>
            </a:prstGeom>
            <a:solidFill>
              <a:srgbClr val="8B0012"/>
            </a:solidFill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5" name="图片 54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35641" y="2807999"/>
              <a:ext cx="504799" cy="504799"/>
            </a:xfrm>
            <a:prstGeom prst="rect">
              <a:avLst/>
            </a:prstGeom>
          </p:spPr>
        </p:pic>
      </p:grpSp>
      <p:grpSp>
        <p:nvGrpSpPr>
          <p:cNvPr id="14" name="组合 13"/>
          <p:cNvGrpSpPr/>
          <p:nvPr>
            <p:custDataLst>
              <p:tags r:id="rId16"/>
            </p:custDataLst>
          </p:nvPr>
        </p:nvGrpSpPr>
        <p:grpSpPr>
          <a:xfrm>
            <a:off x="4944318" y="3941011"/>
            <a:ext cx="4663068" cy="664752"/>
            <a:chOff x="5232416" y="3778173"/>
            <a:chExt cx="4663068" cy="664752"/>
          </a:xfrm>
        </p:grpSpPr>
        <p:grpSp>
          <p:nvGrpSpPr>
            <p:cNvPr id="26" name="组合 25"/>
            <p:cNvGrpSpPr/>
            <p:nvPr/>
          </p:nvGrpSpPr>
          <p:grpSpPr>
            <a:xfrm>
              <a:off x="6259242" y="3778173"/>
              <a:ext cx="3636242" cy="596910"/>
              <a:chOff x="6588037" y="2227220"/>
              <a:chExt cx="3636242" cy="596910"/>
            </a:xfrm>
          </p:grpSpPr>
          <p:grpSp>
            <p:nvGrpSpPr>
              <p:cNvPr id="27" name="组合 26"/>
              <p:cNvGrpSpPr/>
              <p:nvPr/>
            </p:nvGrpSpPr>
            <p:grpSpPr>
              <a:xfrm>
                <a:off x="6588037" y="2227220"/>
                <a:ext cx="3636242" cy="596910"/>
                <a:chOff x="6588037" y="2227220"/>
                <a:chExt cx="3636242" cy="596910"/>
              </a:xfrm>
            </p:grpSpPr>
            <p:sp>
              <p:nvSpPr>
                <p:cNvPr id="29" name="文本框 28"/>
                <p:cNvSpPr txBox="1"/>
                <p:nvPr>
                  <p:custDataLst>
                    <p:tags r:id="rId17"/>
                  </p:custDataLst>
                </p:nvPr>
              </p:nvSpPr>
              <p:spPr>
                <a:xfrm>
                  <a:off x="6588037" y="2227220"/>
                  <a:ext cx="1020724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32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A31C2D"/>
                      </a:solidFill>
                      <a:effectLst/>
                      <a:uLnTx/>
                      <a:uFillTx/>
                      <a:latin typeface="微软雅黑" panose="020B0A04020102020204" pitchFamily="34" charset="0"/>
                      <a:ea typeface="微软雅黑" panose="020B0503020204020204" charset="-122"/>
                      <a:cs typeface="微软雅黑"/>
                    </a:rPr>
                    <a:t>03</a:t>
                  </a:r>
                  <a:endParaRPr kumimoji="0" lang="zh-CN" altLang="en-US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31C2D"/>
                    </a:solidFill>
                    <a:effectLst/>
                    <a:uLnTx/>
                    <a:uFillTx/>
                    <a:latin typeface="Arial Black" panose="020B0A04020102020204" pitchFamily="34" charset="0"/>
                    <a:ea typeface="方正正中黑简体" panose="02000500000000000000" pitchFamily="2" charset="-122"/>
                  </a:endParaRPr>
                </a:p>
              </p:txBody>
            </p:sp>
            <p:sp>
              <p:nvSpPr>
                <p:cNvPr id="30" name="矩形 29"/>
                <p:cNvSpPr/>
                <p:nvPr>
                  <p:custDataLst>
                    <p:tags r:id="rId18"/>
                  </p:custDataLst>
                </p:nvPr>
              </p:nvSpPr>
              <p:spPr>
                <a:xfrm>
                  <a:off x="8006224" y="2240565"/>
                  <a:ext cx="2218055" cy="5835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sz="3200" b="1">
                      <a:solidFill>
                        <a:srgbClr val="202020"/>
                      </a:solidFill>
                      <a:latin typeface="微软雅黑" panose="020B0A04020102020204" pitchFamily="34" charset="0"/>
                      <a:ea typeface="微软雅黑"/>
                      <a:cs typeface="微软雅黑"/>
                      <a:sym typeface="+mn-ea"/>
                    </a:rPr>
                    <a:t>测试与应用</a:t>
                  </a:r>
                  <a:endParaRPr kumimoji="0" lang="zh-CN" altLang="en-US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Bold" panose="020B0604020202020204" charset="0"/>
                    <a:ea typeface="方正正中黑简体" panose="02000500000000000000" pitchFamily="2" charset="-122"/>
                  </a:endParaRPr>
                </a:p>
              </p:txBody>
            </p:sp>
          </p:grpSp>
          <p:cxnSp>
            <p:nvCxnSpPr>
              <p:cNvPr id="28" name="直接连接符 27"/>
              <p:cNvCxnSpPr/>
              <p:nvPr>
                <p:custDataLst>
                  <p:tags r:id="rId19"/>
                </p:custDataLst>
              </p:nvPr>
            </p:nvCxnSpPr>
            <p:spPr>
              <a:xfrm>
                <a:off x="7671809" y="2310042"/>
                <a:ext cx="0" cy="396000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1" name="椭圆 40"/>
            <p:cNvSpPr/>
            <p:nvPr>
              <p:custDataLst>
                <p:tags r:id="rId20"/>
              </p:custDataLst>
            </p:nvPr>
          </p:nvSpPr>
          <p:spPr>
            <a:xfrm>
              <a:off x="5232416" y="3784221"/>
              <a:ext cx="658704" cy="658704"/>
            </a:xfrm>
            <a:prstGeom prst="ellipse">
              <a:avLst/>
            </a:prstGeom>
            <a:solidFill>
              <a:srgbClr val="8B0012"/>
            </a:solidFill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56" name="图片 55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19431" y="3876381"/>
              <a:ext cx="504799" cy="504799"/>
            </a:xfrm>
            <a:prstGeom prst="rect">
              <a:avLst/>
            </a:prstGeom>
          </p:spPr>
        </p:pic>
      </p:grpSp>
      <p:grpSp>
        <p:nvGrpSpPr>
          <p:cNvPr id="15" name="组合 14"/>
          <p:cNvGrpSpPr/>
          <p:nvPr>
            <p:custDataLst>
              <p:tags r:id="rId22"/>
            </p:custDataLst>
          </p:nvPr>
        </p:nvGrpSpPr>
        <p:grpSpPr>
          <a:xfrm>
            <a:off x="5149102" y="5251809"/>
            <a:ext cx="4688902" cy="658704"/>
            <a:chOff x="5399622" y="4800873"/>
            <a:chExt cx="4688902" cy="658704"/>
          </a:xfrm>
        </p:grpSpPr>
        <p:grpSp>
          <p:nvGrpSpPr>
            <p:cNvPr id="31" name="组合 30"/>
            <p:cNvGrpSpPr/>
            <p:nvPr/>
          </p:nvGrpSpPr>
          <p:grpSpPr>
            <a:xfrm>
              <a:off x="6452282" y="4846400"/>
              <a:ext cx="3636242" cy="596910"/>
              <a:chOff x="6588037" y="2227220"/>
              <a:chExt cx="3636242" cy="596910"/>
            </a:xfrm>
          </p:grpSpPr>
          <p:grpSp>
            <p:nvGrpSpPr>
              <p:cNvPr id="32" name="组合 31"/>
              <p:cNvGrpSpPr/>
              <p:nvPr/>
            </p:nvGrpSpPr>
            <p:grpSpPr>
              <a:xfrm>
                <a:off x="6588037" y="2227220"/>
                <a:ext cx="3636242" cy="596910"/>
                <a:chOff x="6588037" y="2227220"/>
                <a:chExt cx="3636242" cy="596910"/>
              </a:xfrm>
            </p:grpSpPr>
            <p:sp>
              <p:nvSpPr>
                <p:cNvPr id="34" name="文本框 33"/>
                <p:cNvSpPr txBox="1"/>
                <p:nvPr>
                  <p:custDataLst>
                    <p:tags r:id="rId23"/>
                  </p:custDataLst>
                </p:nvPr>
              </p:nvSpPr>
              <p:spPr>
                <a:xfrm>
                  <a:off x="6588037" y="2227220"/>
                  <a:ext cx="1020724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32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A31C2D"/>
                      </a:solidFill>
                      <a:effectLst/>
                      <a:uLnTx/>
                      <a:uFillTx/>
                      <a:latin typeface="微软雅黑" panose="020B0A04020102020204" pitchFamily="34" charset="0"/>
                      <a:ea typeface="微软雅黑" panose="020B0503020204020204" charset="-122"/>
                      <a:cs typeface="微软雅黑"/>
                    </a:rPr>
                    <a:t>04</a:t>
                  </a:r>
                  <a:endParaRPr kumimoji="0" lang="zh-CN" altLang="en-US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31C2D"/>
                    </a:solidFill>
                    <a:effectLst/>
                    <a:uLnTx/>
                    <a:uFillTx/>
                    <a:latin typeface="Arial Black" panose="020B0A04020102020204" pitchFamily="34" charset="0"/>
                    <a:ea typeface="方正正中黑简体" panose="02000500000000000000" pitchFamily="2" charset="-122"/>
                  </a:endParaRPr>
                </a:p>
              </p:txBody>
            </p:sp>
            <p:sp>
              <p:nvSpPr>
                <p:cNvPr id="35" name="矩形 34"/>
                <p:cNvSpPr/>
                <p:nvPr>
                  <p:custDataLst>
                    <p:tags r:id="rId24"/>
                  </p:custDataLst>
                </p:nvPr>
              </p:nvSpPr>
              <p:spPr>
                <a:xfrm>
                  <a:off x="8006224" y="2240565"/>
                  <a:ext cx="2218055" cy="5835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sz="3200" b="1">
                      <a:solidFill>
                        <a:srgbClr val="202020"/>
                      </a:solidFill>
                      <a:latin typeface="微软雅黑" panose="020B0A04020102020204" pitchFamily="34" charset="0"/>
                      <a:ea typeface="微软雅黑"/>
                      <a:cs typeface="微软雅黑"/>
                      <a:sym typeface="+mn-ea"/>
                    </a:rPr>
                    <a:t>总结与展望</a:t>
                  </a:r>
                  <a:endParaRPr kumimoji="0" lang="zh-CN" altLang="en-US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Bold" panose="020B0604020202020204" charset="0"/>
                    <a:ea typeface="方正正中黑简体" panose="02000500000000000000" pitchFamily="2" charset="-122"/>
                  </a:endParaRPr>
                </a:p>
              </p:txBody>
            </p:sp>
          </p:grpSp>
          <p:cxnSp>
            <p:nvCxnSpPr>
              <p:cNvPr id="33" name="直接连接符 32"/>
              <p:cNvCxnSpPr/>
              <p:nvPr>
                <p:custDataLst>
                  <p:tags r:id="rId25"/>
                </p:custDataLst>
              </p:nvPr>
            </p:nvCxnSpPr>
            <p:spPr>
              <a:xfrm>
                <a:off x="7671809" y="2310042"/>
                <a:ext cx="0" cy="396000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2" name="椭圆 41"/>
            <p:cNvSpPr/>
            <p:nvPr>
              <p:custDataLst>
                <p:tags r:id="rId26"/>
              </p:custDataLst>
            </p:nvPr>
          </p:nvSpPr>
          <p:spPr>
            <a:xfrm>
              <a:off x="5399622" y="4800873"/>
              <a:ext cx="658704" cy="658704"/>
            </a:xfrm>
            <a:prstGeom prst="ellipse">
              <a:avLst/>
            </a:prstGeom>
            <a:solidFill>
              <a:srgbClr val="8B0012"/>
            </a:solidFill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7" name="图片 56"/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02405" y="4897020"/>
              <a:ext cx="504799" cy="504799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图片 6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008"/>
          <a:stretch>
            <a:fillRect/>
          </a:stretch>
        </p:blipFill>
        <p:spPr>
          <a:xfrm>
            <a:off x="0" y="0"/>
            <a:ext cx="6216990" cy="68580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801239" y="1821702"/>
            <a:ext cx="923330" cy="387738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4800" b="1" noProof="0" dirty="0">
                <a:ln w="38100">
                  <a:solidFill>
                    <a:schemeClr val="bg1"/>
                  </a:solidFill>
                </a:ln>
                <a:noFill/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PART ONE</a:t>
            </a:r>
            <a:endParaRPr kumimoji="0" lang="zh-CN" altLang="en-US" sz="4800" b="1" i="0" u="none" strike="noStrike" kern="1200" cap="none" spc="0" normalizeH="0" baseline="0" noProof="0" dirty="0">
              <a:ln w="38100">
                <a:solidFill>
                  <a:schemeClr val="bg1"/>
                </a:solidFill>
              </a:ln>
              <a:noFill/>
              <a:effectLst/>
              <a:uLnTx/>
              <a:uFillTx/>
              <a:latin typeface="Arial Black" panose="020B0A04020102020204" pitchFamily="34" charset="0"/>
              <a:ea typeface="思源黑体 CN Heavy" panose="020B0A00000000000000" pitchFamily="34" charset="-122"/>
              <a:cs typeface="EB Garamond ExtraBold" pitchFamily="2" charset="0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6557010" y="1254760"/>
            <a:ext cx="478028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4800" b="1">
                <a:solidFill>
                  <a:schemeClr val="tx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/>
                <a:sym typeface="+mn-ea"/>
              </a:rPr>
              <a:t>研究背景与目标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A04020102020204" pitchFamily="34" charset="0"/>
              <a:ea typeface="微软雅黑" panose="020B0A04020102020204" pitchFamily="34" charset="0"/>
              <a:sym typeface="+mn-ea"/>
            </a:endParaRPr>
          </a:p>
        </p:txBody>
      </p:sp>
      <p:cxnSp>
        <p:nvCxnSpPr>
          <p:cNvPr id="75" name="直接连接符 74"/>
          <p:cNvCxnSpPr/>
          <p:nvPr/>
        </p:nvCxnSpPr>
        <p:spPr>
          <a:xfrm>
            <a:off x="6438900" y="2273300"/>
            <a:ext cx="4572000" cy="0"/>
          </a:xfrm>
          <a:prstGeom prst="line">
            <a:avLst/>
          </a:prstGeom>
          <a:ln w="38100">
            <a:solidFill>
              <a:srgbClr val="8B001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组合 77"/>
          <p:cNvGrpSpPr/>
          <p:nvPr/>
        </p:nvGrpSpPr>
        <p:grpSpPr>
          <a:xfrm>
            <a:off x="6962137" y="3414879"/>
            <a:ext cx="4390390" cy="521970"/>
            <a:chOff x="7480300" y="3140844"/>
            <a:chExt cx="4390390" cy="521970"/>
          </a:xfrm>
        </p:grpSpPr>
        <p:sp>
          <p:nvSpPr>
            <p:cNvPr id="76" name="矩形 75"/>
            <p:cNvSpPr/>
            <p:nvPr/>
          </p:nvSpPr>
          <p:spPr>
            <a:xfrm>
              <a:off x="7480300" y="3352800"/>
              <a:ext cx="165100" cy="152399"/>
            </a:xfrm>
            <a:prstGeom prst="rect">
              <a:avLst/>
            </a:prstGeom>
            <a:solidFill>
              <a:srgbClr val="8B001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7766050" y="3140844"/>
              <a:ext cx="410464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latin typeface="微软雅黑" panose="020B0503020204020204" charset="-122"/>
                  <a:ea typeface="微软雅黑" panose="020B0503020204020204" charset="-122"/>
                  <a:cs typeface="微软雅黑"/>
                  <a:sym typeface="+mn-ea"/>
                </a:rPr>
                <a:t>进程调试的</a:t>
              </a:r>
              <a:r>
                <a:rPr lang="zh-CN" altLang="en-US" sz="2800" dirty="0">
                  <a:latin typeface="微软雅黑" panose="020B0503020204020204" charset="-122"/>
                  <a:ea typeface="微软雅黑" panose="020B0503020204020204" charset="-122"/>
                  <a:cs typeface="微软雅黑"/>
                  <a:sym typeface="+mn-ea"/>
                </a:rPr>
                <a:t>重要性</a:t>
              </a:r>
              <a:endParaRPr lang="zh-CN" altLang="en-US" sz="2800" dirty="0">
                <a:latin typeface="方正小标宋简体" panose="03000509000000000000" pitchFamily="2" charset="-122"/>
                <a:ea typeface="方正小标宋简体" panose="03000509000000000000" pitchFamily="2" charset="-122"/>
                <a:sym typeface="+mn-ea"/>
              </a:endParaRPr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7234552" y="4148306"/>
            <a:ext cx="3844928" cy="521970"/>
            <a:chOff x="7480300" y="3140844"/>
            <a:chExt cx="3844928" cy="521970"/>
          </a:xfrm>
        </p:grpSpPr>
        <p:sp>
          <p:nvSpPr>
            <p:cNvPr id="80" name="矩形 79"/>
            <p:cNvSpPr/>
            <p:nvPr/>
          </p:nvSpPr>
          <p:spPr>
            <a:xfrm>
              <a:off x="7480300" y="3352800"/>
              <a:ext cx="165100" cy="152399"/>
            </a:xfrm>
            <a:prstGeom prst="rect">
              <a:avLst/>
            </a:prstGeom>
            <a:solidFill>
              <a:srgbClr val="8B001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文本框 80"/>
            <p:cNvSpPr txBox="1"/>
            <p:nvPr/>
          </p:nvSpPr>
          <p:spPr>
            <a:xfrm>
              <a:off x="7766044" y="3140844"/>
              <a:ext cx="355918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>
                  <a:solidFill>
                    <a:srgbClr val="666666"/>
                  </a:solidFill>
                  <a:latin typeface="等线" panose="02010600030101010101" charset="-122"/>
                  <a:ea typeface="等线" panose="02010600030101010101" charset="-122"/>
                  <a:cs typeface="等线" panose="020B0503020204020204" pitchFamily="34" charset="-120"/>
                  <a:sym typeface="+mn-ea"/>
                </a:rPr>
                <a:t> </a:t>
              </a:r>
              <a:r>
                <a:rPr lang="zh-CN" altLang="en-US" sz="2800" dirty="0">
                  <a:latin typeface="微软雅黑" panose="020B0503020204020204" charset="-122"/>
                  <a:ea typeface="微软雅黑" panose="020B0503020204020204" charset="-122"/>
                  <a:cs typeface="微软雅黑"/>
                  <a:sym typeface="+mn-ea"/>
                </a:rPr>
                <a:t>内核能力需求</a:t>
              </a:r>
              <a:r>
                <a:rPr lang="zh-CN" altLang="en-US" sz="2800" dirty="0">
                  <a:latin typeface="微软雅黑" panose="020B0503020204020204" charset="-122"/>
                  <a:ea typeface="微软雅黑" panose="020B0503020204020204" charset="-122"/>
                  <a:cs typeface="微软雅黑"/>
                  <a:sym typeface="+mn-ea"/>
                </a:rPr>
                <a:t>拆解</a:t>
              </a:r>
              <a:endParaRPr lang="zh-CN" altLang="en-US" sz="2800" dirty="0">
                <a:latin typeface="方正小标宋简体" panose="03000509000000000000" pitchFamily="2" charset="-122"/>
                <a:ea typeface="方正小标宋简体" panose="03000509000000000000" pitchFamily="2" charset="-122"/>
                <a:sym typeface="+mn-ea"/>
              </a:endParaRPr>
            </a:p>
          </p:txBody>
        </p:sp>
      </p:grp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214350" y="1365095"/>
            <a:ext cx="4114800" cy="36512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 algn="l">
              <a:buNone/>
            </a:pPr>
            <a:r>
              <a:rPr lang="en-US" altLang="zh-CN" sz="2400" b="1" dirty="0">
                <a:solidFill>
                  <a:srgbClr val="8B0012"/>
                </a:solidFill>
                <a:latin typeface="微软雅黑" panose="020B0503020204020204" charset="-122"/>
                <a:ea typeface="微软雅黑" panose="020B0503020204020204" charset="-122"/>
                <a:cs typeface="微软雅黑"/>
              </a:rPr>
              <a:t>1.1 </a:t>
            </a:r>
            <a:r>
              <a:rPr lang="en-US" sz="24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项目背景与问题定义</a:t>
            </a:r>
            <a:endParaRPr lang="zh-CN" altLang="en-US" sz="2400" b="1" dirty="0">
              <a:solidFill>
                <a:srgbClr val="8B0012"/>
              </a:solidFill>
              <a:latin typeface="方正大标宋简体" panose="02000000000000000000" pitchFamily="2" charset="-122"/>
              <a:ea typeface="方正大标宋简体" panose="02000000000000000000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流程图: 终止 5"/>
          <p:cNvSpPr/>
          <p:nvPr/>
        </p:nvSpPr>
        <p:spPr>
          <a:xfrm>
            <a:off x="4166740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背景与目标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设计与实现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测试与应用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总结与展望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Shape 6"/>
          <p:cNvSpPr/>
          <p:nvPr>
            <p:custDataLst>
              <p:tags r:id="rId2"/>
            </p:custDataLst>
          </p:nvPr>
        </p:nvSpPr>
        <p:spPr>
          <a:xfrm>
            <a:off x="777240" y="2238375"/>
            <a:ext cx="5166360" cy="1456055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8" name="Text 7"/>
          <p:cNvSpPr/>
          <p:nvPr>
            <p:custDataLst>
              <p:tags r:id="rId3"/>
            </p:custDataLst>
          </p:nvPr>
        </p:nvSpPr>
        <p:spPr>
          <a:xfrm>
            <a:off x="932688" y="2375535"/>
            <a:ext cx="4855464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A00016"/>
                </a:solidFill>
                <a:latin typeface="等线" panose="02010600030101010101" charset="-122"/>
                <a:ea typeface="等线" panose="02010600030101010101" charset="-122"/>
                <a:cs typeface="等线" panose="020B0503020204020204" pitchFamily="34" charset="-120"/>
              </a:rPr>
              <a:t>星绽</a:t>
            </a:r>
            <a:r>
              <a:rPr lang="en-US" altLang="zh-CN" sz="1600" b="1" dirty="0">
                <a:solidFill>
                  <a:srgbClr val="A00016"/>
                </a:solidFill>
                <a:latin typeface="等线" panose="02010600030101010101" charset="-122"/>
                <a:ea typeface="等线" panose="02010600030101010101" charset="-122"/>
                <a:cs typeface="等线" panose="020B0503020204020204" pitchFamily="34" charset="-120"/>
              </a:rPr>
              <a:t> </a:t>
            </a:r>
            <a:r>
              <a:rPr lang="en-US" sz="1600" b="1" dirty="0">
                <a:solidFill>
                  <a:srgbClr val="A00016"/>
                </a:solidFill>
                <a:latin typeface="等线" panose="02010600030101010101" charset="-122"/>
                <a:ea typeface="等线" panose="02010600030101010101" charset="-122"/>
                <a:cs typeface="等线" panose="020B0503020204020204" pitchFamily="34" charset="-120"/>
              </a:rPr>
              <a:t>Asterinas</a:t>
            </a:r>
            <a:endParaRPr lang="en-US" sz="1600" b="1" dirty="0">
              <a:solidFill>
                <a:srgbClr val="A000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2" name="Text 8"/>
          <p:cNvSpPr/>
          <p:nvPr>
            <p:custDataLst>
              <p:tags r:id="rId4"/>
            </p:custDataLst>
          </p:nvPr>
        </p:nvSpPr>
        <p:spPr>
          <a:xfrm>
            <a:off x="932815" y="2704465"/>
            <a:ext cx="4855210" cy="8153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1">
                <a:solidFill>
                  <a:schemeClr val="accent1"/>
                </a:solidFill>
                <a:sym typeface="+mn-ea"/>
              </a:rPr>
              <a:t>Asterinas </a:t>
            </a:r>
            <a:r>
              <a:rPr sz="1400">
                <a:solidFill>
                  <a:srgbClr val="202020"/>
                </a:solidFill>
                <a:sym typeface="+mn-ea"/>
              </a:rPr>
              <a:t>是由北京大学、中关村实验室、蚂蚁集团联合发起的</a:t>
            </a:r>
            <a:r>
              <a:rPr lang="zh-CN" sz="1400">
                <a:solidFill>
                  <a:srgbClr val="202020"/>
                </a:solidFill>
                <a:sym typeface="+mn-ea"/>
              </a:rPr>
              <a:t>，</a:t>
            </a:r>
            <a:r>
              <a:rPr sz="1400">
                <a:solidFill>
                  <a:srgbClr val="202020"/>
                </a:solidFill>
                <a:sym typeface="+mn-ea"/>
              </a:rPr>
              <a:t>用 Rust 编写、与 Linux ABI 兼容的国产自主可控安全操作系统内核，借助框内核架构提升内核可靠性。</a:t>
            </a:r>
            <a:endParaRPr lang="en-US" sz="1400" dirty="0"/>
          </a:p>
        </p:txBody>
      </p:sp>
      <p:sp>
        <p:nvSpPr>
          <p:cNvPr id="13" name="Shape 9"/>
          <p:cNvSpPr/>
          <p:nvPr>
            <p:custDataLst>
              <p:tags r:id="rId5"/>
            </p:custDataLst>
          </p:nvPr>
        </p:nvSpPr>
        <p:spPr>
          <a:xfrm>
            <a:off x="6172200" y="2238375"/>
            <a:ext cx="5166360" cy="145669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4" name="Text 10"/>
          <p:cNvSpPr/>
          <p:nvPr>
            <p:custDataLst>
              <p:tags r:id="rId6"/>
            </p:custDataLst>
          </p:nvPr>
        </p:nvSpPr>
        <p:spPr>
          <a:xfrm>
            <a:off x="6327648" y="2375535"/>
            <a:ext cx="4855464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algn="l">
              <a:buClrTx/>
              <a:buSzTx/>
              <a:buFontTx/>
              <a:buNone/>
            </a:pPr>
            <a:r>
              <a:rPr lang="zh-CN" altLang="en-US" sz="1600" b="1" dirty="0">
                <a:solidFill>
                  <a:srgbClr val="A00016"/>
                </a:solidFill>
                <a:latin typeface="等线" panose="02010600030101010101" charset="-122"/>
                <a:ea typeface="等线" panose="02010600030101010101" charset="-122"/>
                <a:cs typeface="等线" panose="020B0503020204020204" pitchFamily="34" charset="-120"/>
              </a:rPr>
              <a:t>进程调试</a:t>
            </a:r>
            <a:r>
              <a:rPr lang="zh-CN" altLang="en-US" sz="1600" b="1" dirty="0">
                <a:solidFill>
                  <a:srgbClr val="A00016"/>
                </a:solidFill>
                <a:latin typeface="等线" panose="02010600030101010101" charset="-122"/>
                <a:ea typeface="等线" panose="02010600030101010101" charset="-122"/>
                <a:cs typeface="等线" panose="020B0503020204020204" pitchFamily="34" charset="-120"/>
              </a:rPr>
              <a:t>能力</a:t>
            </a:r>
            <a:endParaRPr lang="zh-CN" altLang="en-US" sz="1600" b="1" dirty="0">
              <a:solidFill>
                <a:srgbClr val="A00016"/>
              </a:solidFill>
              <a:latin typeface="等线" panose="02010600030101010101" charset="-122"/>
              <a:ea typeface="等线" panose="02010600030101010101" charset="-122"/>
              <a:cs typeface="等线" panose="020B0503020204020204" pitchFamily="34" charset="-120"/>
            </a:endParaRPr>
          </a:p>
        </p:txBody>
      </p:sp>
      <p:sp>
        <p:nvSpPr>
          <p:cNvPr id="15" name="Text 11"/>
          <p:cNvSpPr/>
          <p:nvPr>
            <p:custDataLst>
              <p:tags r:id="rId7"/>
            </p:custDataLst>
          </p:nvPr>
        </p:nvSpPr>
        <p:spPr>
          <a:xfrm>
            <a:off x="6327775" y="2704465"/>
            <a:ext cx="4855210" cy="9906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lnSpcReduction="20000"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zh-CN" sz="1400">
                <a:solidFill>
                  <a:srgbClr val="202020"/>
                </a:solidFill>
                <a:sym typeface="+mn-ea"/>
              </a:rPr>
              <a:t>一个</a:t>
            </a:r>
            <a:r>
              <a:rPr sz="1400">
                <a:solidFill>
                  <a:srgbClr val="202020"/>
                </a:solidFill>
                <a:sym typeface="+mn-ea"/>
              </a:rPr>
              <a:t>面向开发者的操作系统，不能只满足于</a:t>
            </a:r>
            <a:r>
              <a:rPr lang="zh-CN" sz="1400">
                <a:solidFill>
                  <a:srgbClr val="202020"/>
                </a:solidFill>
                <a:sym typeface="+mn-ea"/>
              </a:rPr>
              <a:t>运行用户程序</a:t>
            </a:r>
            <a:r>
              <a:rPr sz="1400">
                <a:solidFill>
                  <a:srgbClr val="202020"/>
                </a:solidFill>
                <a:sym typeface="+mn-ea"/>
              </a:rPr>
              <a:t>，还要支撑起程序开发的完整闭环，而</a:t>
            </a:r>
            <a:r>
              <a:rPr sz="1400" b="1">
                <a:solidFill>
                  <a:schemeClr val="accent1"/>
                </a:solidFill>
                <a:sym typeface="+mn-ea"/>
              </a:rPr>
              <a:t>进程调试</a:t>
            </a:r>
            <a:r>
              <a:rPr sz="1400">
                <a:solidFill>
                  <a:srgbClr val="202020"/>
                </a:solidFill>
                <a:sym typeface="+mn-ea"/>
              </a:rPr>
              <a:t>正是其中基础的一环</a:t>
            </a:r>
            <a:r>
              <a:rPr lang="zh-CN" sz="1400">
                <a:solidFill>
                  <a:srgbClr val="202020"/>
                </a:solidFill>
                <a:sym typeface="+mn-ea"/>
              </a:rPr>
              <a:t>。</a:t>
            </a:r>
            <a:r>
              <a:rPr sz="1400">
                <a:solidFill>
                  <a:srgbClr val="202020"/>
                </a:solidFill>
                <a:sym typeface="+mn-ea"/>
              </a:rPr>
              <a:t>无论是排查应用逻辑的上层开发者，还是分析系统调用、内存与寄存器行为的底层开发者，都离不开进程调试机制。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7" name="Shape 12"/>
          <p:cNvSpPr/>
          <p:nvPr>
            <p:custDataLst>
              <p:tags r:id="rId8"/>
            </p:custDataLst>
          </p:nvPr>
        </p:nvSpPr>
        <p:spPr>
          <a:xfrm>
            <a:off x="777240" y="3779520"/>
            <a:ext cx="5166360" cy="143383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8" name="Text 13"/>
          <p:cNvSpPr/>
          <p:nvPr>
            <p:custDataLst>
              <p:tags r:id="rId9"/>
            </p:custDataLst>
          </p:nvPr>
        </p:nvSpPr>
        <p:spPr>
          <a:xfrm>
            <a:off x="932688" y="3916553"/>
            <a:ext cx="4855464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algn="l">
              <a:buClrTx/>
              <a:buSzTx/>
              <a:buFontTx/>
              <a:buNone/>
            </a:pPr>
            <a:r>
              <a:rPr lang="zh-CN" altLang="en-US" sz="1600" b="1" dirty="0">
                <a:solidFill>
                  <a:srgbClr val="A00016"/>
                </a:solidFill>
                <a:latin typeface="等线" panose="02010600030101010101" charset="-122"/>
                <a:ea typeface="等线" panose="02010600030101010101" charset="-122"/>
                <a:cs typeface="等线" panose="020B0503020204020204" pitchFamily="34" charset="-120"/>
              </a:rPr>
              <a:t>兼容</a:t>
            </a:r>
            <a:r>
              <a:rPr lang="en-US" altLang="zh-CN" sz="1600" b="1" dirty="0">
                <a:solidFill>
                  <a:srgbClr val="A00016"/>
                </a:solidFill>
                <a:latin typeface="等线" panose="02010600030101010101" charset="-122"/>
                <a:ea typeface="等线" panose="02010600030101010101" charset="-122"/>
                <a:cs typeface="等线" panose="020B0503020204020204" pitchFamily="34" charset="-120"/>
              </a:rPr>
              <a:t>Linux</a:t>
            </a:r>
            <a:r>
              <a:rPr lang="zh-CN" altLang="en-US" sz="1600" b="1" dirty="0">
                <a:solidFill>
                  <a:srgbClr val="A00016"/>
                </a:solidFill>
                <a:latin typeface="等线" panose="02010600030101010101" charset="-122"/>
                <a:ea typeface="等线" panose="02010600030101010101" charset="-122"/>
                <a:cs typeface="等线" panose="020B0503020204020204" pitchFamily="34" charset="-120"/>
              </a:rPr>
              <a:t>调试工具链</a:t>
            </a:r>
            <a:r>
              <a:rPr lang="zh-CN" altLang="en-US" sz="1600" b="1" dirty="0">
                <a:solidFill>
                  <a:srgbClr val="A00016"/>
                </a:solidFill>
                <a:latin typeface="等线" panose="02010600030101010101" charset="-122"/>
                <a:ea typeface="等线" panose="02010600030101010101" charset="-122"/>
                <a:cs typeface="等线" panose="020B0503020204020204" pitchFamily="34" charset="-120"/>
              </a:rPr>
              <a:t>生态</a:t>
            </a:r>
            <a:endParaRPr lang="zh-CN" altLang="en-US" sz="1600" b="1" dirty="0">
              <a:solidFill>
                <a:srgbClr val="A00016"/>
              </a:solidFill>
              <a:latin typeface="等线" panose="02010600030101010101" charset="-122"/>
              <a:ea typeface="等线" panose="02010600030101010101" charset="-122"/>
              <a:cs typeface="等线" panose="020B0503020204020204" pitchFamily="34" charset="-120"/>
            </a:endParaRPr>
          </a:p>
        </p:txBody>
      </p:sp>
      <p:sp>
        <p:nvSpPr>
          <p:cNvPr id="19" name="Text 14"/>
          <p:cNvSpPr/>
          <p:nvPr>
            <p:custDataLst>
              <p:tags r:id="rId10"/>
            </p:custDataLst>
          </p:nvPr>
        </p:nvSpPr>
        <p:spPr>
          <a:xfrm>
            <a:off x="932815" y="4245610"/>
            <a:ext cx="4855210" cy="89916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sz="1400">
                <a:solidFill>
                  <a:srgbClr val="202020"/>
                </a:solidFill>
                <a:sym typeface="+mn-ea"/>
              </a:rPr>
              <a:t>一个新内核要真正</a:t>
            </a:r>
            <a:r>
              <a:rPr lang="zh-CN" sz="1400">
                <a:solidFill>
                  <a:srgbClr val="202020"/>
                </a:solidFill>
                <a:sym typeface="+mn-ea"/>
              </a:rPr>
              <a:t>达到“生产级</a:t>
            </a:r>
            <a:r>
              <a:rPr sz="1400">
                <a:solidFill>
                  <a:srgbClr val="202020"/>
                </a:solidFill>
                <a:sym typeface="+mn-ea"/>
              </a:rPr>
              <a:t>可用</a:t>
            </a:r>
            <a:r>
              <a:rPr lang="zh-CN" sz="1400">
                <a:solidFill>
                  <a:srgbClr val="202020"/>
                </a:solidFill>
                <a:sym typeface="+mn-ea"/>
              </a:rPr>
              <a:t>”</a:t>
            </a:r>
            <a:r>
              <a:rPr sz="1400">
                <a:solidFill>
                  <a:srgbClr val="202020"/>
                </a:solidFill>
                <a:sym typeface="+mn-ea"/>
              </a:rPr>
              <a:t>，关键在于</a:t>
            </a:r>
            <a:r>
              <a:rPr lang="zh-CN" sz="1400">
                <a:solidFill>
                  <a:srgbClr val="202020"/>
                </a:solidFill>
                <a:sym typeface="+mn-ea"/>
              </a:rPr>
              <a:t>要</a:t>
            </a:r>
            <a:r>
              <a:rPr sz="1400">
                <a:solidFill>
                  <a:srgbClr val="202020"/>
                </a:solidFill>
                <a:sym typeface="+mn-ea"/>
              </a:rPr>
              <a:t>能直接</a:t>
            </a:r>
            <a:r>
              <a:rPr sz="1400" b="1">
                <a:solidFill>
                  <a:schemeClr val="accent1"/>
                </a:solidFill>
                <a:sym typeface="+mn-ea"/>
              </a:rPr>
              <a:t>兼容</a:t>
            </a:r>
            <a:r>
              <a:rPr sz="1400" b="1">
                <a:solidFill>
                  <a:schemeClr val="accent1"/>
                </a:solidFill>
                <a:sym typeface="+mn-ea"/>
              </a:rPr>
              <a:t>现有的用户态生态</a:t>
            </a:r>
            <a:r>
              <a:rPr sz="1400">
                <a:solidFill>
                  <a:srgbClr val="202020"/>
                </a:solidFill>
                <a:sym typeface="+mn-ea"/>
              </a:rPr>
              <a:t>，而不是要求应用</a:t>
            </a:r>
            <a:r>
              <a:rPr lang="zh-CN" sz="1400">
                <a:solidFill>
                  <a:srgbClr val="202020"/>
                </a:solidFill>
                <a:sym typeface="+mn-ea"/>
              </a:rPr>
              <a:t>开发者</a:t>
            </a:r>
            <a:r>
              <a:rPr sz="1400">
                <a:solidFill>
                  <a:srgbClr val="202020"/>
                </a:solidFill>
                <a:sym typeface="+mn-ea"/>
              </a:rPr>
              <a:t>重写</a:t>
            </a:r>
            <a:r>
              <a:rPr lang="zh-CN" sz="1400">
                <a:solidFill>
                  <a:srgbClr val="202020"/>
                </a:solidFill>
                <a:sym typeface="+mn-ea"/>
              </a:rPr>
              <a:t>。</a:t>
            </a:r>
            <a:endParaRPr lang="zh-CN" sz="1400">
              <a:solidFill>
                <a:srgbClr val="202020"/>
              </a:solidFill>
              <a:sym typeface="+mn-ea"/>
            </a:endParaRPr>
          </a:p>
          <a:p>
            <a:pPr marL="0" indent="0">
              <a:buNone/>
            </a:pPr>
            <a:r>
              <a:rPr sz="1400">
                <a:solidFill>
                  <a:srgbClr val="202020"/>
                </a:solidFill>
                <a:sym typeface="+mn-ea"/>
              </a:rPr>
              <a:t>Linux ABI 已是事实标准，兼容它才能直接兼容海量现有调试工具链生态，如 GDB</a:t>
            </a:r>
            <a:r>
              <a:rPr lang="en-US" sz="1400">
                <a:solidFill>
                  <a:srgbClr val="202020"/>
                </a:solidFill>
                <a:sym typeface="+mn-ea"/>
              </a:rPr>
              <a:t>,</a:t>
            </a:r>
            <a:r>
              <a:rPr sz="1400">
                <a:solidFill>
                  <a:srgbClr val="202020"/>
                </a:solidFill>
                <a:sym typeface="+mn-ea"/>
              </a:rPr>
              <a:t> strace 等。</a:t>
            </a:r>
            <a:endParaRPr sz="1400" b="0">
              <a:solidFill>
                <a:srgbClr val="202020"/>
              </a:solidFill>
            </a:endParaRPr>
          </a:p>
          <a:p>
            <a:pPr marL="0" indent="0">
              <a:buNone/>
            </a:pP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0" name="Shape 15"/>
          <p:cNvSpPr/>
          <p:nvPr>
            <p:custDataLst>
              <p:tags r:id="rId11"/>
            </p:custDataLst>
          </p:nvPr>
        </p:nvSpPr>
        <p:spPr>
          <a:xfrm>
            <a:off x="6172200" y="3779520"/>
            <a:ext cx="5166360" cy="1434465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21" name="Text 16"/>
          <p:cNvSpPr/>
          <p:nvPr>
            <p:custDataLst>
              <p:tags r:id="rId12"/>
            </p:custDataLst>
          </p:nvPr>
        </p:nvSpPr>
        <p:spPr>
          <a:xfrm>
            <a:off x="6327648" y="3916553"/>
            <a:ext cx="4855464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algn="l">
              <a:buClrTx/>
              <a:buSzTx/>
              <a:buFontTx/>
              <a:buNone/>
            </a:pPr>
            <a:r>
              <a:rPr sz="1600" b="1">
                <a:solidFill>
                  <a:schemeClr val="accent1"/>
                </a:solidFill>
                <a:sym typeface="+mn-ea"/>
              </a:rPr>
              <a:t>兼容 Linux 的 ptrace 接口与相关配套机制</a:t>
            </a:r>
            <a:endParaRPr lang="en-US" sz="16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22" name="Text 17"/>
          <p:cNvSpPr/>
          <p:nvPr>
            <p:custDataLst>
              <p:tags r:id="rId13"/>
            </p:custDataLst>
          </p:nvPr>
        </p:nvSpPr>
        <p:spPr>
          <a:xfrm>
            <a:off x="6327775" y="4245610"/>
            <a:ext cx="4855210" cy="89916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>
                <a:solidFill>
                  <a:srgbClr val="202020"/>
                </a:solidFill>
                <a:sym typeface="+mn-ea"/>
              </a:rPr>
              <a:t>在 Asterinas 上支持用户进程调试，本质上就是</a:t>
            </a:r>
            <a:r>
              <a:rPr sz="1400" b="1">
                <a:solidFill>
                  <a:schemeClr val="accent1"/>
                </a:solidFill>
                <a:sym typeface="+mn-ea"/>
              </a:rPr>
              <a:t>兼容 Linux 的 ptrace 接口与相关配套机制</a:t>
            </a:r>
            <a:r>
              <a:rPr lang="zh-CN" sz="1400">
                <a:solidFill>
                  <a:srgbClr val="202020"/>
                </a:solidFill>
                <a:sym typeface="+mn-ea"/>
              </a:rPr>
              <a:t>。这是</a:t>
            </a:r>
            <a:r>
              <a:rPr sz="1400">
                <a:solidFill>
                  <a:srgbClr val="202020"/>
                </a:solidFill>
                <a:sym typeface="+mn-ea"/>
              </a:rPr>
              <a:t>贯穿进程管理、信号、wait、地址空间、寄存器、安全与 procfs </a:t>
            </a:r>
            <a:r>
              <a:rPr lang="zh-CN" sz="1400">
                <a:solidFill>
                  <a:srgbClr val="202020"/>
                </a:solidFill>
                <a:sym typeface="+mn-ea"/>
              </a:rPr>
              <a:t>等子系统</a:t>
            </a:r>
            <a:r>
              <a:rPr sz="1400">
                <a:solidFill>
                  <a:srgbClr val="202020"/>
                </a:solidFill>
                <a:sym typeface="+mn-ea"/>
              </a:rPr>
              <a:t>的完整通路。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1965960" y="5534025"/>
            <a:ext cx="8321040" cy="490855"/>
          </a:xfrm>
          <a:prstGeom prst="roundRect">
            <a:avLst>
              <a:gd name="adj" fmla="val 38710"/>
            </a:avLst>
          </a:prstGeom>
          <a:solidFill>
            <a:srgbClr val="F7E8EA"/>
          </a:solidFill>
          <a:ln w="12700">
            <a:solidFill>
              <a:srgbClr val="A00016"/>
            </a:solidFill>
            <a:prstDash val="solid"/>
          </a:ln>
        </p:spPr>
        <p:txBody>
          <a:bodyPr/>
          <a:p/>
        </p:txBody>
      </p:sp>
      <p:sp>
        <p:nvSpPr>
          <p:cNvPr id="24" name="Text 19"/>
          <p:cNvSpPr/>
          <p:nvPr/>
        </p:nvSpPr>
        <p:spPr>
          <a:xfrm>
            <a:off x="1965960" y="5589270"/>
            <a:ext cx="8321040" cy="43561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algn="ctr">
              <a:buClrTx/>
              <a:buSzTx/>
              <a:buFontTx/>
              <a:buNone/>
            </a:pPr>
            <a:r>
              <a:rPr lang="en-US" sz="1700" b="1" dirty="0">
                <a:solidFill>
                  <a:srgbClr val="A00016"/>
                </a:solidFill>
                <a:latin typeface="等线" panose="02010600030101010101" charset="-122"/>
                <a:ea typeface="等线" panose="02010600030101010101" charset="-122"/>
                <a:cs typeface="等线" panose="020B0503020204020204" pitchFamily="34" charset="-120"/>
              </a:rPr>
              <a:t>目标：让 GDB / strace 能在 Asterinas 上原生运行并调试</a:t>
            </a:r>
            <a:r>
              <a:rPr lang="zh-CN" altLang="en-US" sz="1700" b="1" dirty="0">
                <a:solidFill>
                  <a:srgbClr val="A00016"/>
                </a:solidFill>
                <a:latin typeface="等线" panose="02010600030101010101" charset="-122"/>
                <a:ea typeface="等线" panose="02010600030101010101" charset="-122"/>
                <a:cs typeface="等线" panose="020B0503020204020204" pitchFamily="34" charset="-120"/>
              </a:rPr>
              <a:t>真实</a:t>
            </a:r>
            <a:r>
              <a:rPr lang="en-US" sz="1700" b="1" dirty="0">
                <a:solidFill>
                  <a:srgbClr val="A00016"/>
                </a:solidFill>
                <a:latin typeface="等线" panose="02010600030101010101" charset="-122"/>
                <a:ea typeface="等线" panose="02010600030101010101" charset="-122"/>
                <a:cs typeface="等线" panose="020B0503020204020204" pitchFamily="34" charset="-120"/>
              </a:rPr>
              <a:t>用户进程</a:t>
            </a:r>
            <a:endParaRPr lang="en-US" sz="1700" b="1" dirty="0">
              <a:solidFill>
                <a:srgbClr val="A000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876958" y="1451926"/>
            <a:ext cx="136071" cy="288000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214350" y="1365095"/>
            <a:ext cx="4114800" cy="36512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 algn="l">
              <a:buNone/>
            </a:pPr>
            <a:r>
              <a:rPr lang="en-US" altLang="zh-CN" sz="2400" b="1" dirty="0">
                <a:solidFill>
                  <a:srgbClr val="8B0012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1.2 </a:t>
            </a:r>
            <a:r>
              <a:rPr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调试的基本需求——以</a:t>
            </a:r>
            <a:r>
              <a:rPr lang="en-US"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 GDB </a:t>
            </a:r>
            <a:r>
              <a:rPr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断点为例</a:t>
            </a:r>
            <a:endParaRPr lang="zh-CN" altLang="en-US" sz="2400" b="1" dirty="0">
              <a:solidFill>
                <a:srgbClr val="8B0012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流程图: 终止 5"/>
          <p:cNvSpPr/>
          <p:nvPr/>
        </p:nvSpPr>
        <p:spPr>
          <a:xfrm>
            <a:off x="4166740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90" name="表格 89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背景与目标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设计与实现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测试与应用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总结与展望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2" name="矩形 91"/>
          <p:cNvSpPr/>
          <p:nvPr/>
        </p:nvSpPr>
        <p:spPr>
          <a:xfrm>
            <a:off x="876958" y="1451926"/>
            <a:ext cx="136071" cy="288000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4" name="Picture 3" descr="09_breakpoint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935" y="1936115"/>
            <a:ext cx="10645140" cy="33762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4305" y="5217794"/>
            <a:ext cx="10241280" cy="135318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1">
                <a:solidFill>
                  <a:srgbClr val="202020"/>
                </a:solidFill>
                <a:latin typeface="Arial Bold" panose="020B0604020202020204" charset="0"/>
              </a:rPr>
              <a:t>调试器对内核的基本需求</a:t>
            </a:r>
            <a:r>
              <a:rPr sz="1500" b="0">
                <a:solidFill>
                  <a:srgbClr val="202020"/>
                </a:solidFill>
              </a:rPr>
              <a:t>：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运行时暂停目标进程工作</a:t>
            </a:r>
            <a:r>
              <a:rPr lang="zh-CN" sz="1500" b="0">
                <a:solidFill>
                  <a:srgbClr val="202020"/>
                </a:solidFill>
              </a:rPr>
              <a:t>；</a:t>
            </a:r>
            <a:r>
              <a:rPr sz="1500" b="0">
                <a:solidFill>
                  <a:srgbClr val="202020"/>
                </a:solidFill>
              </a:rPr>
              <a:t>读写目标进程的私有状态</a:t>
            </a:r>
            <a:r>
              <a:rPr lang="zh-CN" sz="1500" b="0">
                <a:solidFill>
                  <a:srgbClr val="202020"/>
                </a:solidFill>
              </a:rPr>
              <a:t>；</a:t>
            </a:r>
            <a:r>
              <a:rPr sz="1500" b="0">
                <a:solidFill>
                  <a:srgbClr val="202020"/>
                </a:solidFill>
              </a:rPr>
              <a:t>调试结束后恢复目标进程正常运行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202020"/>
                </a:solidFill>
              </a:rPr>
              <a:t>以最常用的「GDB 软件断点」为例，一次命中并恢复，需要内核按</a:t>
            </a:r>
            <a:r>
              <a:rPr lang="zh-CN" sz="1500" b="0">
                <a:solidFill>
                  <a:srgbClr val="202020"/>
                </a:solidFill>
              </a:rPr>
              <a:t>上</a:t>
            </a:r>
            <a:r>
              <a:rPr sz="1500" b="0">
                <a:solidFill>
                  <a:srgbClr val="202020"/>
                </a:solidFill>
              </a:rPr>
              <a:t>图配合</a:t>
            </a:r>
            <a:r>
              <a:rPr lang="zh-CN" sz="1500" b="0">
                <a:solidFill>
                  <a:srgbClr val="202020"/>
                </a:solidFill>
              </a:rPr>
              <a:t>，</a:t>
            </a:r>
            <a:r>
              <a:rPr sz="1500">
                <a:solidFill>
                  <a:srgbClr val="202020"/>
                </a:solidFill>
                <a:sym typeface="+mn-ea"/>
              </a:rPr>
              <a:t>这些功能分别需要</a:t>
            </a:r>
            <a:r>
              <a:rPr lang="zh-CN" sz="1500">
                <a:solidFill>
                  <a:srgbClr val="202020"/>
                </a:solidFill>
                <a:sym typeface="+mn-ea"/>
              </a:rPr>
              <a:t>：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跨进程</a:t>
            </a:r>
            <a:r>
              <a:rPr lang="zh-CN" sz="1500" b="0">
                <a:solidFill>
                  <a:srgbClr val="202020"/>
                </a:solidFill>
              </a:rPr>
              <a:t>读写</a:t>
            </a:r>
            <a:r>
              <a:rPr sz="1500" b="0">
                <a:solidFill>
                  <a:srgbClr val="202020"/>
                </a:solidFill>
              </a:rPr>
              <a:t>内存、异常转信号、</a:t>
            </a:r>
            <a:r>
              <a:rPr lang="en-US" sz="1500" b="0">
                <a:solidFill>
                  <a:srgbClr val="202020"/>
                </a:solidFill>
              </a:rPr>
              <a:t>ptrace </a:t>
            </a:r>
            <a:r>
              <a:rPr sz="1500" b="0">
                <a:solidFill>
                  <a:srgbClr val="202020"/>
                </a:solidFill>
              </a:rPr>
              <a:t>停 / 等 / 恢复、</a:t>
            </a:r>
            <a:r>
              <a:rPr lang="zh-CN" sz="1500" b="0">
                <a:solidFill>
                  <a:srgbClr val="202020"/>
                </a:solidFill>
              </a:rPr>
              <a:t>跨线程</a:t>
            </a:r>
            <a:r>
              <a:rPr sz="1500" b="0">
                <a:solidFill>
                  <a:srgbClr val="202020"/>
                </a:solidFill>
              </a:rPr>
              <a:t>读写寄存器、单步</a:t>
            </a:r>
            <a:r>
              <a:rPr lang="zh-CN" sz="1500" b="0">
                <a:solidFill>
                  <a:srgbClr val="202020"/>
                </a:solidFill>
              </a:rPr>
              <a:t>执行</a:t>
            </a:r>
            <a:r>
              <a:rPr sz="1500" b="0">
                <a:solidFill>
                  <a:srgbClr val="202020"/>
                </a:solidFill>
              </a:rPr>
              <a:t>。</a:t>
            </a:r>
            <a:endParaRPr sz="1500" b="0">
              <a:solidFill>
                <a:srgbClr val="202020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214350" y="1365095"/>
            <a:ext cx="4114800" cy="36512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 algn="l">
              <a:buNone/>
            </a:pPr>
            <a:r>
              <a:rPr lang="en-US" altLang="zh-CN" sz="2400" b="1" dirty="0">
                <a:solidFill>
                  <a:srgbClr val="8B0012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1.3 </a:t>
            </a:r>
            <a:r>
              <a:rPr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Linux 为调试器提供的抽象：调试能力通路</a:t>
            </a:r>
            <a:endParaRPr sz="2400" b="1">
              <a:solidFill>
                <a:srgbClr val="A00016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</a:endParaRPr>
          </a:p>
          <a:p>
            <a:pPr marL="0" indent="0" algn="l">
              <a:buNone/>
            </a:pPr>
            <a:endParaRPr lang="zh-CN" altLang="en-US" sz="2400" b="1" dirty="0">
              <a:solidFill>
                <a:srgbClr val="8B0012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流程图: 终止 5"/>
          <p:cNvSpPr/>
          <p:nvPr/>
        </p:nvSpPr>
        <p:spPr>
          <a:xfrm>
            <a:off x="4166740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91" name="表格 90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背景与目标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设计与实现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测试与应用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总结与展望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2" name="矩形 91"/>
          <p:cNvSpPr/>
          <p:nvPr/>
        </p:nvSpPr>
        <p:spPr>
          <a:xfrm>
            <a:off x="876958" y="1451926"/>
            <a:ext cx="136071" cy="288000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4" name="Picture 3" descr="01_arch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6870" y="1739900"/>
            <a:ext cx="7139305" cy="50203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20775" y="2623185"/>
            <a:ext cx="3338195" cy="31623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202020"/>
                </a:solidFill>
              </a:rPr>
              <a:t>Linux 暴露给 GDB 等调试器的抽象：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202020"/>
                </a:solidFill>
              </a:rPr>
              <a:t>用户工具发出请求</a:t>
            </a:r>
            <a:r>
              <a:rPr lang="zh-CN" sz="1500" b="0">
                <a:solidFill>
                  <a:srgbClr val="202020"/>
                </a:solidFill>
              </a:rPr>
              <a:t>，</a:t>
            </a:r>
            <a:r>
              <a:rPr sz="1500" b="0">
                <a:solidFill>
                  <a:srgbClr val="202020"/>
                </a:solidFill>
              </a:rPr>
              <a:t>经系统调用接口进入内核</a:t>
            </a:r>
            <a:r>
              <a:rPr lang="zh-CN" sz="1500" b="0">
                <a:solidFill>
                  <a:srgbClr val="202020"/>
                </a:solidFill>
              </a:rPr>
              <a:t>，经</a:t>
            </a:r>
            <a:r>
              <a:rPr sz="1500" b="0">
                <a:solidFill>
                  <a:srgbClr val="202020"/>
                </a:solidFill>
              </a:rPr>
              <a:t>过权限检查鉴权放行</a:t>
            </a:r>
            <a:r>
              <a:rPr lang="zh-CN" sz="1500" b="0">
                <a:solidFill>
                  <a:srgbClr val="202020"/>
                </a:solidFill>
              </a:rPr>
              <a:t>，</a:t>
            </a:r>
            <a:r>
              <a:rPr sz="1500" b="0">
                <a:solidFill>
                  <a:srgbClr val="202020"/>
                </a:solidFill>
              </a:rPr>
              <a:t>再交给 ptrace 核心状态机</a:t>
            </a:r>
            <a:r>
              <a:rPr lang="zh-CN" sz="1500" b="0">
                <a:solidFill>
                  <a:srgbClr val="202020"/>
                </a:solidFill>
              </a:rPr>
              <a:t>状态机</a:t>
            </a:r>
            <a:r>
              <a:rPr sz="1500" b="0">
                <a:solidFill>
                  <a:srgbClr val="202020"/>
                </a:solidFill>
              </a:rPr>
              <a:t>是整条通路的中枢，负责建立关系、</a:t>
            </a:r>
            <a:r>
              <a:rPr lang="zh-CN" sz="1500" b="0">
                <a:solidFill>
                  <a:srgbClr val="202020"/>
                </a:solidFill>
              </a:rPr>
              <a:t>同步</a:t>
            </a:r>
            <a:r>
              <a:rPr lang="en-US" altLang="zh-CN" sz="1500" b="0">
                <a:solidFill>
                  <a:srgbClr val="202020"/>
                </a:solidFill>
              </a:rPr>
              <a:t>tracee</a:t>
            </a:r>
            <a:r>
              <a:rPr lang="zh-CN" altLang="en-US" sz="1500" b="0">
                <a:solidFill>
                  <a:srgbClr val="202020"/>
                </a:solidFill>
              </a:rPr>
              <a:t>和</a:t>
            </a:r>
            <a:r>
              <a:rPr lang="en-US" altLang="zh-CN" sz="1500" b="0">
                <a:solidFill>
                  <a:srgbClr val="202020"/>
                </a:solidFill>
              </a:rPr>
              <a:t>tracer</a:t>
            </a:r>
            <a:r>
              <a:rPr lang="zh-CN" altLang="en-US" sz="1500" b="0">
                <a:solidFill>
                  <a:srgbClr val="202020"/>
                </a:solidFill>
              </a:rPr>
              <a:t>。</a:t>
            </a:r>
            <a:endParaRPr lang="zh-CN" altLang="en-US"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202020"/>
                </a:solidFill>
              </a:rPr>
              <a:t>围绕这个中枢，向下分出三类能力：跨进程用户空间读写、寄存器上下文快照、以及与</a:t>
            </a:r>
            <a:r>
              <a:rPr lang="zh-CN" sz="1500" b="0">
                <a:solidFill>
                  <a:srgbClr val="202020"/>
                </a:solidFill>
              </a:rPr>
              <a:t>其他</a:t>
            </a:r>
            <a:r>
              <a:rPr sz="1500" b="0">
                <a:solidFill>
                  <a:srgbClr val="202020"/>
                </a:solidFill>
              </a:rPr>
              <a:t>系统调用的协作。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1">
                <a:solidFill>
                  <a:srgbClr val="202020"/>
                </a:solidFill>
              </a:rPr>
              <a:t>忠实构建相应抽象，才能正确兼容 Linux 海量调试器生态。</a:t>
            </a:r>
            <a:endParaRPr sz="1500" b="1">
              <a:solidFill>
                <a:srgbClr val="202020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214350" y="1365095"/>
            <a:ext cx="4114800" cy="36512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 algn="l">
              <a:buNone/>
            </a:pPr>
            <a:r>
              <a:rPr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1.</a:t>
            </a:r>
            <a:r>
              <a:rPr lang="en-US"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4</a:t>
            </a:r>
            <a:r>
              <a:rPr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 相关工作：其它新兴 OS 的调试路线</a:t>
            </a:r>
            <a:endParaRPr lang="zh-CN" altLang="en-US" sz="2400" b="1" dirty="0">
              <a:solidFill>
                <a:srgbClr val="8B0012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流程图: 终止 5"/>
          <p:cNvSpPr/>
          <p:nvPr/>
        </p:nvSpPr>
        <p:spPr>
          <a:xfrm>
            <a:off x="4166740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91" name="表格 90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背景与目标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设计与实现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测试与应用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总结与展望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2" name="矩形 91"/>
          <p:cNvSpPr/>
          <p:nvPr/>
        </p:nvSpPr>
        <p:spPr>
          <a:xfrm>
            <a:off x="876958" y="1451926"/>
            <a:ext cx="136071" cy="288000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2" name="Table 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077595" y="2219325"/>
          <a:ext cx="10241277" cy="3345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3759"/>
                <a:gridCol w="3413759"/>
                <a:gridCol w="3413759"/>
              </a:tblGrid>
              <a:tr h="544068">
                <a:tc>
                  <a:txBody>
                    <a:bodyPr/>
                    <a:p>
                      <a:r>
                        <a:rPr lang="zh-CN" sz="1800" b="1">
                          <a:solidFill>
                            <a:srgbClr val="FFFFFF"/>
                          </a:solidFill>
                        </a:rPr>
                        <a:t>操作</a:t>
                      </a:r>
                      <a:r>
                        <a:rPr sz="1800" b="1">
                          <a:solidFill>
                            <a:srgbClr val="FFFFFF"/>
                          </a:solidFill>
                        </a:rPr>
                        <a:t>系统</a:t>
                      </a:r>
                      <a:endParaRPr sz="1800" b="1">
                        <a:solidFill>
                          <a:srgbClr val="FFFFFF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A00016"/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内核调试接口</a:t>
                      </a:r>
                      <a:endParaRPr sz="1800" b="1">
                        <a:solidFill>
                          <a:srgbClr val="FFFFFF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A00016"/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调试器如何接入</a:t>
                      </a:r>
                      <a:endParaRPr sz="1800" b="1">
                        <a:solidFill>
                          <a:srgbClr val="FFFFFF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A00016"/>
                    </a:solidFill>
                  </a:tcPr>
                </a:tc>
              </a:tr>
              <a:tr h="544068">
                <a:tc>
                  <a:txBody>
                    <a:bodyPr/>
                    <a:p>
                      <a:r>
                        <a:rPr sz="1800" b="0">
                          <a:solidFill>
                            <a:srgbClr val="202020"/>
                          </a:solidFill>
                        </a:rPr>
                        <a:t>Redox OS</a:t>
                      </a:r>
                      <a:endParaRPr sz="180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p>
                      <a:r>
                        <a:rPr sz="1800" b="0">
                          <a:solidFill>
                            <a:srgbClr val="202020"/>
                          </a:solidFill>
                        </a:rPr>
                        <a:t>proc scheme，非 ptrace</a:t>
                      </a:r>
                      <a:endParaRPr sz="180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p>
                      <a:r>
                        <a:rPr sz="1800" b="0">
                          <a:solidFill>
                            <a:srgbClr val="202020"/>
                          </a:solidFill>
                        </a:rPr>
                        <a:t>自写 Rust gdbserver，GDB 走远程协议</a:t>
                      </a:r>
                      <a:endParaRPr sz="180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</a:tr>
              <a:tr h="624840">
                <a:tc>
                  <a:txBody>
                    <a:bodyPr/>
                    <a:p>
                      <a:r>
                        <a:rPr sz="1800" b="0">
                          <a:solidFill>
                            <a:srgbClr val="202020"/>
                          </a:solidFill>
                        </a:rPr>
                        <a:t>SerenityOS</a:t>
                      </a:r>
                      <a:endParaRPr sz="180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1800" b="0">
                          <a:solidFill>
                            <a:srgbClr val="202020"/>
                          </a:solidFill>
                        </a:rPr>
                        <a:t>自有 ptrace，非 Linux ABI</a:t>
                      </a:r>
                      <a:endParaRPr sz="180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1800" b="0">
                          <a:solidFill>
                            <a:srgbClr val="202020"/>
                          </a:solidFill>
                        </a:rPr>
                        <a:t>移植 GDB，新增 serenity target 后端</a:t>
                      </a:r>
                      <a:endParaRPr sz="180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44068">
                <a:tc>
                  <a:txBody>
                    <a:bodyPr/>
                    <a:p>
                      <a:r>
                        <a:rPr sz="1800" b="0">
                          <a:solidFill>
                            <a:srgbClr val="202020"/>
                          </a:solidFill>
                        </a:rPr>
                        <a:t>Fuchsia / Zircon</a:t>
                      </a:r>
                      <a:endParaRPr sz="180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p>
                      <a:r>
                        <a:rPr sz="1800" b="0">
                          <a:solidFill>
                            <a:srgbClr val="202020"/>
                          </a:solidFill>
                        </a:rPr>
                        <a:t>内核对象模型，无 ptrace</a:t>
                      </a:r>
                      <a:endParaRPr sz="180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p>
                      <a:r>
                        <a:rPr sz="1800" b="0">
                          <a:solidFill>
                            <a:srgbClr val="202020"/>
                          </a:solidFill>
                        </a:rPr>
                        <a:t>zxdb 客户端连 debug_agent，仅远程调试</a:t>
                      </a:r>
                      <a:endParaRPr sz="180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</a:tr>
              <a:tr h="544068">
                <a:tc>
                  <a:txBody>
                    <a:bodyPr/>
                    <a:p>
                      <a:r>
                        <a:rPr sz="1800" b="0">
                          <a:solidFill>
                            <a:srgbClr val="202020"/>
                          </a:solidFill>
                        </a:rPr>
                        <a:t>Haiku</a:t>
                      </a:r>
                      <a:endParaRPr sz="180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1800" b="0">
                          <a:solidFill>
                            <a:srgbClr val="202020"/>
                          </a:solidFill>
                        </a:rPr>
                        <a:t>端口式调试 API，非 ptrace</a:t>
                      </a:r>
                      <a:endParaRPr sz="180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1800" b="0">
                          <a:solidFill>
                            <a:srgbClr val="202020"/>
                          </a:solidFill>
                        </a:rPr>
                        <a:t>移植 GDB，翻译到 Haiku 调试端口</a:t>
                      </a:r>
                      <a:endParaRPr sz="180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44068">
                <a:tc>
                  <a:txBody>
                    <a:bodyPr/>
                    <a:p>
                      <a:r>
                        <a:rPr sz="1800" b="1">
                          <a:solidFill>
                            <a:srgbClr val="202020"/>
                          </a:solidFill>
                        </a:rPr>
                        <a:t>Asterinas</a:t>
                      </a:r>
                      <a:endParaRPr sz="1800" b="1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rgbClr val="202020"/>
                          </a:solidFill>
                        </a:rPr>
                        <a:t>内核原生 Linux ptrace ABI</a:t>
                      </a:r>
                      <a:endParaRPr sz="1800" b="1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rgbClr val="202020"/>
                          </a:solidFill>
                        </a:rPr>
                        <a:t>未经修改的上游 GDB / strace 直接运行</a:t>
                      </a:r>
                      <a:endParaRPr sz="1800" b="1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图片 6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008"/>
          <a:stretch>
            <a:fillRect/>
          </a:stretch>
        </p:blipFill>
        <p:spPr>
          <a:xfrm>
            <a:off x="0" y="0"/>
            <a:ext cx="6216990" cy="68580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801239" y="1821702"/>
            <a:ext cx="923330" cy="387738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4800" b="1" noProof="0" dirty="0">
                <a:ln w="38100">
                  <a:solidFill>
                    <a:schemeClr val="bg1"/>
                  </a:solidFill>
                </a:ln>
                <a:noFill/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PART two</a:t>
            </a:r>
            <a:endParaRPr kumimoji="0" lang="zh-CN" altLang="en-US" sz="4800" b="1" i="0" u="none" strike="noStrike" kern="1200" cap="none" spc="0" normalizeH="0" baseline="0" noProof="0" dirty="0">
              <a:ln w="38100">
                <a:solidFill>
                  <a:schemeClr val="bg1"/>
                </a:solidFill>
              </a:ln>
              <a:noFill/>
              <a:effectLst/>
              <a:uLnTx/>
              <a:uFillTx/>
              <a:latin typeface="Arial Black" panose="020B0A04020102020204" pitchFamily="34" charset="0"/>
              <a:ea typeface="思源黑体 CN Heavy" panose="020B0A00000000000000" pitchFamily="34" charset="-122"/>
              <a:cs typeface="EB Garamond ExtraBold" pitchFamily="2" charset="0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7023100" y="1221740"/>
            <a:ext cx="323532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/>
              </a:rPr>
              <a:t>设计与实现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/>
            </a:endParaRPr>
          </a:p>
        </p:txBody>
      </p:sp>
      <p:cxnSp>
        <p:nvCxnSpPr>
          <p:cNvPr id="75" name="直接连接符 74"/>
          <p:cNvCxnSpPr/>
          <p:nvPr/>
        </p:nvCxnSpPr>
        <p:spPr>
          <a:xfrm>
            <a:off x="6438900" y="2273300"/>
            <a:ext cx="4572000" cy="0"/>
          </a:xfrm>
          <a:prstGeom prst="line">
            <a:avLst/>
          </a:prstGeom>
          <a:ln w="38100">
            <a:solidFill>
              <a:srgbClr val="8B001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组合 77"/>
          <p:cNvGrpSpPr/>
          <p:nvPr>
            <p:custDataLst>
              <p:tags r:id="rId2"/>
            </p:custDataLst>
          </p:nvPr>
        </p:nvGrpSpPr>
        <p:grpSpPr>
          <a:xfrm>
            <a:off x="6962772" y="2816074"/>
            <a:ext cx="3133728" cy="521970"/>
            <a:chOff x="7480300" y="3140844"/>
            <a:chExt cx="3133728" cy="521970"/>
          </a:xfrm>
        </p:grpSpPr>
        <p:sp>
          <p:nvSpPr>
            <p:cNvPr id="76" name="矩形 75"/>
            <p:cNvSpPr/>
            <p:nvPr>
              <p:custDataLst>
                <p:tags r:id="rId3"/>
              </p:custDataLst>
            </p:nvPr>
          </p:nvSpPr>
          <p:spPr>
            <a:xfrm>
              <a:off x="7480300" y="3352800"/>
              <a:ext cx="165100" cy="152399"/>
            </a:xfrm>
            <a:prstGeom prst="rect">
              <a:avLst/>
            </a:prstGeom>
            <a:solidFill>
              <a:srgbClr val="8B001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文本框 76"/>
            <p:cNvSpPr txBox="1"/>
            <p:nvPr>
              <p:custDataLst>
                <p:tags r:id="rId4"/>
              </p:custDataLst>
            </p:nvPr>
          </p:nvSpPr>
          <p:spPr>
            <a:xfrm>
              <a:off x="7766044" y="3140844"/>
              <a:ext cx="284798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latin typeface="微软雅黑" panose="020B0503020204020204" charset="-122"/>
                  <a:ea typeface="微软雅黑" panose="020B0503020204020204" charset="-122"/>
                  <a:cs typeface="微软雅黑"/>
                </a:rPr>
                <a:t>总体架构</a:t>
              </a:r>
              <a:endParaRPr lang="zh-CN" altLang="en-US" sz="2800" dirty="0">
                <a:latin typeface="方正小标宋简体" panose="03000509000000000000" pitchFamily="2" charset="-122"/>
                <a:ea typeface="方正小标宋简体" panose="03000509000000000000" pitchFamily="2" charset="-122"/>
              </a:endParaRPr>
            </a:p>
          </p:txBody>
        </p:sp>
      </p:grpSp>
      <p:grpSp>
        <p:nvGrpSpPr>
          <p:cNvPr id="79" name="组合 78"/>
          <p:cNvGrpSpPr/>
          <p:nvPr>
            <p:custDataLst>
              <p:tags r:id="rId5"/>
            </p:custDataLst>
          </p:nvPr>
        </p:nvGrpSpPr>
        <p:grpSpPr>
          <a:xfrm>
            <a:off x="7204072" y="3549501"/>
            <a:ext cx="3844928" cy="521970"/>
            <a:chOff x="7480300" y="3140844"/>
            <a:chExt cx="3844928" cy="521970"/>
          </a:xfrm>
        </p:grpSpPr>
        <p:sp>
          <p:nvSpPr>
            <p:cNvPr id="80" name="矩形 79"/>
            <p:cNvSpPr/>
            <p:nvPr>
              <p:custDataLst>
                <p:tags r:id="rId6"/>
              </p:custDataLst>
            </p:nvPr>
          </p:nvSpPr>
          <p:spPr>
            <a:xfrm>
              <a:off x="7480300" y="3352800"/>
              <a:ext cx="165100" cy="152399"/>
            </a:xfrm>
            <a:prstGeom prst="rect">
              <a:avLst/>
            </a:prstGeom>
            <a:solidFill>
              <a:srgbClr val="8B001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文本框 80"/>
            <p:cNvSpPr txBox="1"/>
            <p:nvPr>
              <p:custDataLst>
                <p:tags r:id="rId7"/>
              </p:custDataLst>
            </p:nvPr>
          </p:nvSpPr>
          <p:spPr>
            <a:xfrm>
              <a:off x="7766044" y="3140844"/>
              <a:ext cx="355918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latin typeface="微软雅黑" panose="020B0503020204020204" charset="-122"/>
                  <a:ea typeface="微软雅黑" panose="020B0503020204020204" charset="-122"/>
                  <a:cs typeface="微软雅黑"/>
                </a:rPr>
                <a:t>核心机制</a:t>
              </a:r>
              <a:endParaRPr lang="zh-CN" altLang="en-US" sz="2800" dirty="0">
                <a:latin typeface="方正小标宋简体" panose="03000509000000000000" pitchFamily="2" charset="-122"/>
                <a:ea typeface="方正小标宋简体" panose="03000509000000000000" pitchFamily="2" charset="-122"/>
              </a:endParaRPr>
            </a:p>
          </p:txBody>
        </p:sp>
      </p:grpSp>
      <p:grpSp>
        <p:nvGrpSpPr>
          <p:cNvPr id="82" name="组合 81"/>
          <p:cNvGrpSpPr/>
          <p:nvPr>
            <p:custDataLst>
              <p:tags r:id="rId8"/>
            </p:custDataLst>
          </p:nvPr>
        </p:nvGrpSpPr>
        <p:grpSpPr>
          <a:xfrm>
            <a:off x="7585072" y="4282928"/>
            <a:ext cx="3844928" cy="521970"/>
            <a:chOff x="7480300" y="3140844"/>
            <a:chExt cx="3844928" cy="521970"/>
          </a:xfrm>
        </p:grpSpPr>
        <p:sp>
          <p:nvSpPr>
            <p:cNvPr id="83" name="矩形 82"/>
            <p:cNvSpPr/>
            <p:nvPr>
              <p:custDataLst>
                <p:tags r:id="rId9"/>
              </p:custDataLst>
            </p:nvPr>
          </p:nvSpPr>
          <p:spPr>
            <a:xfrm>
              <a:off x="7480300" y="3352800"/>
              <a:ext cx="165100" cy="152399"/>
            </a:xfrm>
            <a:prstGeom prst="rect">
              <a:avLst/>
            </a:prstGeom>
            <a:solidFill>
              <a:srgbClr val="8B001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文本框 83"/>
            <p:cNvSpPr txBox="1"/>
            <p:nvPr>
              <p:custDataLst>
                <p:tags r:id="rId10"/>
              </p:custDataLst>
            </p:nvPr>
          </p:nvSpPr>
          <p:spPr>
            <a:xfrm>
              <a:off x="7766044" y="3140844"/>
              <a:ext cx="355918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latin typeface="微软雅黑" panose="020B0503020204020204" charset="-122"/>
                  <a:ea typeface="微软雅黑" panose="020B0503020204020204" charset="-122"/>
                  <a:cs typeface="微软雅黑"/>
                </a:rPr>
                <a:t>与</a:t>
              </a:r>
              <a:r>
                <a:rPr lang="en-US" altLang="zh-CN" sz="2800" dirty="0">
                  <a:latin typeface="微软雅黑" panose="020B0503020204020204" charset="-122"/>
                  <a:ea typeface="微软雅黑" panose="020B0503020204020204" charset="-122"/>
                  <a:cs typeface="微软雅黑"/>
                </a:rPr>
                <a:t>Linux</a:t>
              </a:r>
              <a:r>
                <a:rPr lang="zh-CN" altLang="en-US" sz="2800" dirty="0">
                  <a:latin typeface="微软雅黑" panose="020B0503020204020204" charset="-122"/>
                  <a:ea typeface="微软雅黑" panose="020B0503020204020204" charset="-122"/>
                  <a:cs typeface="微软雅黑"/>
                </a:rPr>
                <a:t>的结构差异</a:t>
              </a:r>
              <a:endPara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/>
              </a:endParaRPr>
            </a:p>
          </p:txBody>
        </p:sp>
      </p:grp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流程图: 终止 5"/>
          <p:cNvSpPr/>
          <p:nvPr/>
        </p:nvSpPr>
        <p:spPr>
          <a:xfrm>
            <a:off x="6169708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1214350" y="1365094"/>
            <a:ext cx="4848576" cy="37483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2.1 和 Linux 相同抽象接口，但内部更优实现</a:t>
            </a:r>
            <a:endParaRPr lang="zh-CN" altLang="en-US" sz="2400" b="1" dirty="0">
              <a:solidFill>
                <a:srgbClr val="8B0012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876958" y="1451926"/>
            <a:ext cx="136071" cy="288000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背景与目标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设计与实现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测试与应用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总结与展望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12825" y="2247265"/>
            <a:ext cx="10241280" cy="2565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zh-CN" sz="2000" b="0">
                <a:solidFill>
                  <a:srgbClr val="202020"/>
                </a:solidFill>
                <a:ea typeface="+mn-lt"/>
                <a:cs typeface="+mn-lt"/>
              </a:rPr>
              <a:t>基于</a:t>
            </a:r>
            <a:r>
              <a:rPr sz="2000" b="0">
                <a:solidFill>
                  <a:srgbClr val="202020"/>
                </a:solidFill>
                <a:ea typeface="+mn-lt"/>
                <a:cs typeface="+mn-lt"/>
              </a:rPr>
              <a:t>安全 RustOS 这一载体，本项目相比 Linux 实现做出</a:t>
            </a:r>
            <a:r>
              <a:rPr lang="zh-CN" sz="2000" b="0">
                <a:solidFill>
                  <a:srgbClr val="202020"/>
                </a:solidFill>
                <a:ea typeface="+mn-lt"/>
                <a:cs typeface="+mn-lt"/>
              </a:rPr>
              <a:t>的</a:t>
            </a:r>
            <a:r>
              <a:rPr sz="2000" b="0">
                <a:solidFill>
                  <a:srgbClr val="202020"/>
                </a:solidFill>
                <a:ea typeface="+mn-lt"/>
                <a:cs typeface="+mn-lt"/>
              </a:rPr>
              <a:t>结构性</a:t>
            </a:r>
            <a:r>
              <a:rPr lang="zh-CN" sz="2000" b="0">
                <a:solidFill>
                  <a:srgbClr val="202020"/>
                </a:solidFill>
                <a:ea typeface="+mn-lt"/>
                <a:cs typeface="+mn-lt"/>
              </a:rPr>
              <a:t>改进</a:t>
            </a:r>
            <a:r>
              <a:rPr sz="2000" b="0">
                <a:solidFill>
                  <a:srgbClr val="202020"/>
                </a:solidFill>
                <a:ea typeface="+mn-lt"/>
                <a:cs typeface="+mn-lt"/>
              </a:rPr>
              <a:t>：</a:t>
            </a:r>
            <a:endParaRPr sz="2000" b="0">
              <a:solidFill>
                <a:srgbClr val="202020"/>
              </a:solidFill>
              <a:ea typeface="+mn-lt"/>
              <a:cs typeface="+mn-lt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>
                <a:solidFill>
                  <a:srgbClr val="A00016"/>
                </a:solidFill>
                <a:ea typeface="+mn-lt"/>
                <a:cs typeface="+mn-lt"/>
                <a:sym typeface="+mn-ea"/>
              </a:rPr>
              <a:t>•  </a:t>
            </a:r>
            <a:r>
              <a:rPr sz="2000" b="1">
                <a:solidFill>
                  <a:srgbClr val="202020"/>
                </a:solidFill>
                <a:ea typeface="+mn-lt"/>
                <a:cs typeface="+mn-lt"/>
                <a:sym typeface="+mn-ea"/>
              </a:rPr>
              <a:t>ptrace 状态机与调度器解耦</a:t>
            </a:r>
            <a:r>
              <a:rPr lang="zh-CN" sz="2000" b="1">
                <a:solidFill>
                  <a:srgbClr val="202020"/>
                </a:solidFill>
                <a:ea typeface="+mn-lt"/>
                <a:cs typeface="+mn-lt"/>
                <a:sym typeface="+mn-ea"/>
              </a:rPr>
              <a:t>，使调试逻辑独立于调度时序</a:t>
            </a:r>
            <a:endParaRPr lang="zh-CN" sz="2000" b="1">
              <a:solidFill>
                <a:srgbClr val="202020"/>
              </a:solidFill>
              <a:ea typeface="+mn-lt"/>
              <a:cs typeface="+mn-lt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>
                <a:solidFill>
                  <a:srgbClr val="A00016"/>
                </a:solidFill>
                <a:ea typeface="+mn-lt"/>
                <a:cs typeface="+mn-lt"/>
                <a:sym typeface="+mn-ea"/>
              </a:rPr>
              <a:t>•  </a:t>
            </a:r>
            <a:r>
              <a:rPr lang="en-US" sz="2000" b="1">
                <a:solidFill>
                  <a:srgbClr val="202020"/>
                </a:solidFill>
                <a:ea typeface="+mn-lt"/>
                <a:cs typeface="+mn-lt"/>
                <a:sym typeface="+mn-ea"/>
              </a:rPr>
              <a:t>ptrace </a:t>
            </a:r>
            <a:r>
              <a:rPr lang="zh-CN" altLang="en-US" sz="2000" b="1">
                <a:solidFill>
                  <a:srgbClr val="202020"/>
                </a:solidFill>
                <a:ea typeface="+mn-lt"/>
                <a:cs typeface="+mn-lt"/>
                <a:sym typeface="+mn-ea"/>
              </a:rPr>
              <a:t>跟踪关系与进程树解耦，使调试追踪无需</a:t>
            </a:r>
            <a:r>
              <a:rPr lang="zh-CN" altLang="en-US" sz="2000" b="1">
                <a:solidFill>
                  <a:srgbClr val="202020"/>
                </a:solidFill>
                <a:ea typeface="+mn-lt"/>
                <a:cs typeface="+mn-lt"/>
                <a:sym typeface="+mn-ea"/>
              </a:rPr>
              <a:t>进程树</a:t>
            </a:r>
            <a:r>
              <a:rPr lang="zh-CN" altLang="en-US" sz="2000" b="1">
                <a:solidFill>
                  <a:srgbClr val="202020"/>
                </a:solidFill>
                <a:ea typeface="+mn-lt"/>
                <a:cs typeface="+mn-lt"/>
                <a:sym typeface="+mn-ea"/>
              </a:rPr>
              <a:t>全局大锁</a:t>
            </a:r>
            <a:endParaRPr sz="2000" b="1">
              <a:solidFill>
                <a:srgbClr val="202020"/>
              </a:solidFill>
              <a:ea typeface="+mn-lt"/>
              <a:cs typeface="+mn-lt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 b="0">
                <a:solidFill>
                  <a:srgbClr val="A00016"/>
                </a:solidFill>
                <a:ea typeface="+mn-lt"/>
                <a:cs typeface="+mn-lt"/>
              </a:rPr>
              <a:t>•  </a:t>
            </a:r>
            <a:r>
              <a:rPr lang="zh-CN" sz="2000" b="1">
                <a:solidFill>
                  <a:srgbClr val="202020"/>
                </a:solidFill>
                <a:ea typeface="+mn-lt"/>
                <a:cs typeface="+mn-lt"/>
              </a:rPr>
              <a:t>静态</a:t>
            </a:r>
            <a:r>
              <a:rPr lang="zh-CN" sz="2000" b="1">
                <a:solidFill>
                  <a:srgbClr val="202020"/>
                </a:solidFill>
                <a:ea typeface="+mn-lt"/>
                <a:cs typeface="+mn-lt"/>
              </a:rPr>
              <a:t>可验证</a:t>
            </a:r>
            <a:r>
              <a:rPr sz="2000" b="1">
                <a:solidFill>
                  <a:srgbClr val="202020"/>
                </a:solidFill>
                <a:ea typeface="+mn-lt"/>
                <a:cs typeface="+mn-lt"/>
              </a:rPr>
              <a:t> tracer 和 tracee </a:t>
            </a:r>
            <a:r>
              <a:rPr lang="zh-CN" sz="2000" b="1">
                <a:solidFill>
                  <a:srgbClr val="202020"/>
                </a:solidFill>
                <a:ea typeface="+mn-lt"/>
                <a:cs typeface="+mn-lt"/>
              </a:rPr>
              <a:t>读写寄存器上下文的</a:t>
            </a:r>
            <a:r>
              <a:rPr sz="2000" b="1">
                <a:solidFill>
                  <a:srgbClr val="202020"/>
                </a:solidFill>
                <a:ea typeface="+mn-lt"/>
                <a:cs typeface="+mn-lt"/>
              </a:rPr>
              <a:t>内存安全</a:t>
            </a:r>
            <a:r>
              <a:rPr lang="zh-CN" sz="2000" b="1">
                <a:solidFill>
                  <a:srgbClr val="202020"/>
                </a:solidFill>
                <a:ea typeface="+mn-lt"/>
                <a:cs typeface="+mn-lt"/>
              </a:rPr>
              <a:t>性</a:t>
            </a:r>
            <a:endParaRPr sz="2000" b="1">
              <a:solidFill>
                <a:srgbClr val="202020"/>
              </a:solidFill>
              <a:ea typeface="+mn-lt"/>
              <a:cs typeface="+mn-lt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 b="0">
                <a:solidFill>
                  <a:srgbClr val="A00016"/>
                </a:solidFill>
                <a:ea typeface="+mn-lt"/>
                <a:cs typeface="+mn-lt"/>
              </a:rPr>
              <a:t>•  </a:t>
            </a:r>
            <a:r>
              <a:rPr lang="zh-CN" sz="2000" b="1">
                <a:solidFill>
                  <a:srgbClr val="202020"/>
                </a:solidFill>
                <a:ea typeface="+mn-lt"/>
                <a:cs typeface="+mn-lt"/>
                <a:sym typeface="+mn-ea"/>
              </a:rPr>
              <a:t>减轻</a:t>
            </a:r>
            <a:r>
              <a:rPr sz="2000" b="1">
                <a:solidFill>
                  <a:srgbClr val="202020"/>
                </a:solidFill>
                <a:ea typeface="+mn-lt"/>
                <a:cs typeface="+mn-lt"/>
              </a:rPr>
              <a:t>历史设计包袱，提升可维护性</a:t>
            </a:r>
            <a:endParaRPr sz="2000" b="0">
              <a:solidFill>
                <a:srgbClr val="606060"/>
              </a:solidFill>
              <a:ea typeface="+mn-lt"/>
              <a:cs typeface="+mn-lt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 b="0">
                <a:solidFill>
                  <a:srgbClr val="606060"/>
                </a:solidFill>
                <a:ea typeface="+mn-lt"/>
                <a:cs typeface="+mn-lt"/>
              </a:rPr>
              <a:t>不改变对外行为，而是在等价语义下，把同一套 ptrace 重建</a:t>
            </a:r>
            <a:r>
              <a:rPr lang="zh-CN" sz="2000" b="0">
                <a:solidFill>
                  <a:srgbClr val="606060"/>
                </a:solidFill>
                <a:ea typeface="+mn-lt"/>
                <a:cs typeface="+mn-lt"/>
              </a:rPr>
              <a:t>得</a:t>
            </a:r>
            <a:r>
              <a:rPr sz="2000" b="0">
                <a:solidFill>
                  <a:srgbClr val="606060"/>
                </a:solidFill>
                <a:ea typeface="+mn-lt"/>
                <a:cs typeface="+mn-lt"/>
              </a:rPr>
              <a:t>更安全、更具可维护性</a:t>
            </a:r>
            <a:r>
              <a:rPr lang="zh-CN" sz="2000" b="0">
                <a:solidFill>
                  <a:srgbClr val="606060"/>
                </a:solidFill>
                <a:ea typeface="+mn-lt"/>
                <a:cs typeface="+mn-lt"/>
              </a:rPr>
              <a:t>。</a:t>
            </a:r>
            <a:endParaRPr lang="zh-CN" sz="2000" b="0">
              <a:solidFill>
                <a:srgbClr val="606060"/>
              </a:solidFill>
              <a:ea typeface="+mn-lt"/>
              <a:cs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570" y="5379085"/>
            <a:ext cx="3484245" cy="87185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0310" y="5045075"/>
            <a:ext cx="2423795" cy="153924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7815" y="4948555"/>
            <a:ext cx="3808730" cy="37147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825" y="5137785"/>
            <a:ext cx="2668270" cy="1473200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流程图: 终止 5"/>
          <p:cNvSpPr/>
          <p:nvPr/>
        </p:nvSpPr>
        <p:spPr>
          <a:xfrm>
            <a:off x="6169708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1214350" y="1365094"/>
            <a:ext cx="4848576" cy="37483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 algn="l">
              <a:buNone/>
            </a:pPr>
            <a:r>
              <a:rPr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2.2 ptrace 状态机：与调度器解耦</a:t>
            </a:r>
            <a:endParaRPr lang="zh-CN" altLang="en-US" sz="2400" b="1" dirty="0">
              <a:solidFill>
                <a:srgbClr val="8B0012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876958" y="1451926"/>
            <a:ext cx="136071" cy="288000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背景与目标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设计与实现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测试与应用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总结与展望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4" name="Picture 3" descr="04b_sy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495" y="1905000"/>
            <a:ext cx="9345930" cy="4623435"/>
          </a:xfrm>
          <a:prstGeom prst="rect">
            <a:avLst/>
          </a:prstGeom>
        </p:spPr>
      </p:pic>
      <p:sp>
        <p:nvSpPr>
          <p:cNvPr id="3" name="TextBox 4"/>
          <p:cNvSpPr txBox="1"/>
          <p:nvPr/>
        </p:nvSpPr>
        <p:spPr>
          <a:xfrm>
            <a:off x="9786620" y="2079625"/>
            <a:ext cx="2249805" cy="4196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chemeClr val="tx1"/>
              </a:solidFill>
              <a:ea typeface="+mn-lt"/>
              <a:cs typeface="+mn-lt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1">
                <a:solidFill>
                  <a:schemeClr val="tx1"/>
                </a:solidFill>
                <a:ea typeface="+mn-lt"/>
                <a:cs typeface="+mn-lt"/>
              </a:rPr>
              <a:t>Linux 7.1 对该状态机的实现</a:t>
            </a:r>
            <a:r>
              <a:rPr sz="1500" b="0">
                <a:solidFill>
                  <a:schemeClr val="tx1"/>
                </a:solidFill>
                <a:ea typeface="+mn-lt"/>
                <a:cs typeface="+mn-lt"/>
              </a:rPr>
              <a:t>：</a:t>
            </a:r>
            <a:endParaRPr sz="1500" b="0">
              <a:solidFill>
                <a:schemeClr val="tx1"/>
              </a:solidFill>
              <a:ea typeface="+mn-lt"/>
              <a:cs typeface="+mn-lt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chemeClr val="tx1"/>
                </a:solidFill>
                <a:ea typeface="+mn-lt"/>
                <a:cs typeface="+mn-lt"/>
              </a:rPr>
              <a:t>tracee 的停止状态保存于 </a:t>
            </a:r>
            <a:r>
              <a:rPr sz="1500" b="0">
                <a:solidFill>
                  <a:schemeClr val="tx1"/>
                </a:solidFill>
                <a:ea typeface="+mn-lt"/>
                <a:cs typeface="+mn-lt"/>
              </a:rPr>
              <a:t>TASK_TRACED 标志，停止时置 </a:t>
            </a:r>
            <a:r>
              <a:rPr sz="1500" b="0">
                <a:solidFill>
                  <a:schemeClr val="tx1"/>
                </a:solidFill>
                <a:ea typeface="+mn-lt"/>
                <a:cs typeface="+mn-lt"/>
              </a:rPr>
              <a:t>TASK_TRACED、向父进程投递 </a:t>
            </a:r>
            <a:r>
              <a:rPr sz="1500" b="0">
                <a:solidFill>
                  <a:schemeClr val="tx1"/>
                </a:solidFill>
                <a:ea typeface="+mn-lt"/>
                <a:cs typeface="+mn-lt"/>
              </a:rPr>
              <a:t>SIGCHLD，随后让出 CPU</a:t>
            </a:r>
            <a:endParaRPr sz="1500" b="0">
              <a:solidFill>
                <a:schemeClr val="tx1"/>
              </a:solidFill>
              <a:ea typeface="+mn-lt"/>
              <a:cs typeface="+mn-lt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chemeClr val="tx1"/>
                </a:solidFill>
                <a:ea typeface="+mn-lt"/>
                <a:cs typeface="+mn-lt"/>
              </a:rPr>
              <a:t>tracer 在操作 tracee 私有数据前必须wait_task_inactive(__TASK_TRACED|TASK_FROZEN) 等待目标 tracee 实际离开 CPU，停止状态与调度状态绑定，与调度器强耦合。</a:t>
            </a:r>
            <a:endParaRPr sz="1500" b="0">
              <a:solidFill>
                <a:schemeClr val="tx1"/>
              </a:solidFill>
              <a:ea typeface="+mn-lt"/>
              <a:cs typeface="+mn-lt"/>
            </a:endParaRPr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流程图: 终止 5"/>
          <p:cNvSpPr/>
          <p:nvPr/>
        </p:nvSpPr>
        <p:spPr>
          <a:xfrm>
            <a:off x="6169708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1214350" y="1365094"/>
            <a:ext cx="4848576" cy="37483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2.3 ptrace</a:t>
            </a:r>
            <a:r>
              <a:rPr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跟踪关系：旁路 map，</a:t>
            </a:r>
            <a:r>
              <a:rPr lang="zh-CN"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与进程树解耦</a:t>
            </a:r>
            <a:endParaRPr lang="zh-CN" sz="2400" b="1" dirty="0">
              <a:solidFill>
                <a:srgbClr val="A00016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  <a:sym typeface="+mn-ea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876958" y="1451926"/>
            <a:ext cx="136071" cy="288000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背景与目标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设计与实现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测试与应用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总结与展望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1012825" y="2215515"/>
            <a:ext cx="10241280" cy="31730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  <a:latin typeface="+mn-ea"/>
                <a:cs typeface="+mn-ea"/>
              </a:rPr>
              <a:t>•  </a:t>
            </a:r>
            <a:r>
              <a:rPr lang="en-US" sz="1500" b="0">
                <a:solidFill>
                  <a:schemeClr val="tx1"/>
                </a:solidFill>
                <a:latin typeface="+mn-ea"/>
                <a:cs typeface="+mn-ea"/>
              </a:rPr>
              <a:t>Asterinas</a:t>
            </a:r>
            <a:r>
              <a:rPr lang="zh-CN" altLang="en-US" sz="1500" b="0">
                <a:solidFill>
                  <a:schemeClr val="tx1"/>
                </a:solidFill>
                <a:latin typeface="+mn-ea"/>
                <a:cs typeface="+mn-ea"/>
              </a:rPr>
              <a:t>中，</a:t>
            </a:r>
            <a:r>
              <a:rPr sz="1500" b="0">
                <a:solidFill>
                  <a:srgbClr val="202020"/>
                </a:solidFill>
                <a:latin typeface="+mn-ea"/>
                <a:cs typeface="+mn-ea"/>
              </a:rPr>
              <a:t>跟踪关系是一张</a:t>
            </a:r>
            <a:r>
              <a:rPr sz="1500" b="1">
                <a:solidFill>
                  <a:srgbClr val="202020"/>
                </a:solidFill>
                <a:latin typeface="+mn-ea"/>
                <a:cs typeface="+mn-ea"/>
              </a:rPr>
              <a:t>旁路表</a:t>
            </a:r>
            <a:r>
              <a:rPr sz="1500" b="0">
                <a:solidFill>
                  <a:srgbClr val="202020"/>
                </a:solidFill>
                <a:latin typeface="+mn-ea"/>
                <a:cs typeface="+mn-ea"/>
              </a:rPr>
              <a:t>：tracer 用 </a:t>
            </a:r>
            <a:r>
              <a:rPr sz="1500" b="0">
                <a:solidFill>
                  <a:srgbClr val="A00016"/>
                </a:solidFill>
                <a:latin typeface="+mn-ea"/>
                <a:cs typeface="+mn-ea"/>
              </a:rPr>
              <a:t>BTreeMap&lt;Tid, Arc&lt;Thread&gt;&gt;</a:t>
            </a:r>
            <a:r>
              <a:rPr sz="1500" b="0">
                <a:solidFill>
                  <a:srgbClr val="202020"/>
                </a:solidFill>
                <a:latin typeface="+mn-ea"/>
                <a:cs typeface="+mn-ea"/>
              </a:rPr>
              <a:t> 强引用持有 tracee，tracee 用 </a:t>
            </a:r>
            <a:r>
              <a:rPr sz="1500" b="0">
                <a:solidFill>
                  <a:srgbClr val="A00016"/>
                </a:solidFill>
                <a:latin typeface="+mn-ea"/>
                <a:cs typeface="+mn-ea"/>
              </a:rPr>
              <a:t>Weak&lt;Thread&gt;</a:t>
            </a:r>
            <a:r>
              <a:rPr sz="1500" b="0">
                <a:solidFill>
                  <a:srgbClr val="202020"/>
                </a:solidFill>
                <a:latin typeface="+mn-ea"/>
                <a:cs typeface="+mn-ea"/>
              </a:rPr>
              <a:t> 反指 tracer。</a:t>
            </a:r>
            <a:endParaRPr sz="1500" b="0">
              <a:solidFill>
                <a:srgbClr val="202020"/>
              </a:solidFill>
              <a:latin typeface="+mn-ea"/>
              <a:cs typeface="+mn-ea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  <a:latin typeface="+mn-ea"/>
                <a:cs typeface="+mn-ea"/>
              </a:rPr>
              <a:t>•  </a:t>
            </a:r>
            <a:r>
              <a:rPr sz="1500" b="0">
                <a:solidFill>
                  <a:srgbClr val="202020"/>
                </a:solidFill>
                <a:latin typeface="+mn-ea"/>
                <a:cs typeface="+mn-ea"/>
              </a:rPr>
              <a:t>ptrace 操作仅遍历该旁路 map，而非子进程树，固定锁序 </a:t>
            </a:r>
            <a:r>
              <a:rPr sz="1500" b="0">
                <a:solidFill>
                  <a:srgbClr val="A00016"/>
                </a:solidFill>
                <a:latin typeface="+mn-ea"/>
                <a:cs typeface="+mn-ea"/>
              </a:rPr>
              <a:t>tracees → tracee_status</a:t>
            </a:r>
            <a:r>
              <a:rPr sz="1500" b="0">
                <a:solidFill>
                  <a:srgbClr val="202020"/>
                </a:solidFill>
                <a:latin typeface="+mn-ea"/>
                <a:cs typeface="+mn-ea"/>
              </a:rPr>
              <a:t>。</a:t>
            </a:r>
            <a:endParaRPr sz="1500" b="0">
              <a:solidFill>
                <a:srgbClr val="202020"/>
              </a:solidFill>
              <a:latin typeface="+mn-ea"/>
              <a:cs typeface="+mn-ea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rgbClr val="202020"/>
              </a:solidFill>
              <a:latin typeface="+mn-ea"/>
              <a:cs typeface="+mn-ea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rgbClr val="202020"/>
              </a:solidFill>
              <a:latin typeface="+mn-ea"/>
              <a:cs typeface="+mn-ea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rgbClr val="202020"/>
              </a:solidFill>
              <a:latin typeface="+mn-ea"/>
              <a:cs typeface="+mn-ea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rgbClr val="202020"/>
              </a:solidFill>
              <a:latin typeface="+mn-ea"/>
              <a:cs typeface="+mn-ea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  <a:latin typeface="+mn-ea"/>
                <a:cs typeface="+mn-ea"/>
              </a:rPr>
              <a:t>•  </a:t>
            </a:r>
            <a:r>
              <a:rPr sz="1500" b="1">
                <a:solidFill>
                  <a:srgbClr val="202020"/>
                </a:solidFill>
                <a:latin typeface="+mn-ea"/>
                <a:cs typeface="+mn-ea"/>
              </a:rPr>
              <a:t>Linux 7.1 对该跟踪关系的实现</a:t>
            </a:r>
            <a:r>
              <a:rPr sz="1500" b="0">
                <a:solidFill>
                  <a:srgbClr val="202020"/>
                </a:solidFill>
                <a:latin typeface="+mn-ea"/>
                <a:cs typeface="+mn-ea"/>
              </a:rPr>
              <a:t>：Linux 修改全局进程树，将</a:t>
            </a:r>
            <a:r>
              <a:rPr lang="en-US" sz="1500" b="0">
                <a:solidFill>
                  <a:srgbClr val="202020"/>
                </a:solidFill>
                <a:latin typeface="+mn-ea"/>
                <a:cs typeface="+mn-ea"/>
              </a:rPr>
              <a:t> </a:t>
            </a:r>
            <a:r>
              <a:rPr sz="1500" b="0">
                <a:solidFill>
                  <a:srgbClr val="202020"/>
                </a:solidFill>
                <a:latin typeface="+mn-ea"/>
                <a:cs typeface="+mn-ea"/>
              </a:rPr>
              <a:t>tracee 的进程 parent 改为 tracer，故 attach / detach / </a:t>
            </a:r>
            <a:r>
              <a:rPr sz="1500" b="1">
                <a:solidFill>
                  <a:srgbClr val="202020"/>
                </a:solidFill>
                <a:latin typeface="+mn-ea"/>
                <a:cs typeface="+mn-ea"/>
              </a:rPr>
              <a:t>全程持有全局写锁 tasklist_lock</a:t>
            </a:r>
            <a:r>
              <a:rPr lang="zh-CN" sz="1500">
                <a:solidFill>
                  <a:srgbClr val="202020"/>
                </a:solidFill>
                <a:latin typeface="+mn-ea"/>
                <a:cs typeface="+mn-ea"/>
              </a:rPr>
              <a:t>，检查跟踪关系</a:t>
            </a:r>
            <a:r>
              <a:rPr lang="en-US" altLang="zh-CN" sz="1500">
                <a:solidFill>
                  <a:srgbClr val="202020"/>
                </a:solidFill>
                <a:latin typeface="+mn-ea"/>
                <a:cs typeface="+mn-ea"/>
              </a:rPr>
              <a:t> </a:t>
            </a:r>
            <a:r>
              <a:rPr sz="1500">
                <a:latin typeface="+mn-ea"/>
                <a:cs typeface="+mn-ea"/>
                <a:sym typeface="+mn-ea"/>
              </a:rPr>
              <a:t>ptrace_check_attach</a:t>
            </a:r>
            <a:r>
              <a:rPr lang="en-US" sz="1500">
                <a:latin typeface="+mn-ea"/>
                <a:cs typeface="+mn-ea"/>
                <a:sym typeface="+mn-ea"/>
              </a:rPr>
              <a:t> </a:t>
            </a:r>
            <a:r>
              <a:rPr lang="zh-CN" sz="1500" b="1">
                <a:solidFill>
                  <a:srgbClr val="202020"/>
                </a:solidFill>
                <a:latin typeface="+mn-ea"/>
                <a:cs typeface="+mn-ea"/>
              </a:rPr>
              <a:t>全程持有全局读锁</a:t>
            </a:r>
            <a:r>
              <a:rPr lang="en-US" altLang="zh-CN" sz="1500">
                <a:solidFill>
                  <a:srgbClr val="202020"/>
                </a:solidFill>
                <a:latin typeface="+mn-ea"/>
                <a:cs typeface="+mn-ea"/>
              </a:rPr>
              <a:t> </a:t>
            </a:r>
            <a:r>
              <a:rPr sz="1500" b="1">
                <a:solidFill>
                  <a:srgbClr val="202020"/>
                </a:solidFill>
                <a:latin typeface="+mn-ea"/>
                <a:cs typeface="+mn-ea"/>
                <a:sym typeface="+mn-ea"/>
              </a:rPr>
              <a:t>tasklist_lock</a:t>
            </a:r>
            <a:r>
              <a:rPr lang="zh-CN" sz="1500">
                <a:solidFill>
                  <a:srgbClr val="202020"/>
                </a:solidFill>
                <a:latin typeface="+mn-ea"/>
                <a:cs typeface="+mn-ea"/>
                <a:sym typeface="+mn-ea"/>
              </a:rPr>
              <a:t>，和</a:t>
            </a:r>
            <a:r>
              <a:rPr sz="1500">
                <a:solidFill>
                  <a:srgbClr val="202020"/>
                </a:solidFill>
                <a:latin typeface="+mn-ea"/>
                <a:cs typeface="+mn-ea"/>
                <a:sym typeface="+mn-ea"/>
              </a:rPr>
              <a:t>进程树（parent / children关系）</a:t>
            </a:r>
            <a:r>
              <a:rPr lang="zh-CN" sz="1500">
                <a:solidFill>
                  <a:srgbClr val="202020"/>
                </a:solidFill>
                <a:latin typeface="+mn-ea"/>
                <a:cs typeface="+mn-ea"/>
                <a:sym typeface="+mn-ea"/>
              </a:rPr>
              <a:t>强</a:t>
            </a:r>
            <a:r>
              <a:rPr sz="1500">
                <a:solidFill>
                  <a:srgbClr val="202020"/>
                </a:solidFill>
                <a:latin typeface="+mn-ea"/>
                <a:cs typeface="+mn-ea"/>
                <a:sym typeface="+mn-ea"/>
              </a:rPr>
              <a:t>耦合</a:t>
            </a:r>
            <a:r>
              <a:rPr sz="1500" b="0">
                <a:solidFill>
                  <a:srgbClr val="202020"/>
                </a:solidFill>
                <a:latin typeface="+mn-ea"/>
                <a:cs typeface="+mn-ea"/>
              </a:rPr>
              <a:t>。</a:t>
            </a:r>
            <a:endParaRPr sz="1500" b="0">
              <a:solidFill>
                <a:srgbClr val="202020"/>
              </a:solidFill>
              <a:latin typeface="+mn-ea"/>
              <a:cs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2570" y="3188970"/>
            <a:ext cx="5165090" cy="13081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670" y="5518785"/>
            <a:ext cx="3921125" cy="850900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流程图: 终止 5"/>
          <p:cNvSpPr/>
          <p:nvPr/>
        </p:nvSpPr>
        <p:spPr>
          <a:xfrm>
            <a:off x="6169708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1214350" y="1365094"/>
            <a:ext cx="4848576" cy="37483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 algn="l">
              <a:buNone/>
            </a:pPr>
            <a:r>
              <a:rPr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2.4 跨线程读写寄存器：静态</a:t>
            </a:r>
            <a:r>
              <a:rPr lang="zh-CN"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可</a:t>
            </a:r>
            <a:r>
              <a:rPr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验证内存安全</a:t>
            </a:r>
            <a:endParaRPr lang="zh-CN" altLang="en-US" sz="2400" b="1" dirty="0">
              <a:solidFill>
                <a:srgbClr val="8B0012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876958" y="1451926"/>
            <a:ext cx="136071" cy="288000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背景与目标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设计与实现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测试与应用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总结与展望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4" name="Picture 3" descr="08_register_ab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95" y="1826895"/>
            <a:ext cx="7957185" cy="46189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01360" y="2136140"/>
            <a:ext cx="6147435" cy="4465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跨线程读写寄存器，操作的是 tracee 进入内核时保存的用户态寄存器帧</a:t>
            </a:r>
            <a:r>
              <a:rPr lang="zh-CN"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。</a:t>
            </a:r>
            <a:r>
              <a:rPr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让</a:t>
            </a:r>
            <a:r>
              <a:rPr lang="en-US"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 tracer </a:t>
            </a:r>
            <a:r>
              <a:rPr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线程读写</a:t>
            </a:r>
            <a:r>
              <a:rPr lang="en-US"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 tracee </a:t>
            </a:r>
            <a:r>
              <a:rPr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线程的这份保存帧，又要应对</a:t>
            </a:r>
            <a:r>
              <a:rPr lang="zh-CN"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其</a:t>
            </a:r>
            <a:r>
              <a:rPr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并发退出或仍在运行</a:t>
            </a:r>
            <a:r>
              <a:rPr lang="zh-CN"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，</a:t>
            </a:r>
            <a:r>
              <a:rPr sz="1500" b="1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极易引入释放后访问与数据竞争</a:t>
            </a:r>
            <a:r>
              <a:rPr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。</a:t>
            </a:r>
            <a:endParaRPr sz="15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•  </a:t>
            </a:r>
            <a:r>
              <a:rPr sz="1500" b="1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快照式访问</a:t>
            </a:r>
            <a:r>
              <a:rPr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：tracee 进入 ptrace-stop 时，将用户寄存器上下文复制为一份副本，保存在 TraceeStatus 内的锁中；tracer 在副本上按字段读写，tracee resume 时回写。一致性由互斥锁保证、与 tracee 是否在 CPU 上执行无关</a:t>
            </a:r>
            <a:r>
              <a:rPr lang="zh-CN"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，编译期可静态验证内存安全性</a:t>
            </a:r>
            <a:r>
              <a:rPr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。</a:t>
            </a:r>
            <a:endParaRPr sz="15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•  </a:t>
            </a:r>
            <a:r>
              <a:rPr sz="1500" b="1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Linux 7.1 对寄存器读写的实现</a:t>
            </a:r>
            <a:r>
              <a:rPr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：</a:t>
            </a:r>
            <a:r>
              <a:rPr lang="en-US"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tracer </a:t>
            </a:r>
            <a:r>
              <a:rPr sz="1500" b="1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原地读写</a:t>
            </a:r>
            <a:r>
              <a:rPr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 tracee 保存的 pt_regs；由于是原地修改，必须先经 wait_task_inactive 确认其已下 CPU、不在执行。这种按偏移的原地裸指针访问可一比一翻译为 unsafe Rust，但难以静态形式化验证其内存安全性</a:t>
            </a:r>
            <a:r>
              <a:rPr lang="zh-CN"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，且与调度器强耦合。</a:t>
            </a:r>
            <a:endParaRPr lang="zh-CN" sz="15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 descr="06_signal_st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935" y="2541905"/>
            <a:ext cx="9899015" cy="2916555"/>
          </a:xfrm>
          <a:prstGeom prst="rect">
            <a:avLst/>
          </a:prstGeom>
        </p:spPr>
      </p:pic>
      <p:sp>
        <p:nvSpPr>
          <p:cNvPr id="6" name="流程图: 终止 5"/>
          <p:cNvSpPr/>
          <p:nvPr/>
        </p:nvSpPr>
        <p:spPr>
          <a:xfrm>
            <a:off x="6169708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1214350" y="1365094"/>
            <a:ext cx="4848576" cy="37483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 algn="l">
              <a:buNone/>
            </a:pPr>
            <a:r>
              <a:rPr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2.5 </a:t>
            </a:r>
            <a:r>
              <a:rPr lang="zh-CN"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减轻</a:t>
            </a:r>
            <a:r>
              <a:rPr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历史包袱：可维护性改良（字段策略表与信号四态机）</a:t>
            </a:r>
            <a:endParaRPr lang="en-US" sz="2400" b="1" dirty="0">
              <a:solidFill>
                <a:srgbClr val="A00016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  <a:sym typeface="+mn-ea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876958" y="1451926"/>
            <a:ext cx="136071" cy="288000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背景与目标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设计与实现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测试与应用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总结与展望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TextBox 4"/>
          <p:cNvSpPr txBox="1"/>
          <p:nvPr/>
        </p:nvSpPr>
        <p:spPr>
          <a:xfrm>
            <a:off x="1012825" y="2104389"/>
            <a:ext cx="10241280" cy="421767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•  </a:t>
            </a:r>
            <a:r>
              <a:rPr sz="1500" b="1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寄存器字段策略收敛为</a:t>
            </a:r>
            <a:r>
              <a:rPr lang="zh-CN" sz="1500" b="1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单</a:t>
            </a:r>
            <a:r>
              <a:rPr sz="1500" b="1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表</a:t>
            </a:r>
            <a:r>
              <a:rPr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：Linux 把各寄存器字段的特殊处理分散在 getreg/</a:t>
            </a:r>
            <a:r>
              <a:rPr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putreg 等多处；本项目用单张 REG_RULES 表为每个字段声明一次，读写按偏移访问共查同表，统一表示各寄存器的 ptrace </a:t>
            </a:r>
            <a:r>
              <a:rPr lang="zh-CN"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读</a:t>
            </a:r>
            <a:r>
              <a:rPr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写策略。</a:t>
            </a:r>
            <a:endParaRPr sz="15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•  </a:t>
            </a:r>
            <a:r>
              <a:rPr sz="1500" b="1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信号生命周期收敛为</a:t>
            </a:r>
            <a:r>
              <a:rPr lang="zh-CN" sz="1500" b="1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四</a:t>
            </a:r>
            <a:r>
              <a:rPr sz="1500" b="1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态机</a:t>
            </a:r>
            <a:r>
              <a:rPr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：ptrace-stop 信号本项目以四态机 Empty / Pending / Consumed / Injected 显式建模</a:t>
            </a:r>
            <a:r>
              <a:rPr lang="zh-CN"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以满足</a:t>
            </a:r>
            <a:r>
              <a:rPr lang="en-US" altLang="zh-CN"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 tracer </a:t>
            </a:r>
            <a:r>
              <a:rPr lang="zh-CN" altLang="en-US"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和</a:t>
            </a:r>
            <a:r>
              <a:rPr lang="en-US" altLang="zh-CN"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 tracee </a:t>
            </a:r>
            <a:r>
              <a:rPr lang="zh-CN" altLang="en-US"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不同的消费需求。</a:t>
            </a:r>
            <a:r>
              <a:rPr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Linux </a:t>
            </a:r>
            <a:r>
              <a:rPr lang="zh-CN"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因功能逐渐演进而来，将该四态机语义</a:t>
            </a:r>
            <a:r>
              <a:rPr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分摊在 exit_code、last_siginfo 等</a:t>
            </a:r>
            <a:r>
              <a:rPr lang="zh-CN"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多个散布且多语义复用</a:t>
            </a:r>
            <a:r>
              <a:rPr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字段上。两者行为等价，显式建模更易读、易维护。</a:t>
            </a:r>
            <a:endParaRPr sz="15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流程图: 终止 5"/>
          <p:cNvSpPr/>
          <p:nvPr/>
        </p:nvSpPr>
        <p:spPr>
          <a:xfrm>
            <a:off x="6169708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1214350" y="1365094"/>
            <a:ext cx="4848576" cy="37483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 algn="l">
              <a:buNone/>
            </a:pPr>
            <a:r>
              <a:rPr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2.6 跨进程内存访问：在目标进程地址空间里直接读写</a:t>
            </a:r>
            <a:endParaRPr lang="zh-CN" altLang="en-US" sz="2400" b="1" dirty="0">
              <a:solidFill>
                <a:srgbClr val="8B0012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876958" y="1451926"/>
            <a:ext cx="136071" cy="288000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背景与目标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设计与实现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测试与应用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总结与展望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3" name="Picture 3" descr="07_mem_a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5785" y="1976755"/>
            <a:ext cx="7231380" cy="4476750"/>
          </a:xfrm>
          <a:prstGeom prst="rect">
            <a:avLst/>
          </a:prstGeom>
        </p:spPr>
      </p:pic>
      <p:sp>
        <p:nvSpPr>
          <p:cNvPr id="7" name="TextBox 4"/>
          <p:cNvSpPr txBox="1"/>
          <p:nvPr/>
        </p:nvSpPr>
        <p:spPr>
          <a:xfrm>
            <a:off x="1012825" y="2600960"/>
            <a:ext cx="3362960" cy="27355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zh-CN" sz="1500" b="0">
                <a:solidFill>
                  <a:srgbClr val="202020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支持</a:t>
            </a:r>
            <a:r>
              <a:rPr lang="en-US" altLang="zh-CN" sz="1500" b="0">
                <a:solidFill>
                  <a:srgbClr val="202020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 tracer </a:t>
            </a:r>
            <a:r>
              <a:rPr lang="zh-CN" altLang="en-US" sz="1500" b="0">
                <a:solidFill>
                  <a:srgbClr val="202020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读写</a:t>
            </a:r>
            <a:r>
              <a:rPr lang="en-US" altLang="zh-CN" sz="1500" b="0">
                <a:solidFill>
                  <a:srgbClr val="202020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 tracee </a:t>
            </a:r>
            <a:r>
              <a:rPr lang="zh-CN" altLang="en-US" sz="1500" b="0">
                <a:solidFill>
                  <a:srgbClr val="202020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私有内存</a:t>
            </a:r>
            <a:r>
              <a:rPr sz="1500" b="0">
                <a:solidFill>
                  <a:srgbClr val="202020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。</a:t>
            </a:r>
            <a:endParaRPr sz="1500" b="0">
              <a:solidFill>
                <a:srgbClr val="202020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rgbClr val="202020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• </a:t>
            </a:r>
            <a:r>
              <a:rPr sz="1500" b="1">
                <a:solidFill>
                  <a:srgbClr val="A00016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 </a:t>
            </a:r>
            <a:r>
              <a:rPr sz="1500" b="1">
                <a:solidFill>
                  <a:srgbClr val="202020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不切换地址空间</a:t>
            </a:r>
            <a:r>
              <a:rPr sz="1500" b="0">
                <a:solidFill>
                  <a:srgbClr val="202020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：不把 CPU 页表切到目标进程，而是直接在它的地址空间里按页定位到物理页帧并拷贝；遇到缺页就主动触发一次缺页处理再重试。</a:t>
            </a:r>
            <a:endParaRPr sz="1500" b="0">
              <a:solidFill>
                <a:srgbClr val="202020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rgbClr val="202020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•  </a:t>
            </a:r>
            <a:r>
              <a:rPr sz="1500" b="0">
                <a:solidFill>
                  <a:srgbClr val="202020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整条跨进程读写都夹在统一的读写接口和权限检查边界内，安全可控。</a:t>
            </a:r>
            <a:endParaRPr sz="1500" b="0">
              <a:solidFill>
                <a:srgbClr val="202020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</p:txBody>
      </p: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流程图: 终止 5"/>
          <p:cNvSpPr/>
          <p:nvPr/>
        </p:nvSpPr>
        <p:spPr>
          <a:xfrm>
            <a:off x="6169708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1214350" y="1365094"/>
            <a:ext cx="4848576" cy="37483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 algn="l">
              <a:buNone/>
            </a:pPr>
            <a:r>
              <a:rPr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2.7 安全模型：统一鉴权</a:t>
            </a:r>
            <a:endParaRPr lang="zh-CN" altLang="en-US" sz="2400" b="1" dirty="0">
              <a:solidFill>
                <a:srgbClr val="8B0012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876958" y="1451926"/>
            <a:ext cx="136071" cy="288000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背景与目标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设计与实现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测试与应用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总结与展望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4" name="Picture 3" descr="10_security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120" y="1739900"/>
            <a:ext cx="4075430" cy="48844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63640" y="1826895"/>
            <a:ext cx="4983480" cy="196024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>
                <a:solidFill>
                  <a:schemeClr val="tx1"/>
                </a:solidFill>
                <a:ea typeface="+mn-lt"/>
                <a:cs typeface="+mn-lt"/>
                <a:sym typeface="+mn-ea"/>
              </a:rPr>
              <a:t>•  </a:t>
            </a:r>
            <a:r>
              <a:rPr lang="zh-CN" sz="1500">
                <a:solidFill>
                  <a:schemeClr val="tx1"/>
                </a:solidFill>
                <a:ea typeface="+mn-lt"/>
                <a:cs typeface="+mn-lt"/>
                <a:sym typeface="+mn-ea"/>
              </a:rPr>
              <a:t>忠实复现</a:t>
            </a:r>
            <a:r>
              <a:rPr lang="en-US" altLang="zh-CN" sz="1500">
                <a:solidFill>
                  <a:schemeClr val="tx1"/>
                </a:solidFill>
                <a:ea typeface="+mn-lt"/>
                <a:cs typeface="+mn-lt"/>
                <a:sym typeface="+mn-ea"/>
              </a:rPr>
              <a:t> Linux </a:t>
            </a:r>
            <a:r>
              <a:rPr lang="zh-CN" altLang="en-US" sz="1500">
                <a:solidFill>
                  <a:schemeClr val="tx1"/>
                </a:solidFill>
                <a:ea typeface="+mn-lt"/>
                <a:cs typeface="+mn-lt"/>
                <a:sym typeface="+mn-ea"/>
              </a:rPr>
              <a:t>的</a:t>
            </a:r>
            <a:r>
              <a:rPr lang="en-US" altLang="zh-CN" sz="1500">
                <a:solidFill>
                  <a:schemeClr val="tx1"/>
                </a:solidFill>
                <a:ea typeface="+mn-lt"/>
                <a:cs typeface="+mn-lt"/>
                <a:sym typeface="+mn-ea"/>
              </a:rPr>
              <a:t> ptrace </a:t>
            </a:r>
            <a:r>
              <a:rPr lang="zh-CN" altLang="en-US" sz="1500">
                <a:solidFill>
                  <a:schemeClr val="tx1"/>
                </a:solidFill>
                <a:ea typeface="+mn-lt"/>
                <a:cs typeface="+mn-lt"/>
                <a:sym typeface="+mn-ea"/>
              </a:rPr>
              <a:t>权限检查机制</a:t>
            </a:r>
            <a:endParaRPr sz="1500" b="0">
              <a:solidFill>
                <a:schemeClr val="tx1"/>
              </a:solidFill>
              <a:ea typeface="+mn-lt"/>
              <a:cs typeface="+mn-lt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chemeClr val="tx1"/>
                </a:solidFill>
                <a:ea typeface="+mn-lt"/>
                <a:cs typeface="+mn-lt"/>
              </a:rPr>
              <a:t>•  统一决策链：</a:t>
            </a:r>
            <a:r>
              <a:rPr sz="1500" b="1">
                <a:solidFill>
                  <a:schemeClr val="tx1"/>
                </a:solidFill>
                <a:ea typeface="+mn-lt"/>
                <a:cs typeface="+mn-lt"/>
              </a:rPr>
              <a:t>同进程 → UID/GID 匹配 → CAP_SYS_PTRACE → Yama LSM hook</a:t>
            </a:r>
            <a:endParaRPr sz="1500" b="0">
              <a:solidFill>
                <a:schemeClr val="tx1"/>
              </a:solidFill>
              <a:ea typeface="+mn-lt"/>
              <a:cs typeface="+mn-lt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chemeClr val="tx1"/>
              </a:solidFill>
              <a:ea typeface="+mn-lt"/>
              <a:cs typeface="+mn-lt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chemeClr val="tx1"/>
              </a:solidFill>
              <a:ea typeface="+mn-lt"/>
              <a:cs typeface="+mn-lt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chemeClr val="tx1"/>
                </a:solidFill>
                <a:ea typeface="+mn-lt"/>
                <a:cs typeface="+mn-lt"/>
              </a:rPr>
              <a:t>•  Yama ptrace_scope 四档对各放行条件的影响：</a:t>
            </a:r>
            <a:endParaRPr sz="1500" b="0">
              <a:solidFill>
                <a:schemeClr val="tx1"/>
              </a:solidFill>
              <a:ea typeface="+mn-lt"/>
              <a:cs typeface="+mn-lt"/>
            </a:endParaRPr>
          </a:p>
        </p:txBody>
      </p:sp>
      <p:graphicFrame>
        <p:nvGraphicFramePr>
          <p:cNvPr id="3" name="Table 5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6266180" y="3850766"/>
          <a:ext cx="5425440" cy="24415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5870"/>
                <a:gridCol w="1337310"/>
                <a:gridCol w="1428115"/>
                <a:gridCol w="1414145"/>
              </a:tblGrid>
              <a:tr h="488289">
                <a:tc>
                  <a:txBody>
                    <a:bodyPr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等线" panose="020B0609020204030204" pitchFamily="34" charset="0"/>
                          <a:ea typeface="等线" panose="020B0609020204030204" pitchFamily="34" charset="0"/>
                        </a:rPr>
                        <a:t>Yama scope</a:t>
                      </a:r>
                      <a:endParaRPr sz="1250" b="1">
                        <a:solidFill>
                          <a:srgbClr val="FFFFFF"/>
                        </a:solidFill>
                        <a:latin typeface="等线" panose="020B0609020204030204" pitchFamily="34" charset="0"/>
                        <a:ea typeface="等线" panose="020B0609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A00016"/>
                    </a:solidFill>
                  </a:tcPr>
                </a:tc>
                <a:tc>
                  <a:txBody>
                    <a:bodyPr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等线" panose="020B0609020204030204" pitchFamily="34" charset="0"/>
                          <a:ea typeface="等线" panose="020B0609020204030204" pitchFamily="34" charset="0"/>
                        </a:rPr>
                        <a:t>调用者是其祖先</a:t>
                      </a:r>
                      <a:endParaRPr sz="1250" b="1">
                        <a:solidFill>
                          <a:srgbClr val="FFFFFF"/>
                        </a:solidFill>
                        <a:latin typeface="等线" panose="020B0609020204030204" pitchFamily="34" charset="0"/>
                        <a:ea typeface="等线" panose="020B0609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A00016"/>
                    </a:solidFill>
                  </a:tcPr>
                </a:tc>
                <a:tc>
                  <a:txBody>
                    <a:bodyPr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等线" panose="020B0609020204030204" pitchFamily="34" charset="0"/>
                          <a:ea typeface="等线" panose="020B0609020204030204" pitchFamily="34" charset="0"/>
                          <a:cs typeface="等线" panose="020B0609020204030204" pitchFamily="34" charset="0"/>
                        </a:rPr>
                        <a:t>具备 CAP_SYS_PTRACE</a:t>
                      </a:r>
                      <a:endParaRPr sz="1250" b="1">
                        <a:solidFill>
                          <a:srgbClr val="FFFFFF"/>
                        </a:solidFill>
                        <a:latin typeface="等线" panose="020B0609020204030204" pitchFamily="34" charset="0"/>
                        <a:ea typeface="等线" panose="020B0609020204030204" pitchFamily="34" charset="0"/>
                        <a:cs typeface="等线" panose="020B0609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A00016"/>
                    </a:solidFill>
                  </a:tcPr>
                </a:tc>
                <a:tc>
                  <a:txBody>
                    <a:bodyPr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等线" panose="020B0609020204030204" pitchFamily="34" charset="0"/>
                          <a:ea typeface="等线" panose="020B0609020204030204" pitchFamily="34" charset="0"/>
                          <a:cs typeface="等线" panose="020B0609020204030204" pitchFamily="34" charset="0"/>
                        </a:rPr>
                        <a:t>仅 UID/GID 匹配</a:t>
                      </a:r>
                      <a:endParaRPr sz="1250" b="1">
                        <a:solidFill>
                          <a:srgbClr val="FFFFFF"/>
                        </a:solidFill>
                        <a:latin typeface="等线" panose="020B0609020204030204" pitchFamily="34" charset="0"/>
                        <a:ea typeface="等线" panose="020B0609020204030204" pitchFamily="34" charset="0"/>
                        <a:cs typeface="等线" panose="020B0609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A00016"/>
                    </a:solidFill>
                  </a:tcPr>
                </a:tc>
              </a:tr>
              <a:tr h="488289">
                <a:tc>
                  <a:txBody>
                    <a:bodyPr/>
                    <a:p>
                      <a:r>
                        <a:rPr sz="1250" b="0">
                          <a:solidFill>
                            <a:srgbClr val="202020"/>
                          </a:solidFill>
                          <a:latin typeface="等线" panose="020B0609020204030204" pitchFamily="34" charset="0"/>
                          <a:ea typeface="等线" panose="020B0609020204030204" pitchFamily="34" charset="0"/>
                        </a:rPr>
                        <a:t>0 Disabled</a:t>
                      </a:r>
                      <a:endParaRPr sz="1250" b="0">
                        <a:solidFill>
                          <a:srgbClr val="202020"/>
                        </a:solidFill>
                        <a:latin typeface="等线" panose="020B0609020204030204" pitchFamily="34" charset="0"/>
                        <a:ea typeface="等线" panose="020B0609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p>
                      <a:r>
                        <a:rPr sz="1250" b="0">
                          <a:solidFill>
                            <a:srgbClr val="202020"/>
                          </a:solidFill>
                          <a:latin typeface="等线" panose="020B0609020204030204" pitchFamily="34" charset="0"/>
                          <a:ea typeface="等线" panose="020B0609020204030204" pitchFamily="34" charset="0"/>
                        </a:rPr>
                        <a:t>✓</a:t>
                      </a:r>
                      <a:endParaRPr sz="1250" b="0">
                        <a:solidFill>
                          <a:srgbClr val="202020"/>
                        </a:solidFill>
                        <a:latin typeface="等线" panose="020B0609020204030204" pitchFamily="34" charset="0"/>
                        <a:ea typeface="等线" panose="020B0609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p>
                      <a:r>
                        <a:rPr sz="1250" b="0">
                          <a:solidFill>
                            <a:srgbClr val="202020"/>
                          </a:solidFill>
                          <a:latin typeface="等线" panose="020B0609020204030204" pitchFamily="34" charset="0"/>
                          <a:ea typeface="等线" panose="020B0609020204030204" pitchFamily="34" charset="0"/>
                        </a:rPr>
                        <a:t>✓</a:t>
                      </a:r>
                      <a:endParaRPr sz="1250" b="0">
                        <a:solidFill>
                          <a:srgbClr val="202020"/>
                        </a:solidFill>
                        <a:latin typeface="等线" panose="020B0609020204030204" pitchFamily="34" charset="0"/>
                        <a:ea typeface="等线" panose="020B0609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p>
                      <a:r>
                        <a:rPr sz="1250" b="0">
                          <a:solidFill>
                            <a:srgbClr val="202020"/>
                          </a:solidFill>
                          <a:latin typeface="等线" panose="020B0609020204030204" pitchFamily="34" charset="0"/>
                          <a:ea typeface="等线" panose="020B0609020204030204" pitchFamily="34" charset="0"/>
                        </a:rPr>
                        <a:t>✓</a:t>
                      </a:r>
                      <a:endParaRPr sz="1250" b="0">
                        <a:solidFill>
                          <a:srgbClr val="202020"/>
                        </a:solidFill>
                        <a:latin typeface="等线" panose="020B0609020204030204" pitchFamily="34" charset="0"/>
                        <a:ea typeface="等线" panose="020B0609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</a:tr>
              <a:tr h="488289">
                <a:tc>
                  <a:txBody>
                    <a:bodyPr/>
                    <a:p>
                      <a:r>
                        <a:rPr sz="1250" b="0">
                          <a:solidFill>
                            <a:srgbClr val="202020"/>
                          </a:solidFill>
                          <a:latin typeface="等线" panose="020B0609020204030204" pitchFamily="34" charset="0"/>
                          <a:ea typeface="等线" panose="020B0609020204030204" pitchFamily="34" charset="0"/>
                          <a:cs typeface="等线" panose="020B0609020204030204" pitchFamily="34" charset="0"/>
                        </a:rPr>
                        <a:t>1 Relational</a:t>
                      </a:r>
                      <a:endParaRPr sz="1250" b="0">
                        <a:solidFill>
                          <a:srgbClr val="202020"/>
                        </a:solidFill>
                        <a:latin typeface="等线" panose="020B0609020204030204" pitchFamily="34" charset="0"/>
                        <a:ea typeface="等线" panose="020B0609020204030204" pitchFamily="34" charset="0"/>
                        <a:cs typeface="等线" panose="020B0609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1250" b="0">
                          <a:solidFill>
                            <a:srgbClr val="202020"/>
                          </a:solidFill>
                          <a:latin typeface="等线" panose="020B0609020204030204" pitchFamily="34" charset="0"/>
                          <a:ea typeface="等线" panose="020B0609020204030204" pitchFamily="34" charset="0"/>
                        </a:rPr>
                        <a:t>✓</a:t>
                      </a:r>
                      <a:endParaRPr sz="1250" b="0">
                        <a:solidFill>
                          <a:srgbClr val="202020"/>
                        </a:solidFill>
                        <a:latin typeface="等线" panose="020B0609020204030204" pitchFamily="34" charset="0"/>
                        <a:ea typeface="等线" panose="020B0609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1250" b="0">
                          <a:solidFill>
                            <a:srgbClr val="202020"/>
                          </a:solidFill>
                          <a:latin typeface="等线" panose="020B0609020204030204" pitchFamily="34" charset="0"/>
                          <a:ea typeface="等线" panose="020B0609020204030204" pitchFamily="34" charset="0"/>
                        </a:rPr>
                        <a:t>✓</a:t>
                      </a:r>
                      <a:endParaRPr sz="1250" b="0">
                        <a:solidFill>
                          <a:srgbClr val="202020"/>
                        </a:solidFill>
                        <a:latin typeface="等线" panose="020B0609020204030204" pitchFamily="34" charset="0"/>
                        <a:ea typeface="等线" panose="020B0609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1250" b="0">
                          <a:solidFill>
                            <a:srgbClr val="202020"/>
                          </a:solidFill>
                          <a:latin typeface="等线" panose="020B0609020204030204" pitchFamily="34" charset="0"/>
                          <a:ea typeface="等线" panose="020B0609020204030204" pitchFamily="34" charset="0"/>
                        </a:rPr>
                        <a:t>✗</a:t>
                      </a:r>
                      <a:endParaRPr sz="1250" b="0">
                        <a:solidFill>
                          <a:srgbClr val="202020"/>
                        </a:solidFill>
                        <a:latin typeface="等线" panose="020B0609020204030204" pitchFamily="34" charset="0"/>
                        <a:ea typeface="等线" panose="020B0609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88289">
                <a:tc>
                  <a:txBody>
                    <a:bodyPr/>
                    <a:p>
                      <a:r>
                        <a:rPr sz="1250" b="0">
                          <a:solidFill>
                            <a:srgbClr val="202020"/>
                          </a:solidFill>
                          <a:latin typeface="等线" panose="020B0609020204030204" pitchFamily="34" charset="0"/>
                          <a:ea typeface="等线" panose="020B0609020204030204" pitchFamily="34" charset="0"/>
                        </a:rPr>
                        <a:t>2 Capability</a:t>
                      </a:r>
                      <a:endParaRPr sz="1250" b="0">
                        <a:solidFill>
                          <a:srgbClr val="202020"/>
                        </a:solidFill>
                        <a:latin typeface="等线" panose="020B0609020204030204" pitchFamily="34" charset="0"/>
                        <a:ea typeface="等线" panose="020B0609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p>
                      <a:r>
                        <a:rPr sz="1250" b="0">
                          <a:solidFill>
                            <a:srgbClr val="202020"/>
                          </a:solidFill>
                          <a:latin typeface="等线" panose="020B0609020204030204" pitchFamily="34" charset="0"/>
                          <a:ea typeface="等线" panose="020B0609020204030204" pitchFamily="34" charset="0"/>
                        </a:rPr>
                        <a:t>✗</a:t>
                      </a:r>
                      <a:endParaRPr sz="1250" b="0">
                        <a:solidFill>
                          <a:srgbClr val="202020"/>
                        </a:solidFill>
                        <a:latin typeface="等线" panose="020B0609020204030204" pitchFamily="34" charset="0"/>
                        <a:ea typeface="等线" panose="020B0609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p>
                      <a:r>
                        <a:rPr sz="1250" b="0">
                          <a:solidFill>
                            <a:srgbClr val="202020"/>
                          </a:solidFill>
                          <a:latin typeface="等线" panose="020B0609020204030204" pitchFamily="34" charset="0"/>
                          <a:ea typeface="等线" panose="020B0609020204030204" pitchFamily="34" charset="0"/>
                        </a:rPr>
                        <a:t>✓</a:t>
                      </a:r>
                      <a:endParaRPr sz="1250" b="0">
                        <a:solidFill>
                          <a:srgbClr val="202020"/>
                        </a:solidFill>
                        <a:latin typeface="等线" panose="020B0609020204030204" pitchFamily="34" charset="0"/>
                        <a:ea typeface="等线" panose="020B0609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p>
                      <a:r>
                        <a:rPr sz="1250" b="0">
                          <a:solidFill>
                            <a:srgbClr val="202020"/>
                          </a:solidFill>
                          <a:latin typeface="等线" panose="020B0609020204030204" pitchFamily="34" charset="0"/>
                          <a:ea typeface="等线" panose="020B0609020204030204" pitchFamily="34" charset="0"/>
                        </a:rPr>
                        <a:t>✗</a:t>
                      </a:r>
                      <a:endParaRPr sz="1250" b="0">
                        <a:solidFill>
                          <a:srgbClr val="202020"/>
                        </a:solidFill>
                        <a:latin typeface="等线" panose="020B0609020204030204" pitchFamily="34" charset="0"/>
                        <a:ea typeface="等线" panose="020B0609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</a:tr>
              <a:tr h="488292">
                <a:tc>
                  <a:txBody>
                    <a:bodyPr/>
                    <a:p>
                      <a:r>
                        <a:rPr sz="1250" b="0">
                          <a:solidFill>
                            <a:srgbClr val="202020"/>
                          </a:solidFill>
                          <a:latin typeface="等线" panose="020B0609020204030204" pitchFamily="34" charset="0"/>
                          <a:ea typeface="等线" panose="020B0609020204030204" pitchFamily="34" charset="0"/>
                          <a:cs typeface="等线" panose="020B0609020204030204" pitchFamily="34" charset="0"/>
                        </a:rPr>
                        <a:t>3 NoAttach（设置后不可降级）</a:t>
                      </a:r>
                      <a:endParaRPr sz="1250" b="0">
                        <a:solidFill>
                          <a:srgbClr val="202020"/>
                        </a:solidFill>
                        <a:latin typeface="等线" panose="020B0609020204030204" pitchFamily="34" charset="0"/>
                        <a:ea typeface="等线" panose="020B0609020204030204" pitchFamily="34" charset="0"/>
                        <a:cs typeface="等线" panose="020B0609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1250" b="0">
                          <a:solidFill>
                            <a:srgbClr val="202020"/>
                          </a:solidFill>
                          <a:latin typeface="等线" panose="020B0609020204030204" pitchFamily="34" charset="0"/>
                          <a:ea typeface="等线" panose="020B0609020204030204" pitchFamily="34" charset="0"/>
                        </a:rPr>
                        <a:t>✗</a:t>
                      </a:r>
                      <a:endParaRPr sz="1250" b="0">
                        <a:solidFill>
                          <a:srgbClr val="202020"/>
                        </a:solidFill>
                        <a:latin typeface="等线" panose="020B0609020204030204" pitchFamily="34" charset="0"/>
                        <a:ea typeface="等线" panose="020B0609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1250" b="0">
                          <a:solidFill>
                            <a:srgbClr val="202020"/>
                          </a:solidFill>
                          <a:latin typeface="等线" panose="020B0609020204030204" pitchFamily="34" charset="0"/>
                          <a:ea typeface="等线" panose="020B0609020204030204" pitchFamily="34" charset="0"/>
                        </a:rPr>
                        <a:t>✗</a:t>
                      </a:r>
                      <a:endParaRPr sz="1250" b="0">
                        <a:solidFill>
                          <a:srgbClr val="202020"/>
                        </a:solidFill>
                        <a:latin typeface="等线" panose="020B0609020204030204" pitchFamily="34" charset="0"/>
                        <a:ea typeface="等线" panose="020B0609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1250" b="0">
                          <a:solidFill>
                            <a:srgbClr val="202020"/>
                          </a:solidFill>
                          <a:latin typeface="等线" panose="020B0609020204030204" pitchFamily="34" charset="0"/>
                          <a:ea typeface="等线" panose="020B0609020204030204" pitchFamily="34" charset="0"/>
                        </a:rPr>
                        <a:t>✗</a:t>
                      </a:r>
                      <a:endParaRPr sz="1250" b="0">
                        <a:solidFill>
                          <a:srgbClr val="202020"/>
                        </a:solidFill>
                        <a:latin typeface="等线" panose="020B0609020204030204" pitchFamily="34" charset="0"/>
                        <a:ea typeface="等线" panose="020B0609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图片 6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008"/>
          <a:stretch>
            <a:fillRect/>
          </a:stretch>
        </p:blipFill>
        <p:spPr>
          <a:xfrm>
            <a:off x="0" y="0"/>
            <a:ext cx="6216990" cy="68580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801239" y="1821702"/>
            <a:ext cx="923330" cy="387738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4800" b="1" noProof="0" dirty="0">
                <a:ln w="38100">
                  <a:solidFill>
                    <a:schemeClr val="bg1"/>
                  </a:solidFill>
                </a:ln>
                <a:noFill/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PART </a:t>
            </a:r>
            <a:r>
              <a:rPr lang="en-US" altLang="zh-CN" sz="4800" b="1" noProof="0" dirty="0" err="1">
                <a:ln w="38100">
                  <a:solidFill>
                    <a:schemeClr val="bg1"/>
                  </a:solidFill>
                </a:ln>
                <a:noFill/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hree</a:t>
            </a:r>
            <a:endParaRPr kumimoji="0" lang="zh-CN" altLang="en-US" sz="4800" b="1" i="0" u="none" strike="noStrike" kern="1200" cap="none" spc="0" normalizeH="0" baseline="0" noProof="0" dirty="0">
              <a:ln w="38100">
                <a:solidFill>
                  <a:schemeClr val="bg1"/>
                </a:solidFill>
              </a:ln>
              <a:noFill/>
              <a:effectLst/>
              <a:uLnTx/>
              <a:uFillTx/>
              <a:latin typeface="Arial Black" panose="020B0A04020102020204" pitchFamily="34" charset="0"/>
              <a:ea typeface="思源黑体 CN Heavy" panose="020B0A00000000000000" pitchFamily="34" charset="-122"/>
              <a:cs typeface="EB Garamond ExtraBold" pitchFamily="2" charset="0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7353300" y="1210945"/>
            <a:ext cx="369506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/>
              </a:rPr>
              <a:t>测试与应用</a:t>
            </a:r>
            <a:endParaRPr kumimoji="0" lang="zh-CN" alt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大标宋简体" panose="02000000000000000000" pitchFamily="2" charset="-122"/>
              <a:ea typeface="方正大标宋简体" panose="02000000000000000000" pitchFamily="2" charset="-122"/>
            </a:endParaRPr>
          </a:p>
        </p:txBody>
      </p:sp>
      <p:cxnSp>
        <p:nvCxnSpPr>
          <p:cNvPr id="75" name="直接连接符 74"/>
          <p:cNvCxnSpPr/>
          <p:nvPr/>
        </p:nvCxnSpPr>
        <p:spPr>
          <a:xfrm>
            <a:off x="6438900" y="2273300"/>
            <a:ext cx="4572000" cy="0"/>
          </a:xfrm>
          <a:prstGeom prst="line">
            <a:avLst/>
          </a:prstGeom>
          <a:ln w="38100">
            <a:solidFill>
              <a:srgbClr val="8B001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组合 77"/>
          <p:cNvGrpSpPr/>
          <p:nvPr/>
        </p:nvGrpSpPr>
        <p:grpSpPr>
          <a:xfrm>
            <a:off x="6962772" y="2816074"/>
            <a:ext cx="3552825" cy="521970"/>
            <a:chOff x="7480300" y="3140844"/>
            <a:chExt cx="3552825" cy="521970"/>
          </a:xfrm>
        </p:grpSpPr>
        <p:sp>
          <p:nvSpPr>
            <p:cNvPr id="76" name="矩形 75"/>
            <p:cNvSpPr/>
            <p:nvPr/>
          </p:nvSpPr>
          <p:spPr>
            <a:xfrm>
              <a:off x="7480300" y="3352800"/>
              <a:ext cx="165100" cy="152399"/>
            </a:xfrm>
            <a:prstGeom prst="rect">
              <a:avLst/>
            </a:prstGeom>
            <a:solidFill>
              <a:srgbClr val="8B001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7766050" y="3140844"/>
              <a:ext cx="326707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latin typeface="微软雅黑" panose="020B0503020204020204" charset="-122"/>
                  <a:ea typeface="微软雅黑" panose="020B0503020204020204" charset="-122"/>
                  <a:cs typeface="微软雅黑"/>
                </a:rPr>
                <a:t>运行真实调试应用</a:t>
              </a:r>
              <a:endParaRPr lang="zh-CN" altLang="en-US" sz="2800" dirty="0">
                <a:latin typeface="方正小标宋简体" panose="03000509000000000000" pitchFamily="2" charset="-122"/>
                <a:ea typeface="方正小标宋简体" panose="03000509000000000000" pitchFamily="2" charset="-122"/>
              </a:endParaRPr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7204072" y="3549501"/>
            <a:ext cx="3844928" cy="521970"/>
            <a:chOff x="7480300" y="3140844"/>
            <a:chExt cx="3844928" cy="521970"/>
          </a:xfrm>
        </p:grpSpPr>
        <p:sp>
          <p:nvSpPr>
            <p:cNvPr id="80" name="矩形 79"/>
            <p:cNvSpPr/>
            <p:nvPr/>
          </p:nvSpPr>
          <p:spPr>
            <a:xfrm>
              <a:off x="7480300" y="3352800"/>
              <a:ext cx="165100" cy="152399"/>
            </a:xfrm>
            <a:prstGeom prst="rect">
              <a:avLst/>
            </a:prstGeom>
            <a:solidFill>
              <a:srgbClr val="8B001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文本框 80"/>
            <p:cNvSpPr txBox="1"/>
            <p:nvPr/>
          </p:nvSpPr>
          <p:spPr>
            <a:xfrm>
              <a:off x="7766044" y="3140844"/>
              <a:ext cx="355918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latin typeface="微软雅黑" panose="020B0503020204020204" charset="-122"/>
                  <a:ea typeface="微软雅黑" panose="020B0503020204020204" charset="-122"/>
                  <a:cs typeface="微软雅黑"/>
                </a:rPr>
                <a:t>测试体系</a:t>
              </a:r>
              <a:endPara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/>
              </a:endParaRPr>
            </a:p>
          </p:txBody>
        </p:sp>
      </p:grp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流程图: 终止 5"/>
          <p:cNvSpPr/>
          <p:nvPr/>
        </p:nvSpPr>
        <p:spPr>
          <a:xfrm>
            <a:off x="8158159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214350" y="1365094"/>
            <a:ext cx="4848576" cy="37483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 algn="l">
              <a:buNone/>
            </a:pPr>
            <a:r>
              <a:rPr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3.1 GDB / strace </a:t>
            </a:r>
            <a:r>
              <a:rPr lang="zh-CN"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支持</a:t>
            </a:r>
            <a:endParaRPr lang="zh-CN" sz="2400" b="1" dirty="0">
              <a:solidFill>
                <a:srgbClr val="A00016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31" name="表格 30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背景与目标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设计与实现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测试与应用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总结与展望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" name="TextBox 4"/>
          <p:cNvSpPr txBox="1"/>
          <p:nvPr/>
        </p:nvSpPr>
        <p:spPr>
          <a:xfrm>
            <a:off x="941070" y="5894070"/>
            <a:ext cx="10320655" cy="7391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 b="1">
                <a:solidFill>
                  <a:schemeClr val="accent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相关工作和具体实现已随 Asterinas 0.18.0 版本于2026年6月4日由星绽社区正式发行：</a:t>
            </a:r>
            <a:r>
              <a:rPr sz="20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https://asterinas.github.io/2026/06/04/announcing-asterinas-0.18.0.html</a:t>
            </a:r>
            <a:endParaRPr sz="20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</p:txBody>
      </p:sp>
      <p:sp>
        <p:nvSpPr>
          <p:cNvPr id="10" name="TextBox 4"/>
          <p:cNvSpPr txBox="1"/>
          <p:nvPr/>
        </p:nvSpPr>
        <p:spPr>
          <a:xfrm>
            <a:off x="941070" y="2143760"/>
            <a:ext cx="3740785" cy="334645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600" b="1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GDB</a:t>
            </a:r>
            <a:r>
              <a:rPr sz="16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：</a:t>
            </a:r>
            <a:endParaRPr sz="16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6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•  命中断点，打印调用栈回溯</a:t>
            </a:r>
            <a:endParaRPr sz="16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6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•  打印并修改变量与内存（读 $1 = 1、改 *p = 4321、内存校验通过）</a:t>
            </a:r>
            <a:endParaRPr sz="16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6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•  读寄存器（rip、rsp），继续运行得到正确输出</a:t>
            </a:r>
            <a:endParaRPr sz="16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6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•  全程</a:t>
            </a:r>
            <a:r>
              <a:rPr sz="160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无任何 GDB warning</a:t>
            </a:r>
            <a:endParaRPr sz="160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600" b="1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strace</a:t>
            </a:r>
            <a:r>
              <a:rPr sz="16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：</a:t>
            </a:r>
            <a:endParaRPr sz="16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600"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  <a:sym typeface="+mn-ea"/>
              </a:rPr>
              <a:t>•  </a:t>
            </a:r>
            <a:r>
              <a:rPr sz="16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运行 strace ls /tmp，校验完整</a:t>
            </a:r>
            <a:r>
              <a:rPr lang="zh-CN" sz="16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捕获</a:t>
            </a:r>
            <a:r>
              <a:rPr sz="16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系统调用序列（execve()、getdents64() 等）</a:t>
            </a:r>
            <a:endParaRPr sz="16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</p:txBody>
      </p:sp>
      <p:pic>
        <p:nvPicPr>
          <p:cNvPr id="11" name="视频-裁剪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926330" y="1409065"/>
            <a:ext cx="6665595" cy="439547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流程图: 终止 5"/>
          <p:cNvSpPr/>
          <p:nvPr/>
        </p:nvSpPr>
        <p:spPr>
          <a:xfrm>
            <a:off x="8158159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214350" y="1365094"/>
            <a:ext cx="4848576" cy="37483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 algn="l">
              <a:buNone/>
            </a:pPr>
            <a:r>
              <a:rPr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3.2 测试与验证方案</a:t>
            </a:r>
            <a:endParaRPr lang="zh-CN" altLang="en-US" sz="2400" b="1" dirty="0">
              <a:solidFill>
                <a:srgbClr val="8B0012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76958" y="1451926"/>
            <a:ext cx="136071" cy="288000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31" name="表格 30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背景与目标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设计与实现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测试与应用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总结与展望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4" name="Picture 3" descr="12_test_pyra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9815" y="1697355"/>
            <a:ext cx="7016115" cy="4722495"/>
          </a:xfrm>
          <a:prstGeom prst="rect">
            <a:avLst/>
          </a:prstGeom>
        </p:spPr>
      </p:pic>
      <p:sp>
        <p:nvSpPr>
          <p:cNvPr id="3" name="TextBox 4"/>
          <p:cNvSpPr txBox="1"/>
          <p:nvPr/>
        </p:nvSpPr>
        <p:spPr>
          <a:xfrm>
            <a:off x="1214120" y="2476500"/>
            <a:ext cx="3361055" cy="316420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验证体系按代码自底向上分四层（金字塔：越往上越少、越慢、价值越高）：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0">
                <a:solidFill>
                  <a:srgbClr val="606060"/>
                </a:solidFill>
              </a:rPr>
              <a:t>－ </a:t>
            </a:r>
            <a:r>
              <a:rPr sz="1300" b="1">
                <a:solidFill>
                  <a:srgbClr val="202020"/>
                </a:solidFill>
              </a:rPr>
              <a:t>简单回归测试</a:t>
            </a:r>
            <a:r>
              <a:rPr sz="1300" b="0">
                <a:solidFill>
                  <a:srgbClr val="202020"/>
                </a:solidFill>
              </a:rPr>
              <a:t>：pid_mem、ptrace、set_options、read_write_regs、yama 等单点 C 用例。</a:t>
            </a:r>
            <a:endParaRPr sz="13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0">
                <a:solidFill>
                  <a:srgbClr val="606060"/>
                </a:solidFill>
              </a:rPr>
              <a:t>－ </a:t>
            </a:r>
            <a:r>
              <a:rPr sz="1300" b="1">
                <a:solidFill>
                  <a:srgbClr val="202020"/>
                </a:solidFill>
              </a:rPr>
              <a:t>复杂回归测试</a:t>
            </a:r>
            <a:r>
              <a:rPr sz="1300" b="0">
                <a:solidFill>
                  <a:srgbClr val="202020"/>
                </a:solidFill>
              </a:rPr>
              <a:t>：手写 debugger / debuggee 配对，模拟真实调试器的 attach、断点、单步、读写全流程。</a:t>
            </a:r>
            <a:endParaRPr sz="13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0">
                <a:solidFill>
                  <a:srgbClr val="606060"/>
                </a:solidFill>
              </a:rPr>
              <a:t>－ </a:t>
            </a:r>
            <a:r>
              <a:rPr sz="1300" b="1">
                <a:solidFill>
                  <a:srgbClr val="202020"/>
                </a:solidFill>
              </a:rPr>
              <a:t>一致性测试</a:t>
            </a:r>
            <a:r>
              <a:rPr sz="1300" b="0">
                <a:solidFill>
                  <a:srgbClr val="202020"/>
                </a:solidFill>
              </a:rPr>
              <a:t>：gVisor 与 LTP</a:t>
            </a:r>
            <a:r>
              <a:rPr lang="en-US" sz="1300" b="0">
                <a:solidFill>
                  <a:srgbClr val="202020"/>
                </a:solidFill>
              </a:rPr>
              <a:t> </a:t>
            </a:r>
            <a:r>
              <a:rPr lang="zh-CN" altLang="en-US" sz="1300" b="0">
                <a:solidFill>
                  <a:srgbClr val="202020"/>
                </a:solidFill>
              </a:rPr>
              <a:t>测试</a:t>
            </a:r>
            <a:r>
              <a:rPr sz="1300" b="0">
                <a:solidFill>
                  <a:srgbClr val="202020"/>
                </a:solidFill>
              </a:rPr>
              <a:t>，以 ABI 行为为准。</a:t>
            </a:r>
            <a:endParaRPr sz="13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0">
                <a:solidFill>
                  <a:srgbClr val="606060"/>
                </a:solidFill>
              </a:rPr>
              <a:t>－ </a:t>
            </a:r>
            <a:r>
              <a:rPr sz="1300" b="1">
                <a:solidFill>
                  <a:srgbClr val="202020"/>
                </a:solidFill>
              </a:rPr>
              <a:t>端到端测试</a:t>
            </a:r>
            <a:r>
              <a:rPr sz="1300" b="0">
                <a:solidFill>
                  <a:srgbClr val="202020"/>
                </a:solidFill>
              </a:rPr>
              <a:t>：NixOS 上以真实 GDB、strace 验收。</a:t>
            </a:r>
            <a:endParaRPr sz="1300" b="0">
              <a:solidFill>
                <a:srgbClr val="202020"/>
              </a:solidFill>
            </a:endParaRPr>
          </a:p>
        </p:txBody>
      </p:sp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图片 6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008"/>
          <a:stretch>
            <a:fillRect/>
          </a:stretch>
        </p:blipFill>
        <p:spPr>
          <a:xfrm>
            <a:off x="0" y="0"/>
            <a:ext cx="6216990" cy="68580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801239" y="1821702"/>
            <a:ext cx="923330" cy="387738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4800" b="1" noProof="0" dirty="0">
                <a:ln w="38100">
                  <a:solidFill>
                    <a:schemeClr val="bg1"/>
                  </a:solidFill>
                </a:ln>
                <a:noFill/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PART four</a:t>
            </a:r>
            <a:endParaRPr kumimoji="0" lang="zh-CN" altLang="en-US" sz="4800" b="1" i="0" u="none" strike="noStrike" kern="1200" cap="none" spc="0" normalizeH="0" baseline="0" noProof="0" dirty="0">
              <a:ln w="38100">
                <a:solidFill>
                  <a:schemeClr val="bg1"/>
                </a:solidFill>
              </a:ln>
              <a:noFill/>
              <a:effectLst/>
              <a:uLnTx/>
              <a:uFillTx/>
              <a:latin typeface="Arial Black" panose="020B0A04020102020204" pitchFamily="34" charset="0"/>
              <a:ea typeface="思源黑体 CN Heavy" panose="020B0A00000000000000" pitchFamily="34" charset="-122"/>
              <a:cs typeface="EB Garamond ExtraBold" pitchFamily="2" charset="0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6962775" y="1210945"/>
            <a:ext cx="334073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/>
              </a:rPr>
              <a:t>总结与展望</a:t>
            </a:r>
            <a:endParaRPr kumimoji="0" lang="zh-CN" alt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大标宋简体" panose="02000000000000000000" pitchFamily="2" charset="-122"/>
              <a:ea typeface="方正大标宋简体" panose="02000000000000000000" pitchFamily="2" charset="-122"/>
            </a:endParaRPr>
          </a:p>
        </p:txBody>
      </p:sp>
      <p:cxnSp>
        <p:nvCxnSpPr>
          <p:cNvPr id="75" name="直接连接符 74"/>
          <p:cNvCxnSpPr/>
          <p:nvPr/>
        </p:nvCxnSpPr>
        <p:spPr>
          <a:xfrm>
            <a:off x="6438900" y="2273300"/>
            <a:ext cx="4572000" cy="0"/>
          </a:xfrm>
          <a:prstGeom prst="line">
            <a:avLst/>
          </a:prstGeom>
          <a:ln w="38100">
            <a:solidFill>
              <a:srgbClr val="8B001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组合 77"/>
          <p:cNvGrpSpPr/>
          <p:nvPr/>
        </p:nvGrpSpPr>
        <p:grpSpPr>
          <a:xfrm>
            <a:off x="6962772" y="2816074"/>
            <a:ext cx="4224655" cy="521970"/>
            <a:chOff x="7480300" y="3140844"/>
            <a:chExt cx="4224655" cy="521970"/>
          </a:xfrm>
        </p:grpSpPr>
        <p:sp>
          <p:nvSpPr>
            <p:cNvPr id="76" name="矩形 75"/>
            <p:cNvSpPr/>
            <p:nvPr/>
          </p:nvSpPr>
          <p:spPr>
            <a:xfrm>
              <a:off x="7480300" y="3352800"/>
              <a:ext cx="165100" cy="152399"/>
            </a:xfrm>
            <a:prstGeom prst="rect">
              <a:avLst/>
            </a:prstGeom>
            <a:solidFill>
              <a:srgbClr val="8B001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7766050" y="3140844"/>
              <a:ext cx="393890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latin typeface="微软雅黑" panose="020B0503020204020204" charset="-122"/>
                  <a:ea typeface="微软雅黑" panose="020B0503020204020204" charset="-122"/>
                  <a:cs typeface="微软雅黑"/>
                </a:rPr>
                <a:t>成果回顾</a:t>
              </a:r>
              <a:endParaRPr lang="zh-CN" altLang="en-US" sz="2800" dirty="0">
                <a:latin typeface="方正小标宋简体" panose="03000509000000000000" pitchFamily="2" charset="-122"/>
                <a:ea typeface="方正小标宋简体" panose="03000509000000000000" pitchFamily="2" charset="-122"/>
              </a:endParaRPr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7204072" y="3549501"/>
            <a:ext cx="3844928" cy="521970"/>
            <a:chOff x="7480300" y="3140844"/>
            <a:chExt cx="3844928" cy="521970"/>
          </a:xfrm>
        </p:grpSpPr>
        <p:sp>
          <p:nvSpPr>
            <p:cNvPr id="80" name="矩形 79"/>
            <p:cNvSpPr/>
            <p:nvPr/>
          </p:nvSpPr>
          <p:spPr>
            <a:xfrm>
              <a:off x="7480300" y="3352800"/>
              <a:ext cx="165100" cy="152399"/>
            </a:xfrm>
            <a:prstGeom prst="rect">
              <a:avLst/>
            </a:prstGeom>
            <a:solidFill>
              <a:srgbClr val="8B001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文本框 80"/>
            <p:cNvSpPr txBox="1"/>
            <p:nvPr/>
          </p:nvSpPr>
          <p:spPr>
            <a:xfrm>
              <a:off x="7766044" y="3140844"/>
              <a:ext cx="355918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latin typeface="微软雅黑" panose="020B0503020204020204" charset="-122"/>
                  <a:ea typeface="微软雅黑" panose="020B0503020204020204" charset="-122"/>
                  <a:cs typeface="微软雅黑"/>
                </a:rPr>
                <a:t>后续路线</a:t>
              </a:r>
              <a:endParaRPr lang="zh-CN" altLang="en-US" sz="2800" dirty="0">
                <a:latin typeface="方正小标宋简体" panose="03000509000000000000" pitchFamily="2" charset="-122"/>
                <a:ea typeface="方正小标宋简体" panose="03000509000000000000" pitchFamily="2" charset="-122"/>
              </a:endParaRPr>
            </a:p>
          </p:txBody>
        </p:sp>
      </p:grpSp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流程图: 终止 5"/>
          <p:cNvSpPr/>
          <p:nvPr/>
        </p:nvSpPr>
        <p:spPr>
          <a:xfrm>
            <a:off x="10146616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76958" y="1451926"/>
            <a:ext cx="136071" cy="288000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214350" y="1365094"/>
            <a:ext cx="4848576" cy="37483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 algn="l">
              <a:buNone/>
            </a:pPr>
            <a:r>
              <a:rPr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4.1 总结与展望</a:t>
            </a:r>
            <a:endParaRPr lang="zh-CN" altLang="en-US" sz="2400" b="1" dirty="0">
              <a:solidFill>
                <a:srgbClr val="8B0012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</a:endParaRPr>
          </a:p>
        </p:txBody>
      </p:sp>
      <p:graphicFrame>
        <p:nvGraphicFramePr>
          <p:cNvPr id="31" name="表格 30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背景与目标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设计与实现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测试与应用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总结与展望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12825" y="1951990"/>
            <a:ext cx="10241280" cy="408559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p>
            <a:pPr>
              <a:lnSpc>
                <a:spcPct val="112000"/>
              </a:lnSpc>
              <a:spcAft>
                <a:spcPts val="700"/>
              </a:spcAft>
            </a:pPr>
            <a:r>
              <a:rPr b="1">
                <a:solidFill>
                  <a:schemeClr val="accent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设计核心</a:t>
            </a:r>
            <a:r>
              <a:rPr b="0">
                <a:solidFill>
                  <a:schemeClr val="tx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　以 </a:t>
            </a:r>
            <a:r>
              <a:rPr b="1">
                <a:solidFill>
                  <a:schemeClr val="tx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ptrace-stop 状态机</a:t>
            </a:r>
            <a:r>
              <a:rPr b="0">
                <a:solidFill>
                  <a:schemeClr val="tx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为中心，把信号、异常、系统调用、wait、寄存器、跨进程内存、安全策略统一到一条 </a:t>
            </a:r>
            <a:r>
              <a:rPr b="1">
                <a:solidFill>
                  <a:schemeClr val="tx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Linux ABI 兼容</a:t>
            </a:r>
            <a:r>
              <a:rPr b="0">
                <a:solidFill>
                  <a:schemeClr val="tx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的调试路径；未经修改的上游 GDB / strace 直接原生运行。</a:t>
            </a:r>
            <a:endParaRPr b="0">
              <a:solidFill>
                <a:schemeClr val="tx1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b="1">
                <a:solidFill>
                  <a:schemeClr val="accent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内部更优</a:t>
            </a:r>
            <a:r>
              <a:rPr b="0">
                <a:solidFill>
                  <a:schemeClr val="tx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　借安全 Rust 框内核，在等价语义下做出结构性改良：状态机与</a:t>
            </a:r>
            <a:r>
              <a:rPr b="1">
                <a:solidFill>
                  <a:schemeClr val="tx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调度器解耦</a:t>
            </a:r>
            <a:r>
              <a:rPr b="0">
                <a:solidFill>
                  <a:schemeClr val="tx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、跟踪</a:t>
            </a:r>
            <a:r>
              <a:rPr lang="zh-CN" b="0">
                <a:solidFill>
                  <a:schemeClr val="tx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关系</a:t>
            </a:r>
            <a:r>
              <a:rPr lang="zh-CN" b="1">
                <a:solidFill>
                  <a:schemeClr val="tx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与进程树解耦</a:t>
            </a:r>
            <a:r>
              <a:rPr b="0">
                <a:solidFill>
                  <a:schemeClr val="tx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；寄存器经快照副本访问，</a:t>
            </a:r>
            <a:r>
              <a:rPr b="1">
                <a:solidFill>
                  <a:schemeClr val="tx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内存安全由编译期静态保证</a:t>
            </a:r>
            <a:r>
              <a:rPr b="0">
                <a:solidFill>
                  <a:schemeClr val="tx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；历史包袱收敛为单一显式表示（字段策略表、信号四态机），</a:t>
            </a:r>
            <a:r>
              <a:rPr b="1">
                <a:solidFill>
                  <a:schemeClr val="tx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提升可维护性</a:t>
            </a:r>
            <a:r>
              <a:rPr b="0">
                <a:solidFill>
                  <a:schemeClr val="tx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。</a:t>
            </a:r>
            <a:endParaRPr b="0">
              <a:solidFill>
                <a:schemeClr val="tx1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b="1">
                <a:solidFill>
                  <a:schemeClr val="accent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后续方向</a:t>
            </a:r>
            <a:endParaRPr b="1">
              <a:solidFill>
                <a:schemeClr val="accent1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b="0">
                <a:solidFill>
                  <a:schemeClr val="tx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•  中途调试已运行进程：支持 PTRACE_ATTACH / DETACH。</a:t>
            </a:r>
            <a:endParaRPr b="0">
              <a:solidFill>
                <a:schemeClr val="tx1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b="0">
                <a:solidFill>
                  <a:schemeClr val="tx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•  调试多线程进程：fork/vfork/clone 的 event-stop。</a:t>
            </a:r>
            <a:endParaRPr b="0">
              <a:solidFill>
                <a:schemeClr val="tx1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b="0">
                <a:solidFill>
                  <a:schemeClr val="tx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•  支持 GDB watchpoint 观察点：x86 debug registers 真实读写。</a:t>
            </a:r>
            <a:endParaRPr b="0">
              <a:solidFill>
                <a:schemeClr val="tx1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b="0">
                <a:solidFill>
                  <a:schemeClr val="tx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•  寄存器扩展：GETREGSET、FP/SIMD。</a:t>
            </a:r>
            <a:endParaRPr b="0">
              <a:solidFill>
                <a:schemeClr val="tx1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b="0">
                <a:solidFill>
                  <a:schemeClr val="tx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•  跨架构推广：riscv64 / loongarch64。</a:t>
            </a:r>
            <a:endParaRPr b="0">
              <a:solidFill>
                <a:schemeClr val="tx1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153155" y="2206329"/>
            <a:ext cx="8301159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5400" kern="16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/>
              </a:rPr>
              <a:t>谢谢！</a:t>
            </a:r>
            <a:endParaRPr lang="zh-CN" sz="5400" kern="16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2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3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4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5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6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7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8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9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10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11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12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13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14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15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16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17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18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19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20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21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22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23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24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25.xml><?xml version="1.0" encoding="utf-8"?>
<p:tagLst xmlns:p="http://schemas.openxmlformats.org/presentationml/2006/main">
  <p:tag name="KSO_WM_DIAGRAM_VIRTUALLY_FRAME" val="{&quot;height&quot;:200.16,&quot;left&quot;:61.2,&quot;top&quot;:158.4,&quot;width&quot;:831.6}"/>
</p:tagLst>
</file>

<file path=ppt/tags/tag26.xml><?xml version="1.0" encoding="utf-8"?>
<p:tagLst xmlns:p="http://schemas.openxmlformats.org/presentationml/2006/main">
  <p:tag name="KSO_WM_DIAGRAM_VIRTUALLY_FRAME" val="{&quot;height&quot;:200.16,&quot;left&quot;:61.2,&quot;top&quot;:158.4,&quot;width&quot;:831.6}"/>
</p:tagLst>
</file>

<file path=ppt/tags/tag27.xml><?xml version="1.0" encoding="utf-8"?>
<p:tagLst xmlns:p="http://schemas.openxmlformats.org/presentationml/2006/main">
  <p:tag name="KSO_WM_DIAGRAM_VIRTUALLY_FRAME" val="{&quot;height&quot;:200.16,&quot;left&quot;:61.2,&quot;top&quot;:158.4,&quot;width&quot;:831.6}"/>
</p:tagLst>
</file>

<file path=ppt/tags/tag28.xml><?xml version="1.0" encoding="utf-8"?>
<p:tagLst xmlns:p="http://schemas.openxmlformats.org/presentationml/2006/main">
  <p:tag name="KSO_WM_DIAGRAM_VIRTUALLY_FRAME" val="{&quot;height&quot;:200.16,&quot;left&quot;:61.2,&quot;top&quot;:158.4,&quot;width&quot;:831.6}"/>
</p:tagLst>
</file>

<file path=ppt/tags/tag29.xml><?xml version="1.0" encoding="utf-8"?>
<p:tagLst xmlns:p="http://schemas.openxmlformats.org/presentationml/2006/main">
  <p:tag name="KSO_WM_DIAGRAM_VIRTUALLY_FRAME" val="{&quot;height&quot;:200.16,&quot;left&quot;:61.2,&quot;top&quot;:158.4,&quot;width&quot;:831.6}"/>
</p:tagLst>
</file>

<file path=ppt/tags/tag30.xml><?xml version="1.0" encoding="utf-8"?>
<p:tagLst xmlns:p="http://schemas.openxmlformats.org/presentationml/2006/main">
  <p:tag name="KSO_WM_DIAGRAM_VIRTUALLY_FRAME" val="{&quot;height&quot;:200.16,&quot;left&quot;:61.2,&quot;top&quot;:158.4,&quot;width&quot;:831.6}"/>
</p:tagLst>
</file>

<file path=ppt/tags/tag31.xml><?xml version="1.0" encoding="utf-8"?>
<p:tagLst xmlns:p="http://schemas.openxmlformats.org/presentationml/2006/main">
  <p:tag name="KSO_WM_DIAGRAM_VIRTUALLY_FRAME" val="{&quot;height&quot;:200.16,&quot;left&quot;:61.2,&quot;top&quot;:158.4,&quot;width&quot;:831.6}"/>
</p:tagLst>
</file>

<file path=ppt/tags/tag32.xml><?xml version="1.0" encoding="utf-8"?>
<p:tagLst xmlns:p="http://schemas.openxmlformats.org/presentationml/2006/main">
  <p:tag name="KSO_WM_DIAGRAM_VIRTUALLY_FRAME" val="{&quot;height&quot;:200.16,&quot;left&quot;:61.2,&quot;top&quot;:158.4,&quot;width&quot;:831.6}"/>
</p:tagLst>
</file>

<file path=ppt/tags/tag33.xml><?xml version="1.0" encoding="utf-8"?>
<p:tagLst xmlns:p="http://schemas.openxmlformats.org/presentationml/2006/main">
  <p:tag name="KSO_WM_DIAGRAM_VIRTUALLY_FRAME" val="{&quot;height&quot;:200.16,&quot;left&quot;:61.2,&quot;top&quot;:158.4,&quot;width&quot;:831.6}"/>
</p:tagLst>
</file>

<file path=ppt/tags/tag34.xml><?xml version="1.0" encoding="utf-8"?>
<p:tagLst xmlns:p="http://schemas.openxmlformats.org/presentationml/2006/main">
  <p:tag name="KSO_WM_DIAGRAM_VIRTUALLY_FRAME" val="{&quot;height&quot;:200.16,&quot;left&quot;:61.2,&quot;top&quot;:158.4,&quot;width&quot;:831.6}"/>
</p:tagLst>
</file>

<file path=ppt/tags/tag35.xml><?xml version="1.0" encoding="utf-8"?>
<p:tagLst xmlns:p="http://schemas.openxmlformats.org/presentationml/2006/main">
  <p:tag name="KSO_WM_DIAGRAM_VIRTUALLY_FRAME" val="{&quot;height&quot;:200.16,&quot;left&quot;:61.2,&quot;top&quot;:158.4,&quot;width&quot;:831.6}"/>
</p:tagLst>
</file>

<file path=ppt/tags/tag36.xml><?xml version="1.0" encoding="utf-8"?>
<p:tagLst xmlns:p="http://schemas.openxmlformats.org/presentationml/2006/main">
  <p:tag name="KSO_WM_DIAGRAM_VIRTUALLY_FRAME" val="{&quot;height&quot;:200.16,&quot;left&quot;:61.2,&quot;top&quot;:158.4,&quot;width&quot;:831.6}"/>
</p:tagLst>
</file>

<file path=ppt/tags/tag37.xml><?xml version="1.0" encoding="utf-8"?>
<p:tagLst xmlns:p="http://schemas.openxmlformats.org/presentationml/2006/main">
  <p:tag name="KSO_WM_UNIT_TABLE_BEAUTIFY" val="smartTable{1abb1756-da94-4a15-be4b-bd056c135132}"/>
</p:tagLst>
</file>

<file path=ppt/tags/tag38.xml><?xml version="1.0" encoding="utf-8"?>
<p:tagLst xmlns:p="http://schemas.openxmlformats.org/presentationml/2006/main">
  <p:tag name="KSO_WM_DIAGRAM_VIRTUALLY_FRAME" val="{&quot;height&quot;:156.69874015748033,&quot;left&quot;:548.2497637795275,&quot;top&quot;:221.73811023622048,&quot;width&quot;:351.75023622047246}"/>
</p:tagLst>
</file>

<file path=ppt/tags/tag39.xml><?xml version="1.0" encoding="utf-8"?>
<p:tagLst xmlns:p="http://schemas.openxmlformats.org/presentationml/2006/main">
  <p:tag name="KSO_WM_DIAGRAM_VIRTUALLY_FRAME" val="{&quot;height&quot;:156.69874015748033,&quot;left&quot;:548.2497637795275,&quot;top&quot;:221.73811023622048,&quot;width&quot;:351.75023622047246}"/>
</p:tagLst>
</file>

<file path=ppt/tags/tag40.xml><?xml version="1.0" encoding="utf-8"?>
<p:tagLst xmlns:p="http://schemas.openxmlformats.org/presentationml/2006/main">
  <p:tag name="KSO_WM_DIAGRAM_VIRTUALLY_FRAME" val="{&quot;height&quot;:156.69874015748033,&quot;left&quot;:548.2497637795275,&quot;top&quot;:221.73811023622048,&quot;width&quot;:351.75023622047246}"/>
</p:tagLst>
</file>

<file path=ppt/tags/tag41.xml><?xml version="1.0" encoding="utf-8"?>
<p:tagLst xmlns:p="http://schemas.openxmlformats.org/presentationml/2006/main">
  <p:tag name="KSO_WM_DIAGRAM_VIRTUALLY_FRAME" val="{&quot;height&quot;:156.69874015748033,&quot;left&quot;:548.2497637795275,&quot;top&quot;:221.73811023622048,&quot;width&quot;:351.75023622047246}"/>
</p:tagLst>
</file>

<file path=ppt/tags/tag42.xml><?xml version="1.0" encoding="utf-8"?>
<p:tagLst xmlns:p="http://schemas.openxmlformats.org/presentationml/2006/main">
  <p:tag name="KSO_WM_DIAGRAM_VIRTUALLY_FRAME" val="{&quot;height&quot;:156.69874015748033,&quot;left&quot;:548.2497637795275,&quot;top&quot;:221.73811023622048,&quot;width&quot;:351.75023622047246}"/>
</p:tagLst>
</file>

<file path=ppt/tags/tag43.xml><?xml version="1.0" encoding="utf-8"?>
<p:tagLst xmlns:p="http://schemas.openxmlformats.org/presentationml/2006/main">
  <p:tag name="KSO_WM_DIAGRAM_VIRTUALLY_FRAME" val="{&quot;height&quot;:156.69874015748033,&quot;left&quot;:548.2497637795275,&quot;top&quot;:221.73811023622048,&quot;width&quot;:351.75023622047246}"/>
</p:tagLst>
</file>

<file path=ppt/tags/tag44.xml><?xml version="1.0" encoding="utf-8"?>
<p:tagLst xmlns:p="http://schemas.openxmlformats.org/presentationml/2006/main">
  <p:tag name="KSO_WM_DIAGRAM_VIRTUALLY_FRAME" val="{&quot;height&quot;:156.69874015748033,&quot;left&quot;:548.2497637795275,&quot;top&quot;:221.73811023622048,&quot;width&quot;:351.75023622047246}"/>
</p:tagLst>
</file>

<file path=ppt/tags/tag45.xml><?xml version="1.0" encoding="utf-8"?>
<p:tagLst xmlns:p="http://schemas.openxmlformats.org/presentationml/2006/main">
  <p:tag name="KSO_WM_DIAGRAM_VIRTUALLY_FRAME" val="{&quot;height&quot;:156.69874015748033,&quot;left&quot;:548.2497637795275,&quot;top&quot;:221.73811023622048,&quot;width&quot;:351.75023622047246}"/>
</p:tagLst>
</file>

<file path=ppt/tags/tag46.xml><?xml version="1.0" encoding="utf-8"?>
<p:tagLst xmlns:p="http://schemas.openxmlformats.org/presentationml/2006/main">
  <p:tag name="KSO_WM_DIAGRAM_VIRTUALLY_FRAME" val="{&quot;height&quot;:156.69874015748033,&quot;left&quot;:548.2497637795275,&quot;top&quot;:221.73811023622048,&quot;width&quot;:351.75023622047246}"/>
</p:tagLst>
</file>

<file path=ppt/tags/tag47.xml><?xml version="1.0" encoding="utf-8"?>
<p:tagLst xmlns:p="http://schemas.openxmlformats.org/presentationml/2006/main">
  <p:tag name="KSO_WM_UNIT_TABLE_BEAUTIFY" val="smartTable{fbaaa8aa-0ef2-48b8-ae3c-b2055932b4ba}"/>
</p:tagLst>
</file>

<file path=ppt/tags/tag48.xml><?xml version="1.0" encoding="utf-8"?>
<p:tagLst xmlns:p="http://schemas.openxmlformats.org/presentationml/2006/main">
  <p:tag name="KSO_WM_MEDIACOVER_FLAG" val="1"/>
  <p:tag name="KSO_WM_UNIT_MEDIACOVER_BTN_STATE" val="1"/>
</p:tagLst>
</file>

<file path=ppt/theme/theme1.xml><?xml version="1.0" encoding="utf-8"?>
<a:theme xmlns:a="http://schemas.openxmlformats.org/drawingml/2006/main" name="Office 主题​​">
  <a:themeElements>
    <a:clrScheme name="自定义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8B0012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8B0012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4679</Words>
  <Application>WPS 演示</Application>
  <PresentationFormat>宽屏</PresentationFormat>
  <Paragraphs>384</Paragraphs>
  <Slides>21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34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57" baseType="lpstr">
      <vt:lpstr>Arial</vt:lpstr>
      <vt:lpstr>宋体</vt:lpstr>
      <vt:lpstr>Wingdings</vt:lpstr>
      <vt:lpstr>微软雅黑</vt:lpstr>
      <vt:lpstr>汉仪旗黑</vt:lpstr>
      <vt:lpstr>微软雅黑</vt:lpstr>
      <vt:lpstr>方正小标宋简体</vt:lpstr>
      <vt:lpstr>微软雅黑 Light</vt:lpstr>
      <vt:lpstr>等线</vt:lpstr>
      <vt:lpstr>微软雅黑</vt:lpstr>
      <vt:lpstr>Arial Black</vt:lpstr>
      <vt:lpstr>思源黑体 CN Heavy</vt:lpstr>
      <vt:lpstr>EB Garamond ExtraBold</vt:lpstr>
      <vt:lpstr>微软雅黑</vt:lpstr>
      <vt:lpstr>方正正中黑简体</vt:lpstr>
      <vt:lpstr>思源黑体 CN Bold</vt:lpstr>
      <vt:lpstr>Arial Bold</vt:lpstr>
      <vt:lpstr>等线</vt:lpstr>
      <vt:lpstr>等线</vt:lpstr>
      <vt:lpstr>方正大标宋简体</vt:lpstr>
      <vt:lpstr>方正中等线简体</vt:lpstr>
      <vt:lpstr>Menlo</vt:lpstr>
      <vt:lpstr>等线</vt:lpstr>
      <vt:lpstr>汉仪书宋二KW</vt:lpstr>
      <vt:lpstr>汉仪中等线KW</vt:lpstr>
      <vt:lpstr>汉仪中黑KW</vt:lpstr>
      <vt:lpstr>等线 Light</vt:lpstr>
      <vt:lpstr>Calibri</vt:lpstr>
      <vt:lpstr>Helvetica Neue</vt:lpstr>
      <vt:lpstr>苹方-简</vt:lpstr>
      <vt:lpstr>Apple SD Gothic Neo</vt:lpstr>
      <vt:lpstr>宋体</vt:lpstr>
      <vt:lpstr>Arial Unicode MS</vt:lpstr>
      <vt:lpstr>儷宋 Pro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陈沛羽_深圳研院</dc:creator>
  <cp:lastModifiedBy>vvsv</cp:lastModifiedBy>
  <cp:revision>315</cp:revision>
  <dcterms:created xsi:type="dcterms:W3CDTF">2026-06-23T03:55:52Z</dcterms:created>
  <dcterms:modified xsi:type="dcterms:W3CDTF">2026-06-23T03:55:52Z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2052-5.5.1.7991</vt:lpwstr>
  </property>
  <property fmtid="{D5CDD505-2E9C-101B-9397-08002B2CF9AE}" pid="3" name="ICV">
    <vt:lpwstr>8B28768629894ACA8202718EE72CF5A8_12</vt:lpwstr>
  </property>
</Properties>
</file>