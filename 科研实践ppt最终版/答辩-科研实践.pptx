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各类从零或新架构的 OS 都在补调试能力，但接入调试器的技术路线差别很大，多数并未直接复用未经修改的 Linux 工具链。下表对比它们的内核调试接口与调试器接入方式。</a:t>
            </a:r>
          </a:p>
          <a:p>
            <a:r>
              <a:t>Redox OS——刻意不在内核实现 Linux ptrace，而是提供一个类 /proc 的 proc scheme 文件接口；并用 Rust 自写了一个 gdbserver，GDB 通过 Redox 的 IPC 走 GDB 远程串行协议连接，relibc 里另有一个尽力而为的用户态 ptrace 兼容层。所以 Redox 的 GDB 根本不经过 ptrace 系统调用。</a:t>
            </a:r>
          </a:p>
          <a:p>
            <a:r>
              <a:t>SerenityOS——实现了自己的 ptrace 系统调用，但语义并非 Linux ABI；要让 GDB 工作，需要给 GDB 新增一个 serenity target 后端（移植工作），而不是直接用未经修改的上游 GDB。它还自带一个原生调试器 sdb。</a:t>
            </a:r>
          </a:p>
          <a:p>
            <a:r>
              <a:t>Fuchsia / Zircon——微内核，无 ptrace；调试由跑在开发机上的 zxdb 客户端连接目标设备上的 debug_agent 组件完成，基于 Zircon 内核对象 koid 与 job/process 模型，且只能远程调试、不能自托管。</a:t>
            </a:r>
          </a:p>
          <a:p>
            <a:r>
              <a:t>Haiku——使用端口式（port-based）调试 API（install_team_debugger、team/thread 调试上下文），不是 ptrace；2024 年 GSoC 把 GDB 15.1 移植上来，后端把 Haiku 的调试端口事件翻译成 gdbserver 语义，并为此修改内核以暴露更多调试信息。</a:t>
            </a:r>
          </a:p>
          <a:p>
            <a:r>
              <a:t>对比之下，Asterinas 在内核里原生实现 Linux ptrace ABI，未经修改的上游 GDB / strace 用它们标准的 Linux 后端即可直接运行——无需自写或移植 gdbserver、无需远程 agent、无需为私有接口改造 GDB、无需用户态兼容层。</a:t>
            </a:r>
          </a:p>
          <a:p>
            <a:r>
              <a:t>Q&amp;A 防线（gVisor）：若被问到 gVisor，它确实也在内部实现了 Linux ptrace（Sentry 的 pkg/sentry/kernel/ptrace.go），属同一路线；但 gVisor 是跑在宿主 Linux 之上的用户态沙箱运行时（Go），且只实现了跑容器够用的 ptrace 子集（历史上 gdb 与 strace 不能同跟一个进程）。因此稳妥表述是：在从零做的通用 OS 中，原生实现 Linux ptrace、直接复用未改 GDB/strace 的，Asterinas 是其中唯一一个。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解耦与无大锁——ptrace-stop 的停止与恢复仅依赖一个原子标志与等待者，不依赖目标线程是否离开 CPU；跟踪关系为旁路 map、不修改进程树，故不需要 Linux 的全局 tasklist_lock。</a:t>
            </a:r>
          </a:p>
          <a:p>
            <a:r>
              <a:t>寄存器快照与内存安全——进入停止时将寄存器现场快照为一份连续副本，在副本上读写、resume 时回写。Linux 原地修改内核栈 pt_regs 的写法可一比一翻译为 unsafe Rust，但以安全 Rust 表达需要更优的设计，将内存安全交由所有权与类型系统在编译期保证。</a:t>
            </a:r>
          </a:p>
          <a:p>
            <a:r>
              <a:t>历史包袱与可维护性——将 Linux 中分散重复、复用字段的处理收敛为单一显式表示：寄存器字段策略以一张表声明一次，ptrace-stop 信号的生命周期以一个四态机显式建模。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本页要点——ptrace-stop 的停止与恢复仅依赖共享的 `is_stopped` 原子标志与 `Waiter`，不依赖调度器是否已将目标线程移出 CPU。</a:t>
            </a:r>
          </a:p>
          <a:p>
            <a:r>
              <a:t>本项目机制（ptrace/mod.rs `do_ptrace_stop`）——进入停止时持 `state` 锁将 `general_regs` 快照为独立副本，置 `is_stopped` 为真，向 tracer 投递 `SIGCHLD` 并唤醒其 `children_wait_queue`；随后 tracee 自身挂起于 `Waiter::pause_until_by`，唤醒条件为 `is_stopped` 变为假。tracer 的 `resume` 仅在持锁下翻转 `is_stopped` 并唤醒之。一致性由 `is_stopped` 原子标志与 `state` 互斥锁共同保证。</a:t>
            </a:r>
          </a:p>
          <a:p>
            <a:r>
              <a:t>Linux 7.1 机制——三类停止收敛：事件停经 `ptrace_event`、系统调用停经 `ptrace_report_syscall`，均走 `ptrace_notify` → `ptrace_do_notify` → `ptrace_stop`；信号停经 `ptrace_signal` 直接进入 `ptrace_stop`。`ptrace_stop` 内 `set_special_state(TASK_TRACED)`、记录 `current-&gt;last_siginfo` 与 `exit_code`，随后 `schedule()` 让出 CPU；停止状态保存于 `TASK_TRACED` 与 `jobctl`(`JOBCTL_TRACED`)；resume 经 `wake_up_state(__TASK_TRACED)` 并清 `JOBCTL_TRACED`（kernel/ptrace.c）。</a:t>
            </a:r>
          </a:p>
          <a:p>
            <a:r>
              <a:t>关键差异与成因——Linux 的 tracer 直接读写 tracee 内核栈上的活动现场，故 `ptrace_check_attach` 必须经 `wait_task_inactive(child, __TASK_TRACED|TASK_FROZEN)` 确认其确未在执行；本项目进入停止即把现场快照为独立副本，tracer 仅需判定 `is_stopped`，与目标是否已离开 CPU 无关。</a:t>
            </a:r>
          </a:p>
          <a:p>
            <a:r>
              <a:t>诚实边界与问答——三类停止的收敛 Linux 同样具备，不构成本项目的优势；差异仅在于停止与恢复同调度状态解耦。若被追问「本项目仍阻塞了 tracee」，可答：阻塞由 `Waiter` 实现，但其正确性只依赖 `is_stopped` 标志与互斥锁，而非线程的调度态。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本页要点——跟踪关系以一张旁路 map 维护，不修改进程树，因此建立与解除关系均无需 Linux 的全局写锁 `tasklist_lock`。</a:t>
            </a:r>
          </a:p>
          <a:p>
            <a:r>
              <a:t>本项目机制（ptrace/mod.rs）——tracer 以 `tracees: Mutex&lt;BTreeMap&lt;Tid, Arc&lt;Thread&gt;&gt;&gt;` 强引用持有各 tracee，tracee 以 `TraceeState.tracer: Weak&lt;Thread&gt;` 反向弱引用 tracer（打破 `Arc` 引用环）。`attach_to` 仅按文档化锁序 `tracer.tracees → tracee.tracee_status` 加两把 per-object 锁；`clear_tracees`、`detach` 均按同一方向加锁。tracer 的 wait 经 wait.rs `try_wait_tracees` 遍历该旁路 map，而非子进程链。</a:t>
            </a:r>
          </a:p>
          <a:p>
            <a:r>
              <a:t>Linux 7.1 机制——`__ptrace_link` 将 `child-&gt;parent` 改为 tracer，把 tracee reparent 进全局进程树；因改动的是全局共享的链表与父指针，`ptrace_attach`、`ptrace_traceme`、`ptrace_detach` 与 kernel/exit.c 的 `exit_ptrace` 路径全程持有全局写锁 `write_lock_irq(&amp;tasklist_lock)`，`ptrace_check_attach` 持 `read_lock(&amp;tasklist_lock)` 配对校验关系。</a:t>
            </a:r>
          </a:p>
          <a:p>
            <a:r>
              <a:t>诚实边界与问答——准确表述为「不需要跨关系变更持有的全局大锁」，而非「零全局锁」：按 tid 查询全局 `PID_TABLE`（类比 Linux `find_task_by_vpid`）仍需一次瞬时加锁，但不跨 attach 操作持有。当前主要支持 TRACEME（tracer 即 tracee 的 parent）；即便补充 ATTACH 亦无需全局大锁，其难点不在锁，而在「停止一个正在运行的 tracee」以及目标并发 exit/exec 的竞态处理。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本页要点——跨线程读写寄存器访问的是 tracee 进入内核时保存的用户寄存器帧；本项目以「停止时快照、副本上读写、resume 回写」配合安全 Rust，使内存安全可由编译期静态验证，而非依赖运行期检查与人工审阅。</a:t>
            </a:r>
          </a:p>
          <a:p>
            <a:r>
              <a:t>本项目机制（ptrace/mod.rs、arch/x86/ptrace.rs）——`do_ptrace_stop` 持 `state` 锁取 `state.general_regs = Some(*user_ctx.general_regs())`，得到一份连续副本 `CUserRegsStruct`（`Pod`）；`get_regs`/`set_regs`/`peek_user`/`poke_user` 均在 `check_ptrace_stopped` 通过后于副本上操作，resume 时 `*user_ctx.general_regs_mut() = regs` 回写。跨进程内存经可失败的 `VmReader`/`VmWriter` 与 `UFrame` 句柄访问，kernel/ 全程零 `unsafe`。</a:t>
            </a:r>
          </a:p>
          <a:p>
            <a:r>
              <a:t>Linux 7.1 机制——`getreg`/`putreg` 经 `*pt_regs_access(task_pt_regs(child), offset)` 原地读写内核栈上保存的 `pt_regs`；fsbase/gsbase 经 `x86_fsbase_write_task`/`x86_gsbase_read_task` 存于 `task-&gt;thread`，debug 寄存器另存于 `thread-&gt;ptrace_bps` 等处，现场是分散的。因改的是活动 task 的保存帧，`ptrace_check_attach` 须先 `wait_task_inactive` 确认其已下 CPU。</a:t>
            </a:r>
          </a:p>
          <a:p>
            <a:r>
              <a:t>内存安全成因与定调——该路径是内核中最易出内存安全漏洞之处：按调用方偏移的裸指针访问、跨地址空间拷贝、目标可能并发 exit/exec。Linux 以裸指针加 `copy_to_user`/`get_user_pages` 实现，安全性靠运行期检查与人工审阅；本项目把越界与释放后访问交由所有权与类型系统在编译期约束，部分字段策略源码注释原文标注「比 Linux 更严」。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本页要点——把 Linux 中分散、复用的处理收敛为单一显式表示：寄存器字段策略归一为一张 `REG_RULES` 表，ptrace-stop 信号归一为一个四态机。</a:t>
            </a:r>
          </a:p>
          <a:p>
            <a:r>
              <a:t>寄存器表（arch/x86/ptrace.rs）——单张 `REG_RULES` 为每个字段声明一次策略（`Set`/`SetIf`/`SetBitsTruncate`/`Fixed`）；`From&lt;&amp;GeneralRegs&gt;` 读快照、`apply_to` 写校验、`read_user_word`/`write_user_word` 按偏移 PEEK/POKEUSER 四条路径共查同表，并以 `const` 断言 `(REG_RULES.len()+1)*size_of::&lt;usize&gt;() == size_of::&lt;CUserRegsStruct&gt;()` 防止表与结构体不一致。Linux 则在 `getreg`/`putreg` 等多处分派各字段的特殊处理。</a:t>
            </a:r>
          </a:p>
          <a:p>
            <a:r>
              <a:t>信号四态机（ptrace/util.rs `StopDeliverySignal`）——`Empty`/`Pending`/`Consumed`/`Injected` 在一处显式建模整条生命周期；同一份 `DequeuedSignal`（含完整 siginfo）贯穿 wait 与 resume 重投，`get_siginfo`（即 GETSIGINFO）也读它。</a:t>
            </a:r>
          </a:p>
          <a:p>
            <a:r>
              <a:t>Linux 为何分散（已核 Linux 7.1，回答历史成因）——经典 ptrace 只有一条信号通道：信号号存于 `task-&gt;exit_code`，经 POSIX wait status 暴露给 tracer，resume 注入的信号也写回 `exit_code`（`PTRACE_CONT` 的 `data` → `child-&gt;exit_code`，`ptrace_signal` 再回读）。完整 siginfo 是后来才有的——`PTRACE_GETSIGINFO`/`SETSIGINFO`（请求号 0x4202/0x4203，远晚于 `CONT`=7）引入 `task-&gt;last_siginfo` 作后备，于 `ptrace_stop` 置、resume 清。于是「这次停止的信号」有两份表示：号在 `exit_code`、完整 siginfo 在 `last_siginfo`，外加 `jobctl` 记停止态——正是历史叠加。本项目自始即以一个 `DequeuedSignal` 配四态机统一承载，GETSIGINFO 与 wait、重投共用同一份。</a:t>
            </a:r>
          </a:p>
          <a:p>
            <a:r>
              <a:t>定调——本条为「实现更显式、更易维护」，并给出了 Linux 分散的历史成因，而非指 Linux 存在缺陷。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00200"/>
            <a:ext cx="996696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000" b="1">
                <a:solidFill>
                  <a:srgbClr val="A00016"/>
                </a:solidFill>
              </a:rPr>
              <a:t>面向 RustOS 的进程调试能力构建</a:t>
            </a:r>
            <a:endParaRPr sz="40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33856" y="2971800"/>
            <a:ext cx="237744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99669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900" b="1">
                <a:solidFill>
                  <a:srgbClr val="202020"/>
                </a:solidFill>
              </a:rPr>
              <a:t>在 Asterinas 上原生支持 GDB / strace 的 ptrace 子系统</a:t>
            </a:r>
            <a:endParaRPr sz="1900" b="1">
              <a:solidFill>
                <a:srgbClr val="20202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606060"/>
                </a:solidFill>
              </a:rPr>
              <a:t>2026 全国大学生计算机系统能力大赛、操作系统设计赛（全国）</a:t>
            </a:r>
            <a:endParaRPr sz="1400" b="0">
              <a:solidFill>
                <a:srgbClr val="606060"/>
              </a:solidFill>
            </a:endParaRP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06060"/>
                </a:solidFill>
              </a:rPr>
              <a:t>OS 功能挑战赛道、proj9</a:t>
            </a:r>
            <a:endParaRPr sz="1400" b="0">
              <a:solidFill>
                <a:srgbClr val="606060"/>
              </a:solidFill>
            </a:endParaRP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06060"/>
                </a:solidFill>
              </a:rPr>
              <a:t>汇报人 / 日期 / 指导老师</a:t>
            </a:r>
            <a:endParaRPr sz="140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68680"/>
            <a:ext cx="99669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4000" b="1">
                <a:solidFill>
                  <a:srgbClr val="A00016"/>
                </a:solidFill>
              </a:rPr>
              <a:t>目  录</a:t>
            </a:r>
            <a:endParaRPr sz="40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33856" y="1691640"/>
            <a:ext cx="100584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219456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658368">
                <a:tc>
                  <a:txBody>
                    <a:bodyPr/>
                    <a:lstStyle/>
                    <a:p/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章节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关键词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1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研究背景与目标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问题定义、断点案例、调试通路、相关工作、总体目标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2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设计与实现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状态机、同步、内存、寄存器、信号、安全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3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测试与应用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实机演示、测试体系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4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总结与展望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项目价值、后续方向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1　研究背景与目标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进程调试的意义与内核能力需求</a:t>
            </a:r>
            <a:endParaRPr sz="180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1.1 研究背景与问题定义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264541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Asterinas 是由北京大学、中关村实验室、蚂蚁集团联合发起的一个用 Rust 编写、与 Linux ABI 兼容的国产自主可控安全操作系统内核，能直接运行 Linux 程序，并借助框内核架构提升内核可靠性。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一个面向开发者的操作系统，不能只满足于把程序跑起来，还要支撑起程序开发的完整闭环，而</a:t>
            </a:r>
            <a:r>
              <a:rPr sz="1500" b="1">
                <a:solidFill>
                  <a:srgbClr val="202020"/>
                </a:solidFill>
              </a:rPr>
              <a:t>进程调试</a:t>
            </a:r>
            <a:r>
              <a:rPr sz="1500" b="0">
                <a:solidFill>
                  <a:srgbClr val="202020"/>
                </a:solidFill>
              </a:rPr>
              <a:t>正是其中最基础的一环。无论是排查应用逻辑的上层开发者，还是分析系统调用、内存与寄存器行为的底层开发者，都离不开用户态进程调试机制。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同时，一个新内核要真正可用，关键在于能</a:t>
            </a:r>
            <a:r>
              <a:rPr sz="1500" b="1">
                <a:solidFill>
                  <a:srgbClr val="202020"/>
                </a:solidFill>
              </a:rPr>
              <a:t>直接复用现有的用户态生态</a:t>
            </a:r>
            <a:r>
              <a:rPr sz="1500" b="0">
                <a:solidFill>
                  <a:srgbClr val="202020"/>
                </a:solidFill>
              </a:rPr>
              <a:t>，而不是要求应用重写；而 Linux ABI 已是事实标准，唯有兼容它，才能直接复用海量现有调试工具链生态，如 GDB strace 等。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因此，在 Asterinas 上支持用户进程调试，本质上就是</a:t>
            </a:r>
            <a:r>
              <a:rPr sz="1500" b="1">
                <a:solidFill>
                  <a:srgbClr val="202020"/>
                </a:solidFill>
              </a:rPr>
              <a:t>兼容 Linux 的 ptrace 接口与相关配套机制</a:t>
            </a:r>
            <a:r>
              <a:rPr sz="1500" b="0">
                <a:solidFill>
                  <a:srgbClr val="202020"/>
                </a:solidFill>
              </a:rPr>
              <a:t>——而这不是单个系统调用，而是贯穿进程管理、信号、wait、地址空间、寄存器、安全与 procfs 的完整通路。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1.2 调试的基本需求——以断点为例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breakpoint_lo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0045" y="1783080"/>
            <a:ext cx="6572869" cy="2084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调试器对内核的基本需求：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运行时暂停目标进程工作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读写目标进程的私有状态（寄存器、内存、控制流 ...）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调试结束后恢复目标进程正常运行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以最常用的「GDB 软件断点」为例，一次命中并恢复，需要内核按下图配合：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这些功能分别需要：跨进程改内存、异常转信号、停 / 等 / 恢复、读写寄存器、单步，正是要逐一构建的内核能力。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1.3 Linux 为调试器提供的抽象：调试能力通路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arch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9120" y="1755775"/>
            <a:ext cx="3094718" cy="2176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4069079"/>
            <a:ext cx="102412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Linux 暴露给 GDB 等调试器的抽象如图所示：用户工具发出请求，经系统调用接口进入内核，先过权限检查鉴权放行，再交给 ptrace 核心状态机。状态机是整条通路的中枢，负责建立关系、进入 ptrace-stop、向 tracer 报告 wait、再 resume 继续，一旦命中新的停止条件就再次回到 stop。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围绕这个中枢，向下分出三类能力：跨进程用户空间读写、寄存器上下文快照、以及与 signal / wait / exec / exit / clone 等系统调用的协作。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忠实构建相应抽象，才能正确复用 Linux 海量调试器生态。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1.4 总体目标与对应内核能力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8315"/>
            <a:ext cx="10241280" cy="7040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要让开发者能使用 GDB / strace 调试用户程序，内核必须补齐的能力有：</a:t>
            </a:r>
            <a:endParaRPr sz="1500" b="0">
              <a:solidFill>
                <a:srgbClr val="20202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05840" y="2596896"/>
          <a:ext cx="10241280" cy="366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5834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总体目标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对应内核能力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GDB 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建立 tracer / tracee 关系，使能 tracee 陷入内核 stop，并等待 tracer wait &amp; resume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设置并命中软件断点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使能修改只读内存写入 breakpoint，#BP 异常后进入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写寄存器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tracee stop 时保存 register 现场，按字段规则安全读写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写进程内存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跨进程安全读写目标地址空间，必要时主动触发 page fault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继续 / 单步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resume 继续，按需设置 CPU trap flag (TF) 单步执行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strace 跟踪系统调用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在每次 syscall entry / exit 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按安全策略限制调试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校验 uid/gid、CAP_SYS_PTRACE、Yama，拦截越权 attach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1.5 相关工作：其它新兴 OS 的调试路线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05840" y="1783080"/>
          <a:ext cx="10241277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59"/>
                <a:gridCol w="3413759"/>
                <a:gridCol w="3413759"/>
              </a:tblGrid>
              <a:tr h="5440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系统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内核调试接口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调试器如何接入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Redox OS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proc scheme，非 ptrace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自写 Rust gdbserver，GDB 走远程协议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SerenityOS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自有 ptrace，非 Linux ABI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移植 GDB，新增 serenity target 后端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Fuchsia / Zircon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内核对象模型，无 ptrace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zxdb 客户端连 debug_agent，仅远程调试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Haiku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端口式调试 API，非 ptrace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移植 GDB，翻译到 Haiku 调试端口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Asterinas（本项目）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内核原生 Linux ptrace ABI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未经修改的上游 GDB / strace 直接运行</a:t>
                      </a:r>
                      <a:endParaRPr sz="125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5157216"/>
            <a:ext cx="10241280" cy="108813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多数方案要么自定义协议、配自写或移植的 gdbserver / agent，要么为私有接口改造 GDB；在内核里原生实现 Linux ptrace、让未改的 GDB / strace 直接跑通的是少数——这正是本项目的技术取舍。</a:t>
            </a:r>
            <a:endParaRPr sz="125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2　设计与实现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ptrace 子系统的关键机制，以及与 Linux 的结构性差异</a:t>
            </a:r>
            <a:endParaRPr sz="180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2.1 和 Linux 相同抽象接口，但内部更优实现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377647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借助框内核 + 安全 Rust OS 这一载体，本项目相比 Linux 实现做出三处结构性改良：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ptrace 状态机与调度器解耦、建立跟踪无需全局大锁 tasklist_lock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编译期确保 tracer 和 tracee 不会同时读写同一份寄存器快照，保障内存安全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消除历史设计包袱，提升可维护性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这些都不改变对外行为，而是在等价语义下，把同一套 ptrace 重建到更安全、更具可维护性的载体上。</a:t>
            </a:r>
            <a:endParaRPr sz="125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2.2 ptrace 状态机：与调度器解耦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b_syn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230" y="1783080"/>
            <a:ext cx="4214499" cy="2084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生命周期：未被跟踪 → 建立关系 → </a:t>
            </a:r>
            <a:r>
              <a:rPr sz="1500" b="1">
                <a:solidFill>
                  <a:srgbClr val="202020"/>
                </a:solidFill>
              </a:rPr>
              <a:t>ptrace-stop（快照现场、阻塞）</a:t>
            </a:r>
            <a:r>
              <a:rPr sz="1500" b="0">
                <a:solidFill>
                  <a:srgbClr val="202020"/>
                </a:solidFill>
              </a:rPr>
              <a:t> → wait 报告 → 恢复运行 → 命中下一次停止条件再回到 stop，或退出清理。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同步机制</a:t>
            </a:r>
            <a:r>
              <a:rPr sz="1500" b="0">
                <a:solidFill>
                  <a:srgbClr val="202020"/>
                </a:solidFill>
              </a:rPr>
              <a:t>：tracer 与 tracee 共享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TraceeStatus</a:t>
            </a:r>
            <a:r>
              <a:rPr sz="1500" b="0">
                <a:solidFill>
                  <a:srgbClr val="202020"/>
                </a:solidFill>
              </a:rPr>
              <a:t> = 原子标志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is_stopped</a:t>
            </a:r>
            <a:r>
              <a:rPr sz="1500" b="0">
                <a:solidFill>
                  <a:srgbClr val="202020"/>
                </a:solidFill>
              </a:rPr>
              <a:t>（是否停在 ptrace-stop 的唯一依据）和一把互斥锁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state</a:t>
            </a:r>
            <a:r>
              <a:rPr sz="1500" b="0">
                <a:solidFill>
                  <a:srgbClr val="202020"/>
                </a:solidFill>
              </a:rPr>
              <a:t>（保护寄存器快照、待投递信号、事件）。tracee 进入 ptrace stop 时将自身挂起，tracer 执行 resume 时翻转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is_stopped</a:t>
            </a:r>
            <a:r>
              <a:rPr sz="1500" b="0">
                <a:solidFill>
                  <a:srgbClr val="202020"/>
                </a:solidFill>
              </a:rPr>
              <a:t> 并将其唤醒。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Linux 7.1 对该状态机的实现</a:t>
            </a:r>
            <a:r>
              <a:rPr sz="1500" b="0">
                <a:solidFill>
                  <a:srgbClr val="202020"/>
                </a:solidFill>
              </a:rPr>
              <a:t>：tracee 的停止状态保存于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TASK_TRACED</a:t>
            </a:r>
            <a:r>
              <a:rPr sz="1500" b="0">
                <a:solidFill>
                  <a:srgbClr val="202020"/>
                </a:solidFill>
              </a:rPr>
              <a:t> 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jobctl</a:t>
            </a:r>
            <a:r>
              <a:rPr sz="1500" b="0">
                <a:solidFill>
                  <a:srgbClr val="202020"/>
                </a:solidFill>
              </a:rPr>
              <a:t> 标志，进入停止时置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TASK_TRACED</a:t>
            </a:r>
            <a:r>
              <a:rPr sz="1500" b="0">
                <a:solidFill>
                  <a:srgbClr val="202020"/>
                </a:solidFill>
              </a:rPr>
              <a:t>、向父进程投递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SIGCHLD</a:t>
            </a:r>
            <a:r>
              <a:rPr sz="1500" b="0">
                <a:solidFill>
                  <a:srgbClr val="202020"/>
                </a:solidFill>
              </a:rPr>
              <a:t>，随后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schedule()</a:t>
            </a:r>
            <a:r>
              <a:rPr sz="1500" b="0">
                <a:solidFill>
                  <a:srgbClr val="202020"/>
                </a:solidFill>
              </a:rPr>
              <a:t> 让出 CPU；tracer 在操作 tracee 私有数据前必须经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wait_task_inactive(__TASK_TRACED|TASK_FROZEN)</a:t>
            </a:r>
            <a:r>
              <a:rPr sz="1500" b="0">
                <a:solidFill>
                  <a:srgbClr val="202020"/>
                </a:solidFill>
              </a:rPr>
              <a:t> 等待目标 tracee 实际离开 CPU，停止状态与调度状态绑定，与调度器强耦合。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2.3 跟踪关系：旁路 map，无全局大锁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26243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跟踪关系是一张</a:t>
            </a:r>
            <a:r>
              <a:rPr sz="1500" b="1">
                <a:solidFill>
                  <a:srgbClr val="202020"/>
                </a:solidFill>
              </a:rPr>
              <a:t>旁路表</a:t>
            </a:r>
            <a:r>
              <a:rPr sz="1500" b="0">
                <a:solidFill>
                  <a:srgbClr val="202020"/>
                </a:solidFill>
              </a:rPr>
              <a:t>：tracer 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BTreeMap&lt;Tid, Arc&lt;Thread&gt;&gt;</a:t>
            </a:r>
            <a:r>
              <a:rPr sz="1500" b="0">
                <a:solidFill>
                  <a:srgbClr val="202020"/>
                </a:solidFill>
              </a:rPr>
              <a:t> 强引用持有 tracee，tracee 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Weak&lt;Thread&gt;</a:t>
            </a:r>
            <a:r>
              <a:rPr sz="1500" b="0">
                <a:solidFill>
                  <a:srgbClr val="202020"/>
                </a:solidFill>
              </a:rPr>
              <a:t> 反指 tracer，和进程树（parent / children关系）解耦合。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ptrace 操作仅遍历该旁路 map，而非子进程树，固定锁序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tracees → tracee_status</a:t>
            </a:r>
            <a:r>
              <a:rPr sz="1500" b="0">
                <a:solidFill>
                  <a:srgbClr val="202020"/>
                </a:solidFill>
              </a:rPr>
              <a:t>，因此不需持全局大锁。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Linux 7.1 对建立该跟踪关系的实现</a:t>
            </a:r>
            <a:r>
              <a:rPr sz="1500" b="0">
                <a:solidFill>
                  <a:srgbClr val="202020"/>
                </a:solidFill>
              </a:rPr>
              <a:t>：Linux 修改全局进程树，以将tracee 的进程 parent 改为 tracer，故 attach / traceme / detach / exit </a:t>
            </a:r>
            <a:r>
              <a:rPr sz="1500" b="1">
                <a:solidFill>
                  <a:srgbClr val="202020"/>
                </a:solidFill>
              </a:rPr>
              <a:t>全程持有全局写锁 tasklist_lock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2.4 跨线程读写寄存器：静态验证内存安全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register_ab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645" y="1755775"/>
            <a:ext cx="3591668" cy="2084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跨线程读写寄存器，操作的是 tracee 进入内核时保存在其内核栈上的用户态寄存器帧（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pt_regs</a:t>
            </a:r>
            <a:r>
              <a:rPr sz="1500" b="0">
                <a:solidFill>
                  <a:srgbClr val="202020"/>
                </a:solidFill>
              </a:rPr>
              <a:t>）；让一个线程按调用方给定的偏移、用裸指针去读写另一个线程的这份保存帧，又要应对目标并发退出或仍在运行：极易引入释放后访问与数据竞争。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快照式访问</a:t>
            </a:r>
            <a:r>
              <a:rPr sz="1500" b="0">
                <a:solidFill>
                  <a:srgbClr val="202020"/>
                </a:solidFill>
              </a:rPr>
              <a:t>：tracee 进入 ptrace-stop 时，将用户寄存器上下文复制为一份副本，保存在 TraceeStatus 内的锁中；tracer 在副本上按字段读写，tracee resume 时回写。一致性由互斥锁保证、与 tracee 是否在 CPU 上执行无关。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编译期强制内存安全</a:t>
            </a:r>
            <a:r>
              <a:rPr sz="1500" b="0">
                <a:solidFill>
                  <a:srgbClr val="202020"/>
                </a:solidFill>
              </a:rPr>
              <a:t>：副本为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Pod</a:t>
            </a:r>
            <a:r>
              <a:rPr sz="1500" b="0">
                <a:solidFill>
                  <a:srgbClr val="202020"/>
                </a:solidFill>
              </a:rPr>
              <a:t>、按字节安全访问，跨进程内存经可失败的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VmReader</a:t>
            </a:r>
            <a:r>
              <a:rPr sz="1500" b="0">
                <a:solidFill>
                  <a:srgbClr val="202020"/>
                </a:solidFill>
              </a:rPr>
              <a:t>/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VmWriter</a:t>
            </a:r>
            <a:r>
              <a:rPr sz="1500" b="0">
                <a:solidFill>
                  <a:srgbClr val="202020"/>
                </a:solidFill>
              </a:rPr>
              <a:t> 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UFrame</a:t>
            </a:r>
            <a:r>
              <a:rPr sz="1500" b="0">
                <a:solidFill>
                  <a:srgbClr val="202020"/>
                </a:solidFill>
              </a:rPr>
              <a:t> 句柄；越界与释放后访问由所有权与类型系统在</a:t>
            </a:r>
            <a:r>
              <a:rPr sz="1500" b="1">
                <a:solidFill>
                  <a:srgbClr val="202020"/>
                </a:solidFill>
              </a:rPr>
              <a:t>编译期</a:t>
            </a:r>
            <a:r>
              <a:rPr sz="1500" b="0">
                <a:solidFill>
                  <a:srgbClr val="202020"/>
                </a:solidFill>
              </a:rPr>
              <a:t>阻止，kernel/ 全程零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unsafe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Linux 7.1 对寄存器读写的实现</a:t>
            </a:r>
            <a:r>
              <a:rPr sz="1500" b="0">
                <a:solidFill>
                  <a:srgbClr val="202020"/>
                </a:solidFill>
              </a:rPr>
              <a:t>：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getreg</a:t>
            </a:r>
            <a:r>
              <a:rPr sz="1500" b="0">
                <a:solidFill>
                  <a:srgbClr val="202020"/>
                </a:solidFill>
              </a:rPr>
              <a:t>/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putreg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原地读写</a:t>
            </a:r>
            <a:r>
              <a:rPr sz="1500" b="0">
                <a:solidFill>
                  <a:srgbClr val="202020"/>
                </a:solidFill>
              </a:rPr>
              <a:t> tracee 内核栈上保存的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pt_regs</a:t>
            </a:r>
            <a:r>
              <a:rPr sz="1500" b="0">
                <a:solidFill>
                  <a:srgbClr val="202020"/>
                </a:solidFill>
              </a:rPr>
              <a:t>（进入内核时存下的用户态寄存器帧）；由于是在目标线程内核栈上原地修改，必须先经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wait_task_inactive</a:t>
            </a:r>
            <a:r>
              <a:rPr sz="1500" b="0">
                <a:solidFill>
                  <a:srgbClr val="202020"/>
                </a:solidFill>
              </a:rPr>
              <a:t> 确认其已下 CPU、不在执行。这种按偏移的原地裸指针访问可一比一翻译为 unsafe Rust，但难以静态形式化验证其内存安全性。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2.5 历史包袱：可维护性改良（字段策略表与信号四态机）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signal_st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876" y="1755775"/>
            <a:ext cx="7387206" cy="2176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4069079"/>
            <a:ext cx="102412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两个将分散、复用收敛为单一显式表示的实例：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寄存器字段策略收敛为一张表</a:t>
            </a:r>
            <a:r>
              <a:rPr sz="1500" b="0">
                <a:solidFill>
                  <a:srgbClr val="202020"/>
                </a:solidFill>
              </a:rPr>
              <a:t>：Linux 把各寄存器字段的特殊处理分散在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getreg</a:t>
            </a:r>
            <a:r>
              <a:rPr sz="1500" b="0">
                <a:solidFill>
                  <a:srgbClr val="202020"/>
                </a:solidFill>
              </a:rPr>
              <a:t>/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putreg</a:t>
            </a:r>
            <a:r>
              <a:rPr sz="1500" b="0">
                <a:solidFill>
                  <a:srgbClr val="202020"/>
                </a:solidFill>
              </a:rPr>
              <a:t> 等多处；本项目用单张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REG_RULES</a:t>
            </a:r>
            <a:r>
              <a:rPr sz="1500" b="0">
                <a:solidFill>
                  <a:srgbClr val="202020"/>
                </a:solidFill>
              </a:rPr>
              <a:t> 表为每个字段声明一次，读、写、按偏移访问共查同表，统一表示各寄存器的 ptrace 写策略。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信号生命周期收敛为一个状态机</a:t>
            </a:r>
            <a:r>
              <a:rPr sz="1500" b="0">
                <a:solidFill>
                  <a:srgbClr val="202020"/>
                </a:solidFill>
              </a:rPr>
              <a:t>：ptrace-stop 信号本项目以四态机 Empty / Pending / Consumed / Injected 显式建模；Linux 则分摊在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exit_code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last_siginfo</a:t>
            </a:r>
            <a:r>
              <a:rPr sz="1500" b="0">
                <a:solidFill>
                  <a:srgbClr val="202020"/>
                </a:solidFill>
              </a:rPr>
              <a:t> 等复用字段上。两者行为等价，显式建模更易读、易维护。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2.6 跨进程内存访问：在目标进程地址空间里直接读写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mem_acc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8721" y="1755775"/>
            <a:ext cx="3515516" cy="2176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4069079"/>
            <a:ext cx="102412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 PEEK/POKE</a:t>
            </a:r>
            <a:r>
              <a:rPr sz="1500" b="0">
                <a:solidFill>
                  <a:srgbClr val="202020"/>
                </a:solidFill>
              </a:rPr>
              <a:t> 与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/proc/&lt;pid&gt;/mem</a:t>
            </a:r>
            <a:r>
              <a:rPr sz="1500" b="0">
                <a:solidFill>
                  <a:srgbClr val="202020"/>
                </a:solidFill>
              </a:rPr>
              <a:t> 走同一套底层读写原语，读写的都是</a:t>
            </a:r>
            <a:r>
              <a:rPr sz="1500" b="1">
                <a:solidFill>
                  <a:srgbClr val="202020"/>
                </a:solidFill>
              </a:rPr>
              <a:t>另一个进程</a:t>
            </a:r>
            <a:r>
              <a:rPr sz="1500" b="0">
                <a:solidFill>
                  <a:srgbClr val="202020"/>
                </a:solidFill>
              </a:rPr>
              <a:t>的内存。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不切换地址空间</a:t>
            </a:r>
            <a:r>
              <a:rPr sz="1500" b="0">
                <a:solidFill>
                  <a:srgbClr val="202020"/>
                </a:solidFill>
              </a:rPr>
              <a:t>：不把 CPU 页表切到目标进程，而是直接在它的地址空间里按页定位到物理页帧并拷贝；遇到缺页就主动触发一次缺页处理再重试。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整条跨进程读写都夹在统一的读写接口和权限检查边界内，安全可控。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2.7 安全模型：统一鉴权 + Yama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security_mod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940" y="1783080"/>
            <a:ext cx="3738438" cy="4480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783080"/>
            <a:ext cx="4983480" cy="194767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统一决策链：</a:t>
            </a:r>
            <a:r>
              <a:rPr sz="1500" b="1">
                <a:solidFill>
                  <a:srgbClr val="202020"/>
                </a:solidFill>
              </a:rPr>
              <a:t>同进程 → UID/GID 匹配 → CAP_SYS_PTRACE → Yama LSM hook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Yama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ptrace_scope</a:t>
            </a:r>
            <a:r>
              <a:rPr sz="1500" b="0">
                <a:solidFill>
                  <a:srgbClr val="202020"/>
                </a:solidFill>
              </a:rPr>
              <a:t> 四档对各放行条件的影响（✓ 放行 / ✗ 拒绝；同进程恒放行）：</a:t>
            </a:r>
            <a:endParaRPr sz="1500" b="0">
              <a:solidFill>
                <a:srgbClr val="20202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3822191"/>
          <a:ext cx="4983480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48828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Yama scope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调用者是其祖先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具备 CAP_SYS_PTRACE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仅 UID/GID 匹配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882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0 Disabled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1 Relational（默认）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882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2 Capability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9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3 NoAttach（设置后不可降级）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3　测试与应用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在 Asterinas 上运行真实调试工具，并加入测试体系</a:t>
            </a:r>
            <a:endParaRPr sz="180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7133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3.1 GDB / strace 实机演示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66560" y="1783080"/>
            <a:ext cx="4480560" cy="3931920"/>
          </a:xfrm>
          <a:prstGeom prst="roundRect">
            <a:avLst/>
          </a:prstGeom>
          <a:solidFill>
            <a:srgbClr val="2A2A2A"/>
          </a:solidFill>
          <a:ln w="19050">
            <a:solidFill>
              <a:srgbClr val="A0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▶  演示视频
（在此插入）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577840" cy="44805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606060"/>
                </a:solidFill>
              </a:rPr>
              <a:t>此处插入演示视频</a:t>
            </a:r>
            <a:r>
              <a:rPr sz="1250" b="0">
                <a:solidFill>
                  <a:srgbClr val="606060"/>
                </a:solidFill>
              </a:rPr>
              <a:t>（请在 PPT 中嵌入）：在 Asterinas 上真实运行 GDB 与 strace，内容即下方 CI 用例，已纳入持续集成、每次提交自动回归。</a:t>
            </a:r>
            <a:endParaRPr sz="1250" b="0">
              <a:solidFill>
                <a:srgbClr val="60606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GDB</a:t>
            </a:r>
            <a:r>
              <a:rPr sz="1500" b="0">
                <a:solidFill>
                  <a:srgbClr val="202020"/>
                </a:solidFill>
              </a:rPr>
              <a:t>：持续集成用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gdb -batch</a:t>
            </a:r>
            <a:r>
              <a:rPr sz="1500" b="0">
                <a:solidFill>
                  <a:srgbClr val="202020"/>
                </a:solidFill>
              </a:rPr>
              <a:t> 调一段带断点的 C 程序，逐项校验输出：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命中断点，打印调用栈回溯（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#0 hello_world</a:t>
            </a:r>
            <a:r>
              <a:rPr sz="1500" b="0">
                <a:solidFill>
                  <a:srgbClr val="202020"/>
                </a:solidFill>
              </a:rPr>
              <a:t> →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#1 … in main</a:t>
            </a:r>
            <a:r>
              <a:rPr sz="1500" b="0">
                <a:solidFill>
                  <a:srgbClr val="202020"/>
                </a:solidFill>
              </a:rPr>
              <a:t>）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打印并修改变量与内存（读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$1 = 1</a:t>
            </a:r>
            <a:r>
              <a:rPr sz="1500" b="0">
                <a:solidFill>
                  <a:srgbClr val="202020"/>
                </a:solidFill>
              </a:rPr>
              <a:t>、改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*p = 4321</a:t>
            </a:r>
            <a:r>
              <a:rPr sz="1500" b="0">
                <a:solidFill>
                  <a:srgbClr val="202020"/>
                </a:solidFill>
              </a:rPr>
              <a:t>、内存校验通过）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读寄存器（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rip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rsp</a:t>
            </a:r>
            <a:r>
              <a:rPr sz="1500" b="0">
                <a:solidFill>
                  <a:srgbClr val="202020"/>
                </a:solidFill>
              </a:rPr>
              <a:t>），继续运行得到正确输出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全程</a:t>
            </a:r>
            <a:r>
              <a:rPr sz="1500" b="1">
                <a:solidFill>
                  <a:srgbClr val="202020"/>
                </a:solidFill>
              </a:rPr>
              <a:t>无任何 GDB warning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strace</a:t>
            </a:r>
            <a:r>
              <a:rPr sz="1500" b="0">
                <a:solidFill>
                  <a:srgbClr val="202020"/>
                </a:solidFill>
              </a:rPr>
              <a:t>：持续集成运行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strace ls /tmp</a:t>
            </a:r>
            <a:r>
              <a:rPr sz="1500" b="0">
                <a:solidFill>
                  <a:srgbClr val="202020"/>
                </a:solidFill>
              </a:rPr>
              <a:t>，校验完整抓到系统调用序列（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execve()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getdents64()</a:t>
            </a:r>
            <a:r>
              <a:rPr sz="1500" b="0">
                <a:solidFill>
                  <a:srgbClr val="202020"/>
                </a:solidFill>
              </a:rPr>
              <a:t> 等）。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相关能力已随 Asterinas 0.18.0 正式发布：https://asterinas.github.io/2026/06/04/announcing-asterinas-0.18.0.html</a:t>
            </a:r>
            <a:endParaRPr sz="125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3.2 测试与验证方案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test_pyram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7627" y="1783080"/>
            <a:ext cx="3097705" cy="2084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  <a:endParaRPr sz="1500" b="0">
              <a:solidFill>
                <a:srgbClr val="202020"/>
              </a:solidFill>
            </a:endParaRP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简单回归测试</a:t>
            </a:r>
            <a:r>
              <a:rPr sz="1300" b="0">
                <a:solidFill>
                  <a:srgbClr val="202020"/>
                </a:solidFill>
              </a:rPr>
              <a:t>：pid_mem、ptrace、set_options、read_write_regs、yama 等单点 C 用例。</a:t>
            </a:r>
            <a:endParaRPr sz="1300" b="0">
              <a:solidFill>
                <a:srgbClr val="202020"/>
              </a:solidFill>
            </a:endParaRP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复杂回归测试</a:t>
            </a:r>
            <a:r>
              <a:rPr sz="1300" b="0">
                <a:solidFill>
                  <a:srgbClr val="202020"/>
                </a:solidFill>
              </a:rPr>
              <a:t>：手写 debugger / debuggee 配对，模拟真实调试器的 attach、断点、单步、读写全流程。</a:t>
            </a:r>
            <a:endParaRPr sz="1300" b="0">
              <a:solidFill>
                <a:srgbClr val="202020"/>
              </a:solidFill>
            </a:endParaRP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一致性测试</a:t>
            </a:r>
            <a:r>
              <a:rPr sz="1300" b="0">
                <a:solidFill>
                  <a:srgbClr val="202020"/>
                </a:solidFill>
              </a:rPr>
              <a:t>：gVisor ptrace_test / proc_test 与 LTP，以 ABI 行为为准。</a:t>
            </a:r>
            <a:endParaRPr sz="1300" b="0">
              <a:solidFill>
                <a:srgbClr val="202020"/>
              </a:solidFill>
            </a:endParaRP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端到端测试</a:t>
            </a:r>
            <a:r>
              <a:rPr sz="1300" b="0">
                <a:solidFill>
                  <a:srgbClr val="202020"/>
                </a:solidFill>
              </a:rPr>
              <a:t>：NixOS 上以真实 GDB、strace 验收。</a:t>
            </a:r>
            <a:endParaRPr sz="13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3.3 实现中的细节打磨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主线特性之外，还有一批小而必要的支撑改动，它们决定了真实工具能否真正跑通：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/proc/pid/mem force-write</a:t>
            </a:r>
            <a:r>
              <a:rPr sz="1500" b="0">
                <a:solidFill>
                  <a:srgbClr val="202020"/>
                </a:solidFill>
              </a:rPr>
              <a:t>：允许写入只读代码页——这是写入 int3 软件断点的前提。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x86 GDT 插入空 KCODE32 槽</a:t>
            </a:r>
            <a:r>
              <a:rPr sz="1500" b="0">
                <a:solidFill>
                  <a:srgbClr val="202020"/>
                </a:solidFill>
              </a:rPr>
              <a:t>：把 USER_CS / USER_SS 调成 Linux 期望的 0x33 / 0x2b，消除 GDB 警告。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debug registers 读仿真 + personality 行为</a:t>
            </a:r>
            <a:r>
              <a:rPr sz="1500" b="0">
                <a:solidFill>
                  <a:srgbClr val="202020"/>
                </a:solidFill>
              </a:rPr>
              <a:t>：满足 GDB 的探测，又不放开硬件断点。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/proc/[pid]/maps</a:t>
            </a:r>
            <a:r>
              <a:rPr sz="1500" b="0">
                <a:solidFill>
                  <a:srgbClr val="202020"/>
                </a:solidFill>
              </a:rPr>
              <a:t>：补全非 [stack] 条目，供 GDB 定位代码 / 库映射。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/proc/[pid]/auxv</a:t>
            </a:r>
            <a:r>
              <a:rPr sz="1500" b="0">
                <a:solidFill>
                  <a:srgbClr val="202020"/>
                </a:solidFill>
              </a:rPr>
              <a:t>：暴露辅助向量，供加载器与调试器读取。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每线程 /proc/[tid]</a:t>
            </a:r>
            <a:r>
              <a:rPr sz="1500" b="0">
                <a:solidFill>
                  <a:srgbClr val="202020"/>
                </a:solidFill>
              </a:rPr>
              <a:t>：按线程提供视图。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tkill 系统调用与 Yama ptrace_scope</a:t>
            </a:r>
            <a:r>
              <a:rPr sz="1500" b="0">
                <a:solidFill>
                  <a:srgbClr val="202020"/>
                </a:solidFill>
              </a:rPr>
              <a:t>：补齐定向信号投递与调试安全边界。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4　总结与展望</a:t>
            </a:r>
            <a:endParaRPr sz="4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成果回顾与后续方向</a:t>
            </a:r>
            <a:endParaRPr sz="1800" b="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4.1 总结与展望</a:t>
            </a:r>
            <a:endParaRPr sz="2400" b="1">
              <a:solidFill>
                <a:srgbClr val="A0001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128" y="1591056"/>
            <a:ext cx="822960" cy="3175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设计核心</a:t>
            </a:r>
            <a:r>
              <a:rPr sz="1500" b="0">
                <a:solidFill>
                  <a:srgbClr val="202020"/>
                </a:solidFill>
              </a:rPr>
              <a:t>　以 </a:t>
            </a:r>
            <a:r>
              <a:rPr sz="1500" b="1">
                <a:solidFill>
                  <a:srgbClr val="202020"/>
                </a:solidFill>
              </a:rPr>
              <a:t>ptrace-stop 状态机</a:t>
            </a:r>
            <a:r>
              <a:rPr sz="1500" b="0">
                <a:solidFill>
                  <a:srgbClr val="202020"/>
                </a:solidFill>
              </a:rPr>
              <a:t>为中心，把信号、异常、系统调用、wait、寄存器、跨进程内存、安全策略统一到一条 </a:t>
            </a:r>
            <a:r>
              <a:rPr sz="1500" b="1">
                <a:solidFill>
                  <a:srgbClr val="202020"/>
                </a:solidFill>
              </a:rPr>
              <a:t>Linux ABI 兼容</a:t>
            </a:r>
            <a:r>
              <a:rPr sz="1500" b="0">
                <a:solidFill>
                  <a:srgbClr val="202020"/>
                </a:solidFill>
              </a:rPr>
              <a:t>的调试路径；未经修改的上游 GDB / strace 直接原生运行。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内部更优</a:t>
            </a:r>
            <a:r>
              <a:rPr sz="1500" b="0">
                <a:solidFill>
                  <a:srgbClr val="202020"/>
                </a:solidFill>
              </a:rPr>
              <a:t>　借安全 Rust 框内核，在等价语义下做出结构性改良：状态机与</a:t>
            </a:r>
            <a:r>
              <a:rPr sz="1500" b="1">
                <a:solidFill>
                  <a:srgbClr val="202020"/>
                </a:solidFill>
              </a:rPr>
              <a:t>调度器解耦</a:t>
            </a:r>
            <a:r>
              <a:rPr sz="1500" b="0">
                <a:solidFill>
                  <a:srgbClr val="202020"/>
                </a:solidFill>
              </a:rPr>
              <a:t>、建立跟踪</a:t>
            </a:r>
            <a:r>
              <a:rPr sz="1500" b="1">
                <a:solidFill>
                  <a:srgbClr val="202020"/>
                </a:solidFill>
              </a:rPr>
              <a:t>无需全局大锁</a:t>
            </a:r>
            <a:r>
              <a:rPr sz="1500" b="0">
                <a:solidFill>
                  <a:srgbClr val="202020"/>
                </a:solidFill>
              </a:rPr>
              <a:t>；寄存器经快照副本访问，</a:t>
            </a:r>
            <a:r>
              <a:rPr sz="1500" b="1">
                <a:solidFill>
                  <a:srgbClr val="202020"/>
                </a:solidFill>
              </a:rPr>
              <a:t>内存安全由编译期静态保证</a:t>
            </a:r>
            <a:r>
              <a:rPr sz="1500" b="0">
                <a:solidFill>
                  <a:srgbClr val="202020"/>
                </a:solidFill>
              </a:rPr>
              <a:t>；历史包袱收敛为单一显式表示（字段策略表、信号四态机），</a:t>
            </a:r>
            <a:r>
              <a:rPr sz="1500" b="1">
                <a:solidFill>
                  <a:srgbClr val="202020"/>
                </a:solidFill>
              </a:rPr>
              <a:t>提升可维护性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后续方向</a:t>
            </a:r>
            <a:endParaRPr sz="1500" b="1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中途调试已运行进程：支持 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PTRACE_ATTACH / DETACH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调试多线程进程：fork/vfork/clone 的 event-stop。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支持 GDB watchpoint 观察点：x86 debug registers 真实读写。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寄存器扩展：</a:t>
            </a:r>
            <a:r>
              <a:rPr sz="1500" b="0">
                <a:solidFill>
                  <a:srgbClr val="A00016"/>
                </a:solidFill>
                <a:latin typeface="Menlo" panose="020B0609030804020204"/>
                <a:cs typeface="Menlo" panose="020B0609030804020204"/>
              </a:rPr>
              <a:t>GETREGSET</a:t>
            </a:r>
            <a:r>
              <a:rPr sz="1500" b="0">
                <a:solidFill>
                  <a:srgbClr val="202020"/>
                </a:solidFill>
              </a:rPr>
              <a:t>、FP/SIMD。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跨架构推广：riscv64 / loongarch64。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6696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1">
                <a:solidFill>
                  <a:srgbClr val="A00016"/>
                </a:solidFill>
              </a:rPr>
              <a:t>谢谢！　Q &amp; A</a:t>
            </a:r>
            <a:endParaRPr sz="4000" b="1">
              <a:solidFill>
                <a:srgbClr val="A0001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c3fc103-1456-42b8-b57b-c49d1145167b}"/>
</p:tagLst>
</file>

<file path=ppt/tags/tag2.xml><?xml version="1.0" encoding="utf-8"?>
<p:tagLst xmlns:p="http://schemas.openxmlformats.org/presentationml/2006/main">
  <p:tag name="KSO_WM_UNIT_TABLE_BEAUTIFY" val="smartTable{1abb1756-da94-4a15-be4b-bd056c1351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6162</Words>
  <Application>WPS 演示</Application>
  <PresentationFormat>On-screen Show (4:3)</PresentationFormat>
  <Paragraphs>281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Arial</vt:lpstr>
      <vt:lpstr>Menlo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vvsv</cp:lastModifiedBy>
  <cp:revision>8</cp:revision>
  <dcterms:created xsi:type="dcterms:W3CDTF">2026-06-22T17:03:51Z</dcterms:created>
  <dcterms:modified xsi:type="dcterms:W3CDTF">2026-06-22T17:03:51Z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03D3B8B1333B81CB7658396ACC2B1964_42</vt:lpwstr>
  </property>
  <property fmtid="{D5CDD505-2E9C-101B-9397-08002B2CF9AE}" pid="3" name="KSOProductBuildVer">
    <vt:lpwstr>2052-5.5.1.7991</vt:lpwstr>
  </property>
</Properties>
</file>