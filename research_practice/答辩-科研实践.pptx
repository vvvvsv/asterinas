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F2D2D2"/>
    <a:srgbClr val="AE8585"/>
    <a:srgbClr val="DFC3C2"/>
    <a:srgbClr val="E6E6E6"/>
    <a:srgbClr val="DEE2E6"/>
    <a:srgbClr val="8A8D8F"/>
    <a:srgbClr val="384600"/>
    <a:srgbClr val="87674F"/>
    <a:srgbClr val="3D6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3846" autoAdjust="0"/>
  </p:normalViewPr>
  <p:slideViewPr>
    <p:cSldViewPr snapToGrid="0">
      <p:cViewPr>
        <p:scale>
          <a:sx n="44" d="100"/>
          <a:sy n="44" d="100"/>
        </p:scale>
        <p:origin x="564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9746-BB1D-419B-A6DD-5EE22E0D79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各类从零或新架构的 OS 都在补调试能力，但接入调试器的技术路线差别很大，多数并未直接复用未经修改的 Linux 工具链。下表对比它们的内核调试接口与调试器接入方式。</a:t>
            </a:r>
          </a:p>
          <a:p>
            <a:r>
              <a:t>Redox OS——刻意不在内核实现 Linux ptrace，而是提供一个类 /proc 的 proc scheme 文件接口；并用 Rust 自写了一个 gdbserver，GDB 通过 Redox 的 IPC 走 GDB 远程串行协议连接，relibc 里另有一个尽力而为的用户态 ptrace 兼容层。所以 Redox 的 GDB 根本不经过 ptrace 系统调用。</a:t>
            </a:r>
          </a:p>
          <a:p>
            <a:r>
              <a:t>SerenityOS——实现了自己的 ptrace 系统调用，但语义并非 Linux ABI；要让 GDB 工作，需要给 GDB 新增一个 serenity target 后端（移植工作），而不是直接用未经修改的上游 GDB。它还自带一个原生调试器 sdb。</a:t>
            </a:r>
          </a:p>
          <a:p>
            <a:r>
              <a:t>Fuchsia / Zircon——微内核，无 ptrace；调试由跑在开发机上的 zxdb 客户端连接目标设备上的 debug_agent 组件完成，基于 Zircon 内核对象 koid 与 job/process 模型，且只能远程调试、不能自托管。</a:t>
            </a:r>
          </a:p>
          <a:p>
            <a:r>
              <a:t>Haiku——使用端口式（port-based）调试 API（install_team_debugger、team/thread 调试上下文），不是 ptrace；2024 年 GSoC 把 GDB 15.1 移植上来，后端把 Haiku 的调试端口事件翻译成 gdbserver 语义，并为此修改内核以暴露更多调试信息。</a:t>
            </a:r>
          </a:p>
          <a:p>
            <a:r>
              <a:t>对比之下，Asterinas 在内核里原生实现 Linux ptrace ABI，未经修改的上游 GDB / strace 用它们标准的 Linux 后端即可直接运行——无需自写或移植 gdbserver、无需远程 agent、无需为私有接口改造 GDB、无需用户态兼容层。</a:t>
            </a:r>
          </a:p>
          <a:p>
            <a:r>
              <a:t>Q&amp;A 防线（gVisor）：若被问到 gVisor，它确实也在内部实现了 Linux ptrace（Sentry 的 pkg/sentry/kernel/ptrace.go），属同一路线；但 gVisor 是跑在宿主 Linux 之上的用户态沙箱运行时（Go），且只实现了跑容器够用的 ptrace 子集（历史上 gdb 与 strace 不能同跟一个进程）。因此稳妥表述是：在从零做的通用 OS 中，原生实现 Linux ptrace、直接复用未改 GDB/strace 的，Asterinas 是其中唯一一个。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417320"/>
            <a:ext cx="996696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3800" b="1">
                <a:solidFill>
                  <a:srgbClr val="A00016"/>
                </a:solidFill>
              </a:rPr>
              <a:t>面向 RustOS 的进程调试能力构建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34640"/>
            <a:ext cx="99669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900" b="1">
                <a:solidFill>
                  <a:srgbClr val="E8DDDF"/>
                </a:solidFill>
              </a:rPr>
              <a:t>在 Asterinas 上原生支持 GDB / strace 的 ptrace 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996696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E8DDDF"/>
                </a:solidFill>
              </a:rPr>
              <a:t>2026 全国大学生计算机系统能力大赛、操作系统设计赛（全国）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E8DDDF"/>
                </a:solidFill>
              </a:rPr>
              <a:t>OS 功能挑战赛道、proj9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E8DDDF"/>
                </a:solidFill>
              </a:rPr>
              <a:t>汇报人 / 日期 / 指导老师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68680"/>
            <a:ext cx="99669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4000" b="1">
                <a:solidFill>
                  <a:srgbClr val="A00016"/>
                </a:solidFill>
              </a:rPr>
              <a:t>目  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2194560"/>
          <a:ext cx="960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658368">
                <a:tc>
                  <a:txBody>
                    <a:bodyPr/>
                    <a:lstStyle/>
                    <a:p/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章节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关键词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1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研究背景与目标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问题定义、断点案例、调试通路、相关工作、总体目标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设计与实现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状态机、同步、内存、寄存器、信号、安全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3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测试与应用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实机演示、测试体系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PART 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总结与展望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项目价值、后续方向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1　研究背景与目标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进程调试的意义与内核能力需求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1.1 研究背景与问题定义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241280" cy="26243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Asterinas 是由北京大学、中关村实验室、蚂蚁集团联合发起的一个用 Rust 编写、与 Linux ABI 兼容的国产自主可控安全操作系统内核，能直接运行 Linux 程序，并借助框内核架构提升内核可靠性。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一个面向开发者的操作系统，不能只满足于把程序跑起来，还要支撑起程序开发的完整闭环，而</a:t>
            </a:r>
            <a:r>
              <a:rPr sz="1500" b="1">
                <a:solidFill>
                  <a:srgbClr val="202020"/>
                </a:solidFill>
              </a:rPr>
              <a:t>进程调试</a:t>
            </a:r>
            <a:r>
              <a:rPr sz="1500" b="0">
                <a:solidFill>
                  <a:srgbClr val="202020"/>
                </a:solidFill>
              </a:rPr>
              <a:t>正是其中最基础的一环。无论是排查应用逻辑的上层开发者，还是分析系统调用、内存与寄存器行为的底层开发者，都离不开用户态进程调试机制。同时，一个新内核要真正可用，关键在于能</a:t>
            </a:r>
            <a:r>
              <a:rPr sz="1500" b="1">
                <a:solidFill>
                  <a:srgbClr val="202020"/>
                </a:solidFill>
              </a:rPr>
              <a:t>直接复用现有的用户态生态</a:t>
            </a:r>
            <a:r>
              <a:rPr sz="1500" b="0">
                <a:solidFill>
                  <a:srgbClr val="202020"/>
                </a:solidFill>
              </a:rPr>
              <a:t>，而不是要求应用重写；而 Linux ABI 已是事实标准，唯有兼容它，才能直接复用海量现有调试工具链生态，如 GDB strace 等。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因此，在 Asterinas 上支持用户进程调试，本质上就是</a:t>
            </a:r>
            <a:r>
              <a:rPr sz="1500" b="1">
                <a:solidFill>
                  <a:srgbClr val="202020"/>
                </a:solidFill>
              </a:rPr>
              <a:t>兼容 Linux 的 ptrace 接口与相关配套机制</a:t>
            </a:r>
            <a:r>
              <a:rPr sz="1500" b="0">
                <a:solidFill>
                  <a:srgbClr val="202020"/>
                </a:solidFill>
              </a:rPr>
              <a:t>——而这不是单个系统调用，而是贯穿进程管理、信号、wait、地址空间、寄存器、安全与 procfs 的完整通路。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1.2 调试的基本需求：以断点为例</a:t>
            </a:r>
          </a:p>
        </p:txBody>
      </p:sp>
      <p:pic>
        <p:nvPicPr>
          <p:cNvPr id="3" name="Picture 2" descr="09_breakpoint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561" y="1783080"/>
            <a:ext cx="5413837" cy="20848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调试器对内核的基本诉求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运行时暂停目标进程工作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读写目标进程的私有状态（寄存器、内存、控制流 ...）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调试结束后恢复目标进程正常运行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以最常用的「GDB 软件断点」为例，一次命中并恢复，需要内核按下图配合约 8 步：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写 int3 设断点 → 命中陷入转 SIGTRAP、进入 ptrace-stop → 报告 tracer → 改寄存器并恢复原指令 → 单步越过 → 重新写回 int3 → 继续运行。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这一圈分别用到：跨进程改内存、异常转信号、停 / 等 / 恢复、读写寄存器、单步——正是后面要逐一构建的内核能力。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1.3 Linux 为调试器提供的抽象：调试能力通路</a:t>
            </a:r>
          </a:p>
        </p:txBody>
      </p:sp>
      <p:pic>
        <p:nvPicPr>
          <p:cNvPr id="3" name="Picture 2" descr="01_arch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136" y="1783080"/>
            <a:ext cx="2964687" cy="20848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GDB / strace 这样的调试器，把对内核的诉求收敛成一条自上而下的通路：用户工具发出请求，经系统调用接口进入内核，先过权限检查鉴权放行，再交给 ptrace 核心状态机。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状态机是整条通路的中枢，负责建立关系、进入 ptrace-stop、向 tracer 报告 wait、再 resume 继续，一旦命中新的停止条件就再次回到 stop。围绕这个中枢，向下分出三类能力：跨进程用户空间读写、寄存器上下文快照、以及与 signal / wait / exec / exit / clone 等系统调用的协作。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606060"/>
                </a:solidFill>
              </a:rPr>
              <a:t>这是 Linux 暴露给调试器的抽象，也是本项目要在 Asterinas 上补齐的整张地图。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1.4 总体目标与对应内核能力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241280" cy="7040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要让开发者能使用 GDB / strace 调试用户程序，内核必须补齐的能力有：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2596896"/>
          <a:ext cx="10241280" cy="366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120640"/>
              </a:tblGrid>
              <a:tr h="45834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总体目标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对应内核能力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GDB 调试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建立 tracer / tracee 关系，使能 tracee 陷入内核 stop，并等待 tracer wait &amp; resume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设置并命中软件断点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使能修改只读内存写入 breakpoint，#BP 异常后进入 ptrace-stop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读 / 写寄存器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tracee stop 时保存 register 现场，按字段规则安全读写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读 / 写进程内存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跨进程安全读写目标地址空间，必要时主动触发 page fault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继续 / 单步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resume 继续，按需设置 CPU trap flag (TF) 单步执行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strace 跟踪系统调用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在每次 syscall entry / exit 进入 ptrace-stop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按安全策略限制调试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校验 uid/gid、CAP_SYS_PTRACE、Yama，拦截越权 attach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6373368"/>
            <a:ext cx="10241280" cy="-1097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606060"/>
                </a:solidFill>
              </a:rPr>
              <a:t>左列是「调试器要做的事」，右列是「内核必须补齐的能力」——这张表就是整套设计的需求来源。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1.5 相关工作：其它 OS 的调试路线对比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783080"/>
          <a:ext cx="10241277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59"/>
                <a:gridCol w="3413759"/>
                <a:gridCol w="3413759"/>
              </a:tblGrid>
              <a:tr h="5440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系统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内核调试接口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调试器如何接入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Redox OS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proc scheme，非 ptrace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自写 Rust gdbserver，GDB 走远程协议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SerenityOS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自有 ptrace，非 Linux ABI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移植 GDB，新增 serenity target 后端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Fuchsia / Zircon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内核对象模型，无 ptrace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zxdb 客户端连 debug_agent，仅远程调试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Haiku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端口式调试 API，非 ptrace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移植 GDB，翻译到 Haiku 调试端口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Asterinas（本项目）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内核原生 Linux ptrace ABI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</a:rPr>
                        <a:t>未经修改的上游 GDB / strace 直接运行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5157216"/>
            <a:ext cx="10241280" cy="108813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606060"/>
                </a:solidFill>
              </a:rPr>
              <a:t>多数方案要么自定义协议、配自写或移植的 gdbserver / agent，要么为私有接口改造 GDB；在内核里原生实现 Linux ptrace、让未改的 GDB / strace 直接跑通的是少数——这正是本项目的技术取舍。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2　设计与实现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ptrace 子系统的关键机制，以及与 Linux 的结构性差异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2.1 要解决什么问题：相同接口，内部更优的实现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241280" cy="44805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对外语义与 ABI 必须对齐 Linux，工作落在内部结构与实现质量。借助框内核 + 安全 Rust 这个载体，几处关键机制做得与 Linux 不同：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跟踪关系是旁路 map，不动进程树</a:t>
            </a:r>
            <a:r>
              <a:rPr sz="1500" b="0">
                <a:solidFill>
                  <a:srgbClr val="202020"/>
                </a:solidFill>
              </a:rPr>
              <a:t>：Linux 把 tracee reparent 进全局进程树，attach / detach / exit 须全程持有全局写锁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tasklist_lock</a:t>
            </a:r>
            <a:r>
              <a:rPr sz="1500" b="0">
                <a:solidFill>
                  <a:srgbClr val="202020"/>
                </a:solidFill>
              </a:rPr>
              <a:t>；本项目用一张旁路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tracees</a:t>
            </a:r>
            <a:r>
              <a:rPr sz="1500" b="0">
                <a:solidFill>
                  <a:srgbClr val="202020"/>
                </a:solidFill>
              </a:rPr>
              <a:t> map，关系变更只落在两把文档化锁序的 per-object 锁上。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寄存器快照，而非原地编辑内核栈</a:t>
            </a:r>
            <a:r>
              <a:rPr sz="1500" b="0">
                <a:solidFill>
                  <a:srgbClr val="202020"/>
                </a:solidFill>
              </a:rPr>
              <a:t>：Linux 直接读写 tracee 内核栈上的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pt_regs</a:t>
            </a:r>
            <a:r>
              <a:rPr sz="1500" b="0">
                <a:solidFill>
                  <a:srgbClr val="202020"/>
                </a:solidFill>
              </a:rPr>
              <a:t>，须先用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wait_task_inactive</a:t>
            </a:r>
            <a:r>
              <a:rPr sz="1500" b="0">
                <a:solidFill>
                  <a:srgbClr val="202020"/>
                </a:solidFill>
              </a:rPr>
              <a:t> 等它下 CPU；本项目进入 stop 时把现场快照进持锁的连续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CUserRegsStruct</a:t>
            </a:r>
            <a:r>
              <a:rPr sz="1500" b="0">
                <a:solidFill>
                  <a:srgbClr val="202020"/>
                </a:solidFill>
              </a:rPr>
              <a:t>，一致性由锁保证、与是否在 CPU 上无关。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全安全 Rust 的调试通路</a:t>
            </a:r>
            <a:r>
              <a:rPr sz="1500" b="0">
                <a:solidFill>
                  <a:srgbClr val="202020"/>
                </a:solidFill>
              </a:rPr>
              <a:t>：改寄存器、写别人内存、改控制流这三件内核里最易出内存安全漏洞的事，全程零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unsafe</a:t>
            </a:r>
            <a:r>
              <a:rPr sz="1500" b="0">
                <a:solidFill>
                  <a:srgbClr val="202020"/>
                </a:solidFill>
              </a:rPr>
              <a:t>，危险性由所有权与类型系统在编译期约束。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字段策略收敛成单表</a:t>
            </a:r>
            <a:r>
              <a:rPr sz="1500" b="0">
                <a:solidFill>
                  <a:srgbClr val="202020"/>
                </a:solidFill>
              </a:rPr>
              <a:t>：x86 寄存器的字段级特殊处理用一张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REG_RULES</a:t>
            </a:r>
            <a:r>
              <a:rPr sz="1500" b="0">
                <a:solidFill>
                  <a:srgbClr val="202020"/>
                </a:solidFill>
              </a:rPr>
              <a:t> 表声明一次、四条访问路径共查，替代 Linux 在读写两侧重列多遍的历史写法。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606060"/>
                </a:solidFill>
              </a:rPr>
              <a:t>这几条不是「重新发明」，而是把同一套 ptrace 语义，重建到一个更安全、更分层的载体上。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2.2 ptrace-stop 主状态机：三类停止统一收敛</a:t>
            </a:r>
          </a:p>
        </p:txBody>
      </p:sp>
      <p:pic>
        <p:nvPicPr>
          <p:cNvPr id="3" name="Picture 2" descr="04_state_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703" y="1783080"/>
            <a:ext cx="5451553" cy="20848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生命周期：未被跟踪 → 建立关系 → </a:t>
            </a:r>
            <a:r>
              <a:rPr sz="1500" b="1">
                <a:solidFill>
                  <a:srgbClr val="202020"/>
                </a:solidFill>
              </a:rPr>
              <a:t>ptrace-stop（保存现场）</a:t>
            </a:r>
            <a:r>
              <a:rPr sz="1500" b="0">
                <a:solidFill>
                  <a:srgbClr val="202020"/>
                </a:solidFill>
              </a:rPr>
              <a:t> → wait 报告 → 恢复运行 → 命中下一次停止条件再回到 stop，或退出清理。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三种停止来源（信号停、系统调用停、事件停）</a:t>
            </a:r>
            <a:r>
              <a:rPr sz="1500" b="1">
                <a:solidFill>
                  <a:srgbClr val="202020"/>
                </a:solidFill>
              </a:rPr>
              <a:t>统一收敛到 do_ptrace_stop()</a:t>
            </a:r>
            <a:r>
              <a:rPr sz="1500" b="0">
                <a:solidFill>
                  <a:srgbClr val="202020"/>
                </a:solidFill>
              </a:rPr>
              <a:t>：同一抽象保存现场、记录 wait status、投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SIGCHLD</a:t>
            </a:r>
            <a:r>
              <a:rPr sz="1500" b="0">
                <a:solidFill>
                  <a:srgbClr val="202020"/>
                </a:solidFill>
              </a:rPr>
              <a:t>、阻塞 tracee、resume 后回写。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与 Linux 的差异</a:t>
            </a:r>
            <a:r>
              <a:rPr sz="1500" b="0">
                <a:solidFill>
                  <a:srgbClr val="202020"/>
                </a:solidFill>
              </a:rPr>
              <a:t>：状态机与调度解耦——停止 / 恢复靠 tracee 自己进 stop 时快照、阻塞、唤醒，不依赖「等目标下 CPU」这类调度前提。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2.3 tracer 与 tracee 如何同步</a:t>
            </a:r>
          </a:p>
        </p:txBody>
      </p:sp>
      <p:pic>
        <p:nvPicPr>
          <p:cNvPr id="3" name="Picture 2" descr="04b_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910" y="1783080"/>
            <a:ext cx="4214499" cy="2084831"/>
          </a:xfrm>
          <a:prstGeom prst="rect">
            <a:avLst/>
          </a:prstGeom>
        </p:spPr>
      </p:pic>
      <p:pic>
        <p:nvPicPr>
          <p:cNvPr id="4" name="Picture 3" descr="20260617-14562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2058117"/>
            <a:ext cx="5120640" cy="15347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tracer（调试器线程）与 tracee（被调试线程）通过共享结构 TraceeStatus 同步，其中有一个原子标志和一把互斥锁。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原子标志 is_stopped 是 tracee 是否停在 ptrace-stop 的唯一依据：tracee 停下时置真并挂起，tracer 操作前据此确认其已停止、否则拒绝，恢复执行时置假并唤醒。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互斥锁 state 保护现场数据（寄存器快照、待投递信号、事件），两线程读写前都先持锁，避免并发竞争。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2.4 跨进程内存访问：在目标进程地址空间里直接读写</a:t>
            </a:r>
          </a:p>
        </p:txBody>
      </p:sp>
      <p:pic>
        <p:nvPicPr>
          <p:cNvPr id="3" name="Picture 2" descr="07_mem_a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721" y="1783080"/>
            <a:ext cx="3515516" cy="21762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4069079"/>
            <a:ext cx="1024128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ptrace PEEK/POKE</a:t>
            </a:r>
            <a:r>
              <a:rPr sz="1500" b="0">
                <a:solidFill>
                  <a:srgbClr val="202020"/>
                </a:solidFill>
              </a:rPr>
              <a:t> 与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/proc/&lt;pid&gt;/mem</a:t>
            </a:r>
            <a:r>
              <a:rPr sz="1500" b="0">
                <a:solidFill>
                  <a:srgbClr val="202020"/>
                </a:solidFill>
              </a:rPr>
              <a:t> 走同一套底层读写原语，读写的都是「另一个进程」的内存。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不切换地址空间</a:t>
            </a:r>
            <a:r>
              <a:rPr sz="1500" b="0">
                <a:solidFill>
                  <a:srgbClr val="202020"/>
                </a:solidFill>
              </a:rPr>
              <a:t>：不把 CPU 页表切到目标进程，而是直接在它的地址空间里按页定位到物理页帧并拷贝；遇到缺页就主动触发一次缺页处理再重试。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整条跨进程读写都夹在统一的读写接口和权限检查边界内，安全可控。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2.5 x86-64 寄存器 ABI：字段级读写策略</a:t>
            </a:r>
          </a:p>
        </p:txBody>
      </p:sp>
      <p:pic>
        <p:nvPicPr>
          <p:cNvPr id="3" name="Picture 2" descr="08_register_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645" y="1783080"/>
            <a:ext cx="3591668" cy="20848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快照式访问</a:t>
            </a:r>
            <a:r>
              <a:rPr sz="1500" b="0">
                <a:solidFill>
                  <a:srgbClr val="202020"/>
                </a:solidFill>
              </a:rPr>
              <a:t>：tracee 陷入内核、进入 ptrace-stop 时，持锁把用户寄存器上下文复制成一份寄存器快照；tracer 持锁在快照上按字段修改，tracee 唤醒时再写回——作为 GDB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info registers</a:t>
            </a:r>
            <a:r>
              <a:rPr sz="1500" b="0">
                <a:solidFill>
                  <a:srgbClr val="202020"/>
                </a:solidFill>
              </a:rPr>
              <a:t> 的 ABI 基础。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按字段分级管控</a:t>
            </a:r>
            <a:r>
              <a:rPr sz="1500" b="0">
                <a:solidFill>
                  <a:srgbClr val="202020"/>
                </a:solidFill>
              </a:rPr>
              <a:t>：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rax..r15</a:t>
            </a:r>
            <a:r>
              <a:rPr sz="1500" b="0">
                <a:solidFill>
                  <a:srgbClr val="202020"/>
                </a:solidFill>
              </a:rPr>
              <a:t> 由 tracer 自由修改；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rip/rsp/fs/gsbase</a:t>
            </a:r>
            <a:r>
              <a:rPr sz="1500" b="0">
                <a:solidFill>
                  <a:srgbClr val="202020"/>
                </a:solidFill>
              </a:rPr>
              <a:t> 必须是用户地址；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rflags</a:t>
            </a:r>
            <a:r>
              <a:rPr sz="1500" b="0">
                <a:solidFill>
                  <a:srgbClr val="202020"/>
                </a:solidFill>
              </a:rPr>
              <a:t> 仅能写用户态可控位；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cs/ss/ds/es</a:t>
            </a:r>
            <a:r>
              <a:rPr sz="1500" b="0">
                <a:solidFill>
                  <a:srgbClr val="202020"/>
                </a:solidFill>
              </a:rPr>
              <a:t> 段寄存器只读、与 Linux 一致。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与 Linux 的差异</a:t>
            </a:r>
            <a:r>
              <a:rPr sz="1500" b="0">
                <a:solidFill>
                  <a:srgbClr val="202020"/>
                </a:solidFill>
              </a:rPr>
              <a:t>：「哪个字段要怎么校验」用单张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REG_RULES</a:t>
            </a:r>
            <a:r>
              <a:rPr sz="1500" b="0">
                <a:solidFill>
                  <a:srgbClr val="202020"/>
                </a:solidFill>
              </a:rPr>
              <a:t> 策略表声明一次、读 / 写 / 按偏移四条路径共查同表，替代 Linux 在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getreg</a:t>
            </a:r>
            <a:r>
              <a:rPr sz="1500" b="0">
                <a:solidFill>
                  <a:srgbClr val="202020"/>
                </a:solidFill>
              </a:rPr>
              <a:t>/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putreg</a:t>
            </a:r>
            <a:r>
              <a:rPr sz="1500" b="0">
                <a:solidFill>
                  <a:srgbClr val="202020"/>
                </a:solidFill>
              </a:rPr>
              <a:t>（及 32 位 compat）里重列多遍的历史写法，并以编译期断言防止表与结构体漂移。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2.6 恢复语义与信号四态机</a:t>
            </a:r>
          </a:p>
        </p:txBody>
      </p:sp>
      <p:pic>
        <p:nvPicPr>
          <p:cNvPr id="3" name="Picture 2" descr="06_signal_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070" y="1783080"/>
            <a:ext cx="7076819" cy="20848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恢复请求：由 tracer 发送，可选择抑制（丢弃）原信号，或注入一个新信号。恢复语义 CONT（普通继续）、SINGLESTEP（设 TF 单步）、SYSCALL（开 syscall 跟踪）三选一。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状态如何被消费：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tracer 通过 wait 消费 Pending：观察并报告，使其转为 Consumed。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tracer 通过 GETSIGINFO 消费 Pending / Consumed / Injected：读取对应的 siginfo。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tracee 在 resume 时通过 re-inject 消费 Pending / Injected：把信号重新投递给自己。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2.7 安全模型：统一鉴权 + Yama</a:t>
            </a:r>
          </a:p>
        </p:txBody>
      </p:sp>
      <p:pic>
        <p:nvPicPr>
          <p:cNvPr id="3" name="Picture 2" descr="10_security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940" y="1783080"/>
            <a:ext cx="3738438" cy="4480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63640" y="1783080"/>
            <a:ext cx="498348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统一决策链：</a:t>
            </a:r>
            <a:r>
              <a:rPr sz="1500" b="1">
                <a:solidFill>
                  <a:srgbClr val="202020"/>
                </a:solidFill>
              </a:rPr>
              <a:t>同进程 → UID/GID 匹配 → CAP_SYS_PTRACE → Yama LSM hook</a:t>
            </a:r>
            <a:r>
              <a:rPr sz="1500" b="0">
                <a:solidFill>
                  <a:srgbClr val="202020"/>
                </a:solidFill>
              </a:rPr>
              <a:t>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ptrace 与 procfs 区分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Read/Attach</a:t>
            </a:r>
            <a:r>
              <a:rPr sz="1500" b="0">
                <a:solidFill>
                  <a:srgbClr val="202020"/>
                </a:solidFill>
              </a:rPr>
              <a:t>、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Fs/Real creds</a:t>
            </a:r>
            <a:r>
              <a:rPr sz="1500" b="0">
                <a:solidFill>
                  <a:srgbClr val="202020"/>
                </a:solidFill>
              </a:rPr>
              <a:t>，</a:t>
            </a:r>
            <a:r>
              <a:rPr sz="1500" b="1">
                <a:solidFill>
                  <a:srgbClr val="202020"/>
                </a:solidFill>
              </a:rPr>
              <a:t>避免 procfs 绕过</a:t>
            </a:r>
            <a:r>
              <a:rPr sz="1500" b="0">
                <a:solidFill>
                  <a:srgbClr val="202020"/>
                </a:solidFill>
              </a:rPr>
              <a:t>调试鉴权。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Yama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ptrace_scope</a:t>
            </a:r>
            <a:r>
              <a:rPr sz="1500" b="0">
                <a:solidFill>
                  <a:srgbClr val="202020"/>
                </a:solidFill>
              </a:rPr>
              <a:t> 四档对各放行条件的影响（✓ 放行 / ✗ 拒绝；同进程恒放行）：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63640" y="3886200"/>
          <a:ext cx="4983480" cy="2377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245870"/>
                <a:gridCol w="1245870"/>
                <a:gridCol w="1245870"/>
              </a:tblGrid>
              <a:tr h="47548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Yama scope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调用者是其祖先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具备 CAP_SYS_PTRACE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仅 UID/GID 匹配</a:t>
                      </a: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0 Disabled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1 Relational（默认）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2 Capability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7549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3 NoAttach（设置后不可降级）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3　测试与应用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在 Asterinas 上运行真实调试工具，并加入测试体系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3.1 GDB / strace 实机演示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6560" y="1783080"/>
            <a:ext cx="4480560" cy="3931920"/>
          </a:xfrm>
          <a:prstGeom prst="roundRect">
            <a:avLst/>
          </a:prstGeom>
          <a:solidFill>
            <a:srgbClr val="2A2A2A"/>
          </a:solidFill>
          <a:ln w="19050">
            <a:solidFill>
              <a:srgbClr val="A000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▶  演示视频
（在此插入）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5577840" cy="44805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606060"/>
                </a:solidFill>
              </a:rPr>
              <a:t>此处插入演示视频</a:t>
            </a:r>
            <a:r>
              <a:rPr sz="1250" b="0">
                <a:solidFill>
                  <a:srgbClr val="606060"/>
                </a:solidFill>
              </a:rPr>
              <a:t>（请在 PPT 中嵌入）：在 Asterinas 上真实运行 GDB 与 strace，内容即下方 CI 用例，已纳入持续集成、每次提交自动回归。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GDB</a:t>
            </a:r>
            <a:r>
              <a:rPr sz="1500" b="0">
                <a:solidFill>
                  <a:srgbClr val="202020"/>
                </a:solidFill>
              </a:rPr>
              <a:t>：持续集成用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gdb -batch</a:t>
            </a:r>
            <a:r>
              <a:rPr sz="1500" b="0">
                <a:solidFill>
                  <a:srgbClr val="202020"/>
                </a:solidFill>
              </a:rPr>
              <a:t> 调一段带断点的 C 程序，逐项校验输出：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命中断点，打印调用栈回溯（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#0 hello_world</a:t>
            </a:r>
            <a:r>
              <a:rPr sz="1500" b="0">
                <a:solidFill>
                  <a:srgbClr val="202020"/>
                </a:solidFill>
              </a:rPr>
              <a:t> →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#1 … in main</a:t>
            </a:r>
            <a:r>
              <a:rPr sz="1500" b="0">
                <a:solidFill>
                  <a:srgbClr val="202020"/>
                </a:solidFill>
              </a:rPr>
              <a:t>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打印并修改变量与内存（读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$1 = 1</a:t>
            </a:r>
            <a:r>
              <a:rPr sz="1500" b="0">
                <a:solidFill>
                  <a:srgbClr val="202020"/>
                </a:solidFill>
              </a:rPr>
              <a:t>、改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*p = 4321</a:t>
            </a:r>
            <a:r>
              <a:rPr sz="1500" b="0">
                <a:solidFill>
                  <a:srgbClr val="202020"/>
                </a:solidFill>
              </a:rPr>
              <a:t>、内存校验通过）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读寄存器（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rip</a:t>
            </a:r>
            <a:r>
              <a:rPr sz="1500" b="0">
                <a:solidFill>
                  <a:srgbClr val="202020"/>
                </a:solidFill>
              </a:rPr>
              <a:t>、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rsp</a:t>
            </a:r>
            <a:r>
              <a:rPr sz="1500" b="0">
                <a:solidFill>
                  <a:srgbClr val="202020"/>
                </a:solidFill>
              </a:rPr>
              <a:t>），继续运行得到正确输出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全程</a:t>
            </a:r>
            <a:r>
              <a:rPr sz="1500" b="1">
                <a:solidFill>
                  <a:srgbClr val="202020"/>
                </a:solidFill>
              </a:rPr>
              <a:t>无任何 GDB warning</a:t>
            </a:r>
            <a:r>
              <a:rPr sz="1500" b="0">
                <a:solidFill>
                  <a:srgbClr val="202020"/>
                </a:solidFill>
              </a:rPr>
              <a:t>——说明寄存器/段 ABI 已对齐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strace</a:t>
            </a:r>
            <a:r>
              <a:rPr sz="1500" b="0">
                <a:solidFill>
                  <a:srgbClr val="202020"/>
                </a:solidFill>
              </a:rPr>
              <a:t>：持续集成运行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strace ls /tmp</a:t>
            </a:r>
            <a:r>
              <a:rPr sz="1500" b="0">
                <a:solidFill>
                  <a:srgbClr val="202020"/>
                </a:solidFill>
              </a:rPr>
              <a:t>，校验完整抓到系统调用序列（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execve()</a:t>
            </a:r>
            <a:r>
              <a:rPr sz="1500" b="0">
                <a:solidFill>
                  <a:srgbClr val="202020"/>
                </a:solidFill>
              </a:rPr>
              <a:t>、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getdents64()</a:t>
            </a:r>
            <a:r>
              <a:rPr sz="1500" b="0">
                <a:solidFill>
                  <a:srgbClr val="202020"/>
                </a:solidFill>
              </a:rPr>
              <a:t> 等）。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>
                <a:solidFill>
                  <a:srgbClr val="606060"/>
                </a:solidFill>
              </a:rPr>
              <a:t>相关能力已随 Asterinas 0.18.0 正式发布（发布链接 / commit 待补）。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3.2 测试与验证方案</a:t>
            </a:r>
          </a:p>
        </p:txBody>
      </p:sp>
      <p:pic>
        <p:nvPicPr>
          <p:cNvPr id="3" name="Picture 2" descr="12_test_pyra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627" y="1783080"/>
            <a:ext cx="3097705" cy="20848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验证体系按代码自底向上分四层（金字塔：越往上越少、越慢、价值越高）：</a:t>
            </a: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简单回归测试</a:t>
            </a:r>
            <a:r>
              <a:rPr sz="1300" b="0">
                <a:solidFill>
                  <a:srgbClr val="202020"/>
                </a:solidFill>
              </a:rPr>
              <a:t>：pid_mem、ptrace、set_options、read_write_regs、yama 等单点 C 用例。</a:t>
            </a: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复杂回归测试</a:t>
            </a:r>
            <a:r>
              <a:rPr sz="1300" b="0">
                <a:solidFill>
                  <a:srgbClr val="202020"/>
                </a:solidFill>
              </a:rPr>
              <a:t>：手写 debugger / debuggee 配对，模拟真实调试器的 attach、断点、单步、读写全流程。</a:t>
            </a: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一致性测试</a:t>
            </a:r>
            <a:r>
              <a:rPr sz="1300" b="0">
                <a:solidFill>
                  <a:srgbClr val="202020"/>
                </a:solidFill>
              </a:rPr>
              <a:t>：gVisor ptrace_test / proc_test 与 LTP，以 ABI 行为为准。</a:t>
            </a: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端到端测试</a:t>
            </a:r>
            <a:r>
              <a:rPr sz="1300" b="0">
                <a:solidFill>
                  <a:srgbClr val="202020"/>
                </a:solidFill>
              </a:rPr>
              <a:t>：NixOS 上以真实 GDB、strace 验收。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3.3 实现中的细节打磨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241280" cy="44805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主线特性之外，还有一批小而必要的支撑改动（小 PR），它们决定了真实工具能否真正跑通：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/proc/pid/mem force-write</a:t>
            </a:r>
            <a:r>
              <a:rPr sz="1500" b="0">
                <a:solidFill>
                  <a:srgbClr val="202020"/>
                </a:solidFill>
              </a:rPr>
              <a:t>：允许写入只读代码页——这是写入 int3 软件断点的前提。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x86 GDT 插入空 KCODE32 槽</a:t>
            </a:r>
            <a:r>
              <a:rPr sz="1500" b="0">
                <a:solidFill>
                  <a:srgbClr val="202020"/>
                </a:solidFill>
              </a:rPr>
              <a:t>：把 USER_CS / USER_SS 调成 Linux 期望的 0x33 / 0x2b，消除 GDB 警告。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debug registers 读仿真 + personality 行为</a:t>
            </a:r>
            <a:r>
              <a:rPr sz="1500" b="0">
                <a:solidFill>
                  <a:srgbClr val="202020"/>
                </a:solidFill>
              </a:rPr>
              <a:t>：满足 GDB 的探测，又不放开硬件断点。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procfs 补全</a:t>
            </a:r>
            <a:r>
              <a:rPr sz="1500" b="0">
                <a:solidFill>
                  <a:srgbClr val="202020"/>
                </a:solidFill>
              </a:rPr>
              <a:t>：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/proc/[pid]/maps</a:t>
            </a:r>
            <a:r>
              <a:rPr sz="1500" b="0">
                <a:solidFill>
                  <a:srgbClr val="202020"/>
                </a:solidFill>
              </a:rPr>
              <a:t> 补全非 [stack] 条目以定位代码/库映射；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/proc/pid/auxv</a:t>
            </a:r>
            <a:r>
              <a:rPr sz="1500" b="0">
                <a:solidFill>
                  <a:srgbClr val="202020"/>
                </a:solidFill>
              </a:rPr>
              <a:t> 暴露辅助向量；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/proc/[tid]</a:t>
            </a:r>
            <a:r>
              <a:rPr sz="1500" b="0">
                <a:solidFill>
                  <a:srgbClr val="202020"/>
                </a:solidFill>
              </a:rPr>
              <a:t> 提供每线程视图。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tkill 系统调用与 Yama ptrace_scope</a:t>
            </a:r>
            <a:r>
              <a:rPr sz="1500" b="0">
                <a:solidFill>
                  <a:srgbClr val="202020"/>
                </a:solidFill>
              </a:rPr>
              <a:t>：补齐定向信号投递与调试安全边界。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4400" b="1">
                <a:solidFill>
                  <a:srgbClr val="A00016"/>
                </a:solidFill>
              </a:rPr>
              <a:t>PART 4　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9669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800" b="0">
                <a:solidFill>
                  <a:srgbClr val="606060"/>
                </a:solidFill>
              </a:rPr>
              <a:t>成果回顾与后续方向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568" y="3611880"/>
            <a:ext cx="2194560" cy="38100"/>
          </a:xfrm>
          <a:prstGeom prst="rect">
            <a:avLst/>
          </a:prstGeom>
          <a:solidFill>
            <a:srgbClr val="A0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932688"/>
            <a:ext cx="1024128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400" b="1">
                <a:solidFill>
                  <a:srgbClr val="A00016"/>
                </a:solidFill>
              </a:rPr>
              <a:t>4.1 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241280" cy="44805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设计核心</a:t>
            </a:r>
            <a:r>
              <a:rPr sz="1500" b="0">
                <a:solidFill>
                  <a:srgbClr val="202020"/>
                </a:solidFill>
              </a:rPr>
              <a:t>　以 </a:t>
            </a:r>
            <a:r>
              <a:rPr sz="1500" b="1">
                <a:solidFill>
                  <a:srgbClr val="202020"/>
                </a:solidFill>
              </a:rPr>
              <a:t>ptrace-stop 状态机</a:t>
            </a:r>
            <a:r>
              <a:rPr sz="1500" b="0">
                <a:solidFill>
                  <a:srgbClr val="202020"/>
                </a:solidFill>
              </a:rPr>
              <a:t>为中心，把信号、异常、系统调用、wait、寄存器、跨进程内存、安全策略统一到一条 </a:t>
            </a:r>
            <a:r>
              <a:rPr sz="1500" b="1">
                <a:solidFill>
                  <a:srgbClr val="202020"/>
                </a:solidFill>
              </a:rPr>
              <a:t>Linux ABI 兼容</a:t>
            </a:r>
            <a:r>
              <a:rPr sz="1500" b="0">
                <a:solidFill>
                  <a:srgbClr val="202020"/>
                </a:solidFill>
              </a:rPr>
              <a:t>的调试路径。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项目价值</a:t>
            </a:r>
            <a:r>
              <a:rPr sz="1500" b="0">
                <a:solidFill>
                  <a:srgbClr val="202020"/>
                </a:solidFill>
              </a:rPr>
              <a:t>　不止「能跑 GDB」——更为 RustOS 建立了</a:t>
            </a:r>
            <a:r>
              <a:rPr sz="1500" b="1">
                <a:solidFill>
                  <a:srgbClr val="202020"/>
                </a:solidFill>
              </a:rPr>
              <a:t>跨越多个内核子系统的调试能力骨架</a:t>
            </a:r>
            <a:r>
              <a:rPr sz="1500" b="0">
                <a:solidFill>
                  <a:srgbClr val="202020"/>
                </a:solidFill>
              </a:rPr>
              <a:t>，同时成为检验进程、内存、信号与安全模型正确性的</a:t>
            </a:r>
            <a:r>
              <a:rPr sz="1500" b="1">
                <a:solidFill>
                  <a:srgbClr val="202020"/>
                </a:solidFill>
              </a:rPr>
              <a:t>综合压力测试入口</a:t>
            </a:r>
            <a:r>
              <a:rPr sz="1500" b="0">
                <a:solidFill>
                  <a:srgbClr val="202020"/>
                </a:solidFill>
              </a:rPr>
              <a:t>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后续方向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中途调试已运行进程：支持 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PTRACE_ATTACH / DETACH</a:t>
            </a:r>
            <a:r>
              <a:rPr sz="1500" b="0">
                <a:solidFill>
                  <a:srgbClr val="202020"/>
                </a:solidFill>
              </a:rPr>
              <a:t>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调试多线程进程：fork/vfork/clone 的 event-stop。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支持 GDB watchpoint 观察点：x86 debug registers 真实读写。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寄存器扩展：</a:t>
            </a:r>
            <a:r>
              <a:rPr sz="1500" b="0">
                <a:solidFill>
                  <a:srgbClr val="A00016"/>
                </a:solidFill>
                <a:latin typeface="Menlo"/>
                <a:cs typeface="Menlo"/>
              </a:rPr>
              <a:t>GETREGSET</a:t>
            </a:r>
            <a:r>
              <a:rPr sz="1500" b="0">
                <a:solidFill>
                  <a:srgbClr val="202020"/>
                </a:solidFill>
              </a:rPr>
              <a:t>、FP/SIMD。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跨架构推广：riscv64 / loongarch64。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6696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4000" b="1">
                <a:solidFill>
                  <a:srgbClr val="A00016"/>
                </a:solidFill>
              </a:rPr>
              <a:t>谢谢！　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10015</Words>
  <Application>WPS 演示</Application>
  <PresentationFormat>宽屏</PresentationFormat>
  <Paragraphs>1051</Paragraphs>
  <Slides>31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66" baseType="lpstr">
      <vt:lpstr>Arial</vt:lpstr>
      <vt:lpstr>宋体</vt:lpstr>
      <vt:lpstr>Wingdings</vt:lpstr>
      <vt:lpstr>方正大标宋简体</vt:lpstr>
      <vt:lpstr>微软雅黑</vt:lpstr>
      <vt:lpstr>方正小标宋简体</vt:lpstr>
      <vt:lpstr>微软雅黑 Light</vt:lpstr>
      <vt:lpstr>方正中等线简体</vt:lpstr>
      <vt:lpstr>Arial Black</vt:lpstr>
      <vt:lpstr>EB Garamond ExtraBold</vt:lpstr>
      <vt:lpstr>Garamond</vt:lpstr>
      <vt:lpstr>思源黑体 CN Heavy</vt:lpstr>
      <vt:lpstr>方正正中黑简体</vt:lpstr>
      <vt:lpstr>思源黑体 CN Bold</vt:lpstr>
      <vt:lpstr>等线</vt:lpstr>
      <vt:lpstr>方正楷体简体</vt:lpstr>
      <vt:lpstr>思源黑体 Bold</vt:lpstr>
      <vt:lpstr>方正书宋简体</vt:lpstr>
      <vt:lpstr>思源黑体</vt:lpstr>
      <vt:lpstr>Arial Unicode MS</vt:lpstr>
      <vt:lpstr>等线 Light</vt:lpstr>
      <vt:lpstr>KSOF10C3A506</vt:lpstr>
      <vt:lpstr>Segoe Print</vt:lpstr>
      <vt:lpstr>思源黑体 2</vt:lpstr>
      <vt:lpstr>方正粗宋简体</vt:lpstr>
      <vt:lpstr>思源黑体 1 Bold</vt:lpstr>
      <vt:lpstr>黑体</vt:lpstr>
      <vt:lpstr>KSOF615CD7A2</vt:lpstr>
      <vt:lpstr>微软雅黑</vt:lpstr>
      <vt:lpstr>KSOFCE745A90</vt:lpstr>
      <vt:lpstr>Consolas</vt:lpstr>
      <vt:lpstr>Consolas</vt:lpstr>
      <vt:lpstr>Consolas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陈沛羽_深圳研院</dc:creator>
  <cp:lastModifiedBy>范心怡</cp:lastModifiedBy>
  <cp:revision>17</cp:revision>
  <dcterms:created xsi:type="dcterms:W3CDTF">2025-12-03T04:45:00Z</dcterms:created>
  <dcterms:modified xsi:type="dcterms:W3CDTF">2026-06-13T15:49:59Z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8B28768629894ACA8202718EE72CF5A8_12</vt:lpwstr>
  </property>
</Properties>
</file>