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mp4" ContentType="video/mp4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  <p:sldMasterId id="2147483660" r:id="rId3"/>
  </p:sldMasterIdLst>
  <p:notesMasterIdLst>
    <p:notesMasterId r:id="rId25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B0012"/>
    <a:srgbClr val="F2D2D2"/>
    <a:srgbClr val="AE8585"/>
    <a:srgbClr val="DFC3C2"/>
    <a:srgbClr val="E6E6E6"/>
    <a:srgbClr val="DEE2E6"/>
    <a:srgbClr val="8A8D8F"/>
    <a:srgbClr val="384600"/>
    <a:srgbClr val="87674F"/>
    <a:srgbClr val="3D63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458" autoAdjust="0"/>
    <p:restoredTop sz="93846" autoAdjust="0"/>
  </p:normalViewPr>
  <p:slideViewPr>
    <p:cSldViewPr snapToGrid="0">
      <p:cViewPr>
        <p:scale>
          <a:sx n="44" d="100"/>
          <a:sy n="44" d="100"/>
        </p:scale>
        <p:origin x="564" y="4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slide" Target="slides/slide1.xml"/><Relationship Id="rId3" Type="http://schemas.openxmlformats.org/officeDocument/2006/relationships/slideMaster" Target="slideMasters/slideMaster2.xml"/><Relationship Id="rId28" Type="http://schemas.openxmlformats.org/officeDocument/2006/relationships/tableStyles" Target="tableStyles.xml"/><Relationship Id="rId27" Type="http://schemas.openxmlformats.org/officeDocument/2006/relationships/viewProps" Target="viewProps.xml"/><Relationship Id="rId26" Type="http://schemas.openxmlformats.org/officeDocument/2006/relationships/presProps" Target="presProps.xml"/><Relationship Id="rId25" Type="http://schemas.openxmlformats.org/officeDocument/2006/relationships/notesMaster" Target="notesMasters/notesMaster1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D9E9746-BB1D-419B-A6DD-5EE22E0D79E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2DF304A-327D-4195-A1A1-851EA2BD1FCA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BDD4EF-579F-46EB-BF66-139DDED1F3A7}" type="datetime1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期刊</a:t>
            </a:r>
            <a:r>
              <a:rPr lang="en-US" altLang="zh-CN"/>
              <a:t>-</a:t>
            </a:r>
            <a:r>
              <a:rPr lang="zh-CN" altLang="en-US"/>
              <a:t>年份</a:t>
            </a:r>
            <a:r>
              <a:rPr lang="en-US" altLang="zh-CN"/>
              <a:t>-</a:t>
            </a:r>
            <a:r>
              <a:rPr lang="zh-CN" altLang="en-US"/>
              <a:t>卷号</a:t>
            </a:r>
            <a:r>
              <a:rPr lang="en-US" altLang="zh-CN"/>
              <a:t>-</a:t>
            </a:r>
            <a:r>
              <a:rPr lang="zh-CN" altLang="en-US"/>
              <a:t>页码</a:t>
            </a: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D7AFB-0678-4F00-A82A-55CF581FFA0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A6778-4507-47EF-96C7-987F9C869216}" type="datetime1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期刊</a:t>
            </a:r>
            <a:r>
              <a:rPr lang="en-US" altLang="zh-CN"/>
              <a:t>-</a:t>
            </a:r>
            <a:r>
              <a:rPr lang="zh-CN" altLang="en-US"/>
              <a:t>年份</a:t>
            </a:r>
            <a:r>
              <a:rPr lang="en-US" altLang="zh-CN"/>
              <a:t>-</a:t>
            </a:r>
            <a:r>
              <a:rPr lang="zh-CN" altLang="en-US"/>
              <a:t>卷号</a:t>
            </a:r>
            <a:r>
              <a:rPr lang="en-US" altLang="zh-CN"/>
              <a:t>-</a:t>
            </a:r>
            <a:r>
              <a:rPr lang="zh-CN" altLang="en-US"/>
              <a:t>页码</a:t>
            </a: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D7AFB-0678-4F00-A82A-55CF581FFA0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594A38-03E6-4848-9DF1-4517706B3426}" type="datetime1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期刊</a:t>
            </a:r>
            <a:r>
              <a:rPr lang="en-US" altLang="zh-CN"/>
              <a:t>-</a:t>
            </a:r>
            <a:r>
              <a:rPr lang="zh-CN" altLang="en-US"/>
              <a:t>年份</a:t>
            </a:r>
            <a:r>
              <a:rPr lang="en-US" altLang="zh-CN"/>
              <a:t>-</a:t>
            </a:r>
            <a:r>
              <a:rPr lang="zh-CN" altLang="en-US"/>
              <a:t>卷号</a:t>
            </a:r>
            <a:r>
              <a:rPr lang="en-US" altLang="zh-CN"/>
              <a:t>-</a:t>
            </a:r>
            <a:r>
              <a:rPr lang="zh-CN" altLang="en-US"/>
              <a:t>页码</a:t>
            </a: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D7AFB-0678-4F00-A82A-55CF581FFA0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3EA783-A948-4910-9AA6-2010E4B004AA}" type="datetime1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期刊</a:t>
            </a:r>
            <a:r>
              <a:rPr lang="en-US" altLang="zh-CN"/>
              <a:t>-</a:t>
            </a:r>
            <a:r>
              <a:rPr lang="zh-CN" altLang="en-US"/>
              <a:t>年份</a:t>
            </a:r>
            <a:r>
              <a:rPr lang="en-US" altLang="zh-CN"/>
              <a:t>-</a:t>
            </a:r>
            <a:r>
              <a:rPr lang="zh-CN" altLang="en-US"/>
              <a:t>卷号</a:t>
            </a:r>
            <a:r>
              <a:rPr lang="en-US" altLang="zh-CN"/>
              <a:t>-</a:t>
            </a:r>
            <a:r>
              <a:rPr lang="zh-CN" altLang="en-US"/>
              <a:t>页码</a:t>
            </a:r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D7AFB-0678-4F00-A82A-55CF581FFA0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B0021F-D06D-45E9-BB31-8F3789D36735}" type="datetime1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期刊</a:t>
            </a:r>
            <a:r>
              <a:rPr lang="en-US" altLang="zh-CN"/>
              <a:t>-</a:t>
            </a:r>
            <a:r>
              <a:rPr lang="zh-CN" altLang="en-US"/>
              <a:t>年份</a:t>
            </a:r>
            <a:r>
              <a:rPr lang="en-US" altLang="zh-CN"/>
              <a:t>-</a:t>
            </a:r>
            <a:r>
              <a:rPr lang="zh-CN" altLang="en-US"/>
              <a:t>卷号</a:t>
            </a:r>
            <a:r>
              <a:rPr lang="en-US" altLang="zh-CN"/>
              <a:t>-</a:t>
            </a:r>
            <a:r>
              <a:rPr lang="zh-CN" altLang="en-US"/>
              <a:t>页码</a:t>
            </a:r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D7AFB-0678-4F00-A82A-55CF581FFA0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3D1830-0344-4C9F-ACE2-4B2503039215}" type="datetime1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期刊</a:t>
            </a:r>
            <a:r>
              <a:rPr lang="en-US" altLang="zh-CN"/>
              <a:t>-</a:t>
            </a:r>
            <a:r>
              <a:rPr lang="zh-CN" altLang="en-US"/>
              <a:t>年份</a:t>
            </a:r>
            <a:r>
              <a:rPr lang="en-US" altLang="zh-CN"/>
              <a:t>-</a:t>
            </a:r>
            <a:r>
              <a:rPr lang="zh-CN" altLang="en-US"/>
              <a:t>卷号</a:t>
            </a:r>
            <a:r>
              <a:rPr lang="en-US" altLang="zh-CN"/>
              <a:t>-</a:t>
            </a:r>
            <a:r>
              <a:rPr lang="zh-CN" altLang="en-US"/>
              <a:t>页码</a:t>
            </a:r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D7AFB-0678-4F00-A82A-55CF581FFA0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6AFFB4-E3EF-470B-984C-AEB6EC8B8CDC}" type="datetime1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期刊</a:t>
            </a:r>
            <a:r>
              <a:rPr lang="en-US" altLang="zh-CN"/>
              <a:t>-</a:t>
            </a:r>
            <a:r>
              <a:rPr lang="zh-CN" altLang="en-US"/>
              <a:t>年份</a:t>
            </a:r>
            <a:r>
              <a:rPr lang="en-US" altLang="zh-CN"/>
              <a:t>-</a:t>
            </a:r>
            <a:r>
              <a:rPr lang="zh-CN" altLang="en-US"/>
              <a:t>卷号</a:t>
            </a:r>
            <a:r>
              <a:rPr lang="en-US" altLang="zh-CN"/>
              <a:t>-</a:t>
            </a:r>
            <a:r>
              <a:rPr lang="zh-CN" altLang="en-US"/>
              <a:t>页码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D7AFB-0678-4F00-A82A-55CF581FFA0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868C06-FE1E-416E-8196-F6537F542E86}" type="datetime1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期刊</a:t>
            </a:r>
            <a:r>
              <a:rPr lang="en-US" altLang="zh-CN"/>
              <a:t>-</a:t>
            </a:r>
            <a:r>
              <a:rPr lang="zh-CN" altLang="en-US"/>
              <a:t>年份</a:t>
            </a:r>
            <a:r>
              <a:rPr lang="en-US" altLang="zh-CN"/>
              <a:t>-</a:t>
            </a:r>
            <a:r>
              <a:rPr lang="zh-CN" altLang="en-US"/>
              <a:t>卷号</a:t>
            </a:r>
            <a:r>
              <a:rPr lang="en-US" altLang="zh-CN"/>
              <a:t>-</a:t>
            </a:r>
            <a:r>
              <a:rPr lang="zh-CN" altLang="en-US"/>
              <a:t>页码</a:t>
            </a:r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D7AFB-0678-4F00-A82A-55CF581FFA0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C207DE-9B4B-416A-A22A-9E1884ACA44B}" type="datetime1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期刊</a:t>
            </a:r>
            <a:r>
              <a:rPr lang="en-US" altLang="zh-CN"/>
              <a:t>-</a:t>
            </a:r>
            <a:r>
              <a:rPr lang="zh-CN" altLang="en-US"/>
              <a:t>年份</a:t>
            </a:r>
            <a:r>
              <a:rPr lang="en-US" altLang="zh-CN"/>
              <a:t>-</a:t>
            </a:r>
            <a:r>
              <a:rPr lang="zh-CN" altLang="en-US"/>
              <a:t>卷号</a:t>
            </a:r>
            <a:r>
              <a:rPr lang="en-US" altLang="zh-CN"/>
              <a:t>-</a:t>
            </a:r>
            <a:r>
              <a:rPr lang="zh-CN" altLang="en-US"/>
              <a:t>页码</a:t>
            </a:r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D7AFB-0678-4F00-A82A-55CF581FFA0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538D1-D93D-40C6-A058-B35BB160CBC5}" type="datetime1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期刊</a:t>
            </a:r>
            <a:r>
              <a:rPr lang="en-US" altLang="zh-CN"/>
              <a:t>-</a:t>
            </a:r>
            <a:r>
              <a:rPr lang="zh-CN" altLang="en-US"/>
              <a:t>年份</a:t>
            </a:r>
            <a:r>
              <a:rPr lang="en-US" altLang="zh-CN"/>
              <a:t>-</a:t>
            </a:r>
            <a:r>
              <a:rPr lang="zh-CN" altLang="en-US"/>
              <a:t>卷号</a:t>
            </a:r>
            <a:r>
              <a:rPr lang="en-US" altLang="zh-CN"/>
              <a:t>-</a:t>
            </a:r>
            <a:r>
              <a:rPr lang="zh-CN" altLang="en-US"/>
              <a:t>页码</a:t>
            </a: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D7AFB-0678-4F00-A82A-55CF581FFA0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D795BD-6817-4FBF-BD9B-612C7DA0BD38}" type="datetime1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期刊</a:t>
            </a:r>
            <a:r>
              <a:rPr lang="en-US" altLang="zh-CN"/>
              <a:t>-</a:t>
            </a:r>
            <a:r>
              <a:rPr lang="zh-CN" altLang="en-US"/>
              <a:t>年份</a:t>
            </a:r>
            <a:r>
              <a:rPr lang="en-US" altLang="zh-CN"/>
              <a:t>-</a:t>
            </a:r>
            <a:r>
              <a:rPr lang="zh-CN" altLang="en-US"/>
              <a:t>卷号</a:t>
            </a:r>
            <a:r>
              <a:rPr lang="en-US" altLang="zh-CN"/>
              <a:t>-</a:t>
            </a:r>
            <a:r>
              <a:rPr lang="zh-CN" altLang="en-US"/>
              <a:t>页码</a:t>
            </a: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D7AFB-0678-4F00-A82A-55CF581FFA0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BDD4EF-579F-46EB-BF66-139DDED1F3A7}" type="datetime1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期刊</a:t>
            </a:r>
            <a:r>
              <a:rPr lang="en-US" altLang="zh-CN"/>
              <a:t>-</a:t>
            </a:r>
            <a:r>
              <a:rPr lang="zh-CN" altLang="en-US"/>
              <a:t>年份</a:t>
            </a:r>
            <a:r>
              <a:rPr lang="en-US" altLang="zh-CN"/>
              <a:t>-</a:t>
            </a:r>
            <a:r>
              <a:rPr lang="zh-CN" altLang="en-US"/>
              <a:t>卷号</a:t>
            </a:r>
            <a:r>
              <a:rPr lang="en-US" altLang="zh-CN"/>
              <a:t>-</a:t>
            </a:r>
            <a:r>
              <a:rPr lang="zh-CN" altLang="en-US"/>
              <a:t>页码</a:t>
            </a: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D7AFB-0678-4F00-A82A-55CF581FFA0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A6778-4507-47EF-96C7-987F9C869216}" type="datetime1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期刊</a:t>
            </a:r>
            <a:r>
              <a:rPr lang="en-US" altLang="zh-CN"/>
              <a:t>-</a:t>
            </a:r>
            <a:r>
              <a:rPr lang="zh-CN" altLang="en-US"/>
              <a:t>年份</a:t>
            </a:r>
            <a:r>
              <a:rPr lang="en-US" altLang="zh-CN"/>
              <a:t>-</a:t>
            </a:r>
            <a:r>
              <a:rPr lang="zh-CN" altLang="en-US"/>
              <a:t>卷号</a:t>
            </a:r>
            <a:r>
              <a:rPr lang="en-US" altLang="zh-CN"/>
              <a:t>-</a:t>
            </a:r>
            <a:r>
              <a:rPr lang="zh-CN" altLang="en-US"/>
              <a:t>页码</a:t>
            </a: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D7AFB-0678-4F00-A82A-55CF581FFA0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594A38-03E6-4848-9DF1-4517706B3426}" type="datetime1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期刊</a:t>
            </a:r>
            <a:r>
              <a:rPr lang="en-US" altLang="zh-CN"/>
              <a:t>-</a:t>
            </a:r>
            <a:r>
              <a:rPr lang="zh-CN" altLang="en-US"/>
              <a:t>年份</a:t>
            </a:r>
            <a:r>
              <a:rPr lang="en-US" altLang="zh-CN"/>
              <a:t>-</a:t>
            </a:r>
            <a:r>
              <a:rPr lang="zh-CN" altLang="en-US"/>
              <a:t>卷号</a:t>
            </a:r>
            <a:r>
              <a:rPr lang="en-US" altLang="zh-CN"/>
              <a:t>-</a:t>
            </a:r>
            <a:r>
              <a:rPr lang="zh-CN" altLang="en-US"/>
              <a:t>页码</a:t>
            </a: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D7AFB-0678-4F00-A82A-55CF581FFA0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3EA783-A948-4910-9AA6-2010E4B004AA}" type="datetime1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期刊</a:t>
            </a:r>
            <a:r>
              <a:rPr lang="en-US" altLang="zh-CN"/>
              <a:t>-</a:t>
            </a:r>
            <a:r>
              <a:rPr lang="zh-CN" altLang="en-US"/>
              <a:t>年份</a:t>
            </a:r>
            <a:r>
              <a:rPr lang="en-US" altLang="zh-CN"/>
              <a:t>-</a:t>
            </a:r>
            <a:r>
              <a:rPr lang="zh-CN" altLang="en-US"/>
              <a:t>卷号</a:t>
            </a:r>
            <a:r>
              <a:rPr lang="en-US" altLang="zh-CN"/>
              <a:t>-</a:t>
            </a:r>
            <a:r>
              <a:rPr lang="zh-CN" altLang="en-US"/>
              <a:t>页码</a:t>
            </a:r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D7AFB-0678-4F00-A82A-55CF581FFA0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B0021F-D06D-45E9-BB31-8F3789D36735}" type="datetime1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期刊</a:t>
            </a:r>
            <a:r>
              <a:rPr lang="en-US" altLang="zh-CN"/>
              <a:t>-</a:t>
            </a:r>
            <a:r>
              <a:rPr lang="zh-CN" altLang="en-US"/>
              <a:t>年份</a:t>
            </a:r>
            <a:r>
              <a:rPr lang="en-US" altLang="zh-CN"/>
              <a:t>-</a:t>
            </a:r>
            <a:r>
              <a:rPr lang="zh-CN" altLang="en-US"/>
              <a:t>卷号</a:t>
            </a:r>
            <a:r>
              <a:rPr lang="en-US" altLang="zh-CN"/>
              <a:t>-</a:t>
            </a:r>
            <a:r>
              <a:rPr lang="zh-CN" altLang="en-US"/>
              <a:t>页码</a:t>
            </a:r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D7AFB-0678-4F00-A82A-55CF581FFA0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3D1830-0344-4C9F-ACE2-4B2503039215}" type="datetime1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期刊</a:t>
            </a:r>
            <a:r>
              <a:rPr lang="en-US" altLang="zh-CN"/>
              <a:t>-</a:t>
            </a:r>
            <a:r>
              <a:rPr lang="zh-CN" altLang="en-US"/>
              <a:t>年份</a:t>
            </a:r>
            <a:r>
              <a:rPr lang="en-US" altLang="zh-CN"/>
              <a:t>-</a:t>
            </a:r>
            <a:r>
              <a:rPr lang="zh-CN" altLang="en-US"/>
              <a:t>卷号</a:t>
            </a:r>
            <a:r>
              <a:rPr lang="en-US" altLang="zh-CN"/>
              <a:t>-</a:t>
            </a:r>
            <a:r>
              <a:rPr lang="zh-CN" altLang="en-US"/>
              <a:t>页码</a:t>
            </a:r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D7AFB-0678-4F00-A82A-55CF581FFA0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6AFFB4-E3EF-470B-984C-AEB6EC8B8CDC}" type="datetime1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期刊</a:t>
            </a:r>
            <a:r>
              <a:rPr lang="en-US" altLang="zh-CN"/>
              <a:t>-</a:t>
            </a:r>
            <a:r>
              <a:rPr lang="zh-CN" altLang="en-US"/>
              <a:t>年份</a:t>
            </a:r>
            <a:r>
              <a:rPr lang="en-US" altLang="zh-CN"/>
              <a:t>-</a:t>
            </a:r>
            <a:r>
              <a:rPr lang="zh-CN" altLang="en-US"/>
              <a:t>卷号</a:t>
            </a:r>
            <a:r>
              <a:rPr lang="en-US" altLang="zh-CN"/>
              <a:t>-</a:t>
            </a:r>
            <a:r>
              <a:rPr lang="zh-CN" altLang="en-US"/>
              <a:t>页码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D7AFB-0678-4F00-A82A-55CF581FFA0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868C06-FE1E-416E-8196-F6537F542E86}" type="datetime1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期刊</a:t>
            </a:r>
            <a:r>
              <a:rPr lang="en-US" altLang="zh-CN"/>
              <a:t>-</a:t>
            </a:r>
            <a:r>
              <a:rPr lang="zh-CN" altLang="en-US"/>
              <a:t>年份</a:t>
            </a:r>
            <a:r>
              <a:rPr lang="en-US" altLang="zh-CN"/>
              <a:t>-</a:t>
            </a:r>
            <a:r>
              <a:rPr lang="zh-CN" altLang="en-US"/>
              <a:t>卷号</a:t>
            </a:r>
            <a:r>
              <a:rPr lang="en-US" altLang="zh-CN"/>
              <a:t>-</a:t>
            </a:r>
            <a:r>
              <a:rPr lang="zh-CN" altLang="en-US"/>
              <a:t>页码</a:t>
            </a:r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D7AFB-0678-4F00-A82A-55CF581FFA0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C207DE-9B4B-416A-A22A-9E1884ACA44B}" type="datetime1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期刊</a:t>
            </a:r>
            <a:r>
              <a:rPr lang="en-US" altLang="zh-CN"/>
              <a:t>-</a:t>
            </a:r>
            <a:r>
              <a:rPr lang="zh-CN" altLang="en-US"/>
              <a:t>年份</a:t>
            </a:r>
            <a:r>
              <a:rPr lang="en-US" altLang="zh-CN"/>
              <a:t>-</a:t>
            </a:r>
            <a:r>
              <a:rPr lang="zh-CN" altLang="en-US"/>
              <a:t>卷号</a:t>
            </a:r>
            <a:r>
              <a:rPr lang="en-US" altLang="zh-CN"/>
              <a:t>-</a:t>
            </a:r>
            <a:r>
              <a:rPr lang="zh-CN" altLang="en-US"/>
              <a:t>页码</a:t>
            </a:r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D7AFB-0678-4F00-A82A-55CF581FFA0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0538D1-D93D-40C6-A058-B35BB160CBC5}" type="datetime1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期刊</a:t>
            </a:r>
            <a:r>
              <a:rPr lang="en-US" altLang="zh-CN"/>
              <a:t>-</a:t>
            </a:r>
            <a:r>
              <a:rPr lang="zh-CN" altLang="en-US"/>
              <a:t>年份</a:t>
            </a:r>
            <a:r>
              <a:rPr lang="en-US" altLang="zh-CN"/>
              <a:t>-</a:t>
            </a:r>
            <a:r>
              <a:rPr lang="zh-CN" altLang="en-US"/>
              <a:t>卷号</a:t>
            </a:r>
            <a:r>
              <a:rPr lang="en-US" altLang="zh-CN"/>
              <a:t>-</a:t>
            </a:r>
            <a:r>
              <a:rPr lang="zh-CN" altLang="en-US"/>
              <a:t>页码</a:t>
            </a: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D7AFB-0678-4F00-A82A-55CF581FFA0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D795BD-6817-4FBF-BD9B-612C7DA0BD38}" type="datetime1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期刊</a:t>
            </a:r>
            <a:r>
              <a:rPr lang="en-US" altLang="zh-CN"/>
              <a:t>-</a:t>
            </a:r>
            <a:r>
              <a:rPr lang="zh-CN" altLang="en-US"/>
              <a:t>年份</a:t>
            </a:r>
            <a:r>
              <a:rPr lang="en-US" altLang="zh-CN"/>
              <a:t>-</a:t>
            </a:r>
            <a:r>
              <a:rPr lang="zh-CN" altLang="en-US"/>
              <a:t>卷号</a:t>
            </a:r>
            <a:r>
              <a:rPr lang="en-US" altLang="zh-CN"/>
              <a:t>-</a:t>
            </a:r>
            <a:r>
              <a:rPr lang="zh-CN" altLang="en-US"/>
              <a:t>页码</a:t>
            </a: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D7AFB-0678-4F00-A82A-55CF581FFA0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0.xml"/><Relationship Id="rId8" Type="http://schemas.openxmlformats.org/officeDocument/2006/relationships/slideLayout" Target="../slideLayouts/slideLayout19.xml"/><Relationship Id="rId7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3.xml"/><Relationship Id="rId12" Type="http://schemas.openxmlformats.org/officeDocument/2006/relationships/theme" Target="../theme/theme2.xml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075F846-4F30-4005-979D-CFB5E495259B}" type="datetime1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zh-CN" altLang="en-US"/>
              <a:t>期刊</a:t>
            </a:r>
            <a:r>
              <a:rPr lang="en-US" altLang="zh-CN"/>
              <a:t>-</a:t>
            </a:r>
            <a:r>
              <a:rPr lang="zh-CN" altLang="en-US"/>
              <a:t>年份</a:t>
            </a:r>
            <a:r>
              <a:rPr lang="en-US" altLang="zh-CN"/>
              <a:t>-</a:t>
            </a:r>
            <a:r>
              <a:rPr lang="zh-CN" altLang="en-US"/>
              <a:t>卷号</a:t>
            </a:r>
            <a:r>
              <a:rPr lang="en-US" altLang="zh-CN"/>
              <a:t>-</a:t>
            </a:r>
            <a:r>
              <a:rPr lang="zh-CN" altLang="en-US"/>
              <a:t>页码</a:t>
            </a: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9D7AFB-0678-4F00-A82A-55CF581FFA00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075F846-4F30-4005-979D-CFB5E495259B}" type="datetime1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zh-CN" altLang="en-US"/>
              <a:t>期刊</a:t>
            </a:r>
            <a:r>
              <a:rPr lang="en-US" altLang="zh-CN"/>
              <a:t>-</a:t>
            </a:r>
            <a:r>
              <a:rPr lang="zh-CN" altLang="en-US"/>
              <a:t>年份</a:t>
            </a:r>
            <a:r>
              <a:rPr lang="en-US" altLang="zh-CN"/>
              <a:t>-</a:t>
            </a:r>
            <a:r>
              <a:rPr lang="zh-CN" altLang="en-US"/>
              <a:t>卷号</a:t>
            </a:r>
            <a:r>
              <a:rPr lang="en-US" altLang="zh-CN"/>
              <a:t>-</a:t>
            </a:r>
            <a:r>
              <a:rPr lang="zh-CN" altLang="en-US"/>
              <a:t>页码</a:t>
            </a: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9D7AFB-0678-4F00-A82A-55CF581FFA00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1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1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7.jpeg"/><Relationship Id="rId2" Type="http://schemas.openxmlformats.org/officeDocument/2006/relationships/image" Target="../media/image6.png"/><Relationship Id="rId1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1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1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1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1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tags" Target="../tags/tag1.xml"/><Relationship Id="rId2" Type="http://schemas.openxmlformats.org/officeDocument/2006/relationships/image" Target="../media/image12.png"/><Relationship Id="rId1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7.xml"/><Relationship Id="rId5" Type="http://schemas.openxmlformats.org/officeDocument/2006/relationships/image" Target="../media/image13.png"/><Relationship Id="rId4" Type="http://schemas.openxmlformats.org/officeDocument/2006/relationships/tags" Target="../tags/tag2.xml"/><Relationship Id="rId3" Type="http://schemas.microsoft.com/office/2007/relationships/media" Target="../media/media1.mp4"/><Relationship Id="rId2" Type="http://schemas.openxmlformats.org/officeDocument/2006/relationships/video" Target="../media/media1.mp4"/><Relationship Id="rId1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1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1417320"/>
            <a:ext cx="9966960" cy="11887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3800" b="1">
                <a:solidFill>
                  <a:srgbClr val="A00016"/>
                </a:solidFill>
              </a:rPr>
              <a:t>面向 RustOS 的进程调试能力构建</a:t>
            </a:r>
            <a:endParaRPr sz="3800" b="1">
              <a:solidFill>
                <a:srgbClr val="A00016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097280" y="2834640"/>
            <a:ext cx="9966960" cy="73152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1900" b="1">
                <a:ln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  <a:alpha val="40000"/>
                    </a:schemeClr>
                  </a:outerShdw>
                </a:effectLst>
              </a:rPr>
              <a:t>在 Asterinas 上原生支持 GDB / strace 的 ptrace 子系统</a:t>
            </a:r>
            <a:endParaRPr sz="1900" b="1">
              <a:ln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  <a:alpha val="40000"/>
                  </a:schemeClr>
                </a:outerShdw>
              </a:effectLst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097280" y="3931920"/>
            <a:ext cx="9966960" cy="16459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ln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  <a:alpha val="40000"/>
                    </a:schemeClr>
                  </a:outerShdw>
                </a:effectLst>
              </a:rPr>
              <a:t>2026 全国大学生计算机系统能力大赛、操作系统设计赛（全国）</a:t>
            </a:r>
            <a:endParaRPr sz="1400" b="0">
              <a:ln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  <a:alpha val="40000"/>
                  </a:schemeClr>
                </a:outerShdw>
              </a:effectLst>
            </a:endParaRPr>
          </a:p>
          <a:p>
            <a:pPr>
              <a:spcAft>
                <a:spcPts val="500"/>
              </a:spcAft>
            </a:pPr>
            <a:r>
              <a:rPr sz="1400" b="0">
                <a:ln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  <a:alpha val="40000"/>
                    </a:schemeClr>
                  </a:outerShdw>
                </a:effectLst>
              </a:rPr>
              <a:t>OS 功能挑战赛道、proj9</a:t>
            </a:r>
            <a:endParaRPr sz="1400" b="0">
              <a:ln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  <a:alpha val="40000"/>
                  </a:schemeClr>
                </a:outerShdw>
              </a:effectLst>
            </a:endParaRPr>
          </a:p>
          <a:p>
            <a:pPr>
              <a:spcAft>
                <a:spcPts val="500"/>
              </a:spcAft>
            </a:pPr>
            <a:r>
              <a:rPr sz="1400" b="0">
                <a:ln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  <a:alpha val="40000"/>
                    </a:schemeClr>
                  </a:outerShdw>
                </a:effectLst>
              </a:rPr>
              <a:t>汇报人 / 日期 / 指导老师</a:t>
            </a:r>
            <a:endParaRPr sz="1400" b="0">
              <a:ln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  <a:alpha val="40000"/>
                  </a:schemeClr>
                </a:outerShdw>
              </a:effectLst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868680"/>
            <a:ext cx="9966960" cy="9144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r>
              <a:rPr sz="4000" b="1">
                <a:solidFill>
                  <a:srgbClr val="A00016"/>
                </a:solidFill>
              </a:rPr>
              <a:t>目  录</a:t>
            </a:r>
            <a:endParaRPr sz="4000" b="1">
              <a:solidFill>
                <a:srgbClr val="A00016"/>
              </a:solidFill>
            </a:endParaRP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280160" y="2194560"/>
          <a:ext cx="96012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3200400"/>
                <a:gridCol w="3200400"/>
              </a:tblGrid>
              <a:tr h="658368">
                <a:tc>
                  <a:txBody>
                    <a:bodyPr/>
                    <a:lstStyle/>
                    <a:p/>
                  </a:txBody>
                  <a:tcPr marL="76200" marR="76200" marT="38100" marB="38100" anchor="ctr">
                    <a:solidFill>
                      <a:srgbClr val="A000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</a:rPr>
                        <a:t>章节</a:t>
                      </a:r>
                      <a:endParaRPr sz="1250" b="1">
                        <a:solidFill>
                          <a:srgbClr val="FFFFFF"/>
                        </a:solidFill>
                      </a:endParaRPr>
                    </a:p>
                  </a:txBody>
                  <a:tcPr marL="76200" marR="76200" marT="38100" marB="38100" anchor="ctr">
                    <a:solidFill>
                      <a:srgbClr val="A000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</a:rPr>
                        <a:t>关键词</a:t>
                      </a:r>
                      <a:endParaRPr sz="1250" b="1">
                        <a:solidFill>
                          <a:srgbClr val="FFFFFF"/>
                        </a:solidFill>
                      </a:endParaRPr>
                    </a:p>
                  </a:txBody>
                  <a:tcPr marL="76200" marR="76200" marT="38100" marB="38100" anchor="ctr">
                    <a:solidFill>
                      <a:srgbClr val="A00016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02020"/>
                          </a:solidFill>
                        </a:rPr>
                        <a:t>PART 1</a:t>
                      </a:r>
                      <a:endParaRPr sz="1250" b="1">
                        <a:solidFill>
                          <a:srgbClr val="202020"/>
                        </a:solidFill>
                      </a:endParaRP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研究背景与目标</a:t>
                      </a:r>
                      <a:endParaRPr sz="1250" b="0">
                        <a:solidFill>
                          <a:srgbClr val="202020"/>
                        </a:solidFill>
                      </a:endParaRP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问题定义、总体目标</a:t>
                      </a:r>
                      <a:endParaRPr sz="1250" b="0">
                        <a:solidFill>
                          <a:srgbClr val="202020"/>
                        </a:solidFill>
                      </a:endParaRP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02020"/>
                          </a:solidFill>
                        </a:rPr>
                        <a:t>PART 2</a:t>
                      </a:r>
                      <a:endParaRPr sz="1250" b="1">
                        <a:solidFill>
                          <a:srgbClr val="202020"/>
                        </a:solidFill>
                      </a:endParaRP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核心设计</a:t>
                      </a:r>
                      <a:endParaRPr sz="1250" b="0">
                        <a:solidFill>
                          <a:srgbClr val="202020"/>
                        </a:solidFill>
                      </a:endParaRP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总体架构、状态机、内存、寄存器、安全</a:t>
                      </a:r>
                      <a:endParaRPr sz="1250" b="0">
                        <a:solidFill>
                          <a:srgbClr val="202020"/>
                        </a:solidFill>
                      </a:endParaRP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02020"/>
                          </a:solidFill>
                        </a:rPr>
                        <a:t>PART 3</a:t>
                      </a:r>
                      <a:endParaRPr sz="1250" b="1">
                        <a:solidFill>
                          <a:srgbClr val="202020"/>
                        </a:solidFill>
                      </a:endParaRP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实现与验证</a:t>
                      </a:r>
                      <a:endParaRPr sz="1250" b="0">
                        <a:solidFill>
                          <a:srgbClr val="202020"/>
                        </a:solidFill>
                      </a:endParaRP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实机演示、测试体系</a:t>
                      </a:r>
                      <a:endParaRPr sz="1250" b="0">
                        <a:solidFill>
                          <a:srgbClr val="202020"/>
                        </a:solidFill>
                      </a:endParaRP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02020"/>
                          </a:solidFill>
                        </a:rPr>
                        <a:t>PART 4</a:t>
                      </a:r>
                      <a:endParaRPr sz="1250" b="1">
                        <a:solidFill>
                          <a:srgbClr val="202020"/>
                        </a:solidFill>
                      </a:endParaRP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总结与展望</a:t>
                      </a:r>
                      <a:endParaRPr sz="1250" b="0">
                        <a:solidFill>
                          <a:srgbClr val="202020"/>
                        </a:solidFill>
                      </a:endParaRP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项目价值、后续方向</a:t>
                      </a:r>
                      <a:endParaRPr sz="1250" b="0">
                        <a:solidFill>
                          <a:srgbClr val="202020"/>
                        </a:solidFill>
                      </a:endParaRP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377440"/>
            <a:ext cx="9966960" cy="12801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4400" b="1">
                <a:solidFill>
                  <a:srgbClr val="A00016"/>
                </a:solidFill>
              </a:rPr>
              <a:t>PART 1　研究背景与目标</a:t>
            </a:r>
            <a:endParaRPr sz="4400" b="1">
              <a:solidFill>
                <a:srgbClr val="A00016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097280" y="3749039"/>
            <a:ext cx="9966960" cy="64008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1800" b="0">
                <a:solidFill>
                  <a:srgbClr val="606060"/>
                </a:solidFill>
              </a:rPr>
              <a:t>用户调试能力构建的背景、意义与目标</a:t>
            </a:r>
            <a:endParaRPr sz="1800" b="0">
              <a:solidFill>
                <a:srgbClr val="606060"/>
              </a:solidFill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1115568" y="3611880"/>
            <a:ext cx="2194560" cy="38100"/>
          </a:xfrm>
          <a:prstGeom prst="rect">
            <a:avLst/>
          </a:prstGeom>
          <a:solidFill>
            <a:srgbClr val="A0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75360" y="1445133"/>
            <a:ext cx="10241280" cy="68580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2400" b="1">
                <a:solidFill>
                  <a:srgbClr val="A00016"/>
                </a:solidFill>
              </a:rPr>
              <a:t>1.1 研究背景与问题定义</a:t>
            </a:r>
            <a:endParaRPr sz="2400" b="1">
              <a:solidFill>
                <a:srgbClr val="A00016"/>
              </a:solidFill>
            </a:endParaRPr>
          </a:p>
        </p:txBody>
      </p:sp>
      <p:pic>
        <p:nvPicPr>
          <p:cNvPr id="3" name="Picture 2" descr="00_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9075" y="1945640"/>
            <a:ext cx="5171440" cy="406336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75360" y="2778125"/>
            <a:ext cx="5490845" cy="28143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202020"/>
                </a:solidFill>
              </a:rPr>
              <a:t>Asterinas 是一个用 Rust 编写、与 Linux ABI 兼容的操作系统内核，能直接运行 Linux 程序，并借助 Rust 框内核架构提升内核可靠性。</a:t>
            </a:r>
            <a:endParaRPr sz="1500" b="0">
              <a:solidFill>
                <a:srgbClr val="202020"/>
              </a:solidFill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202020"/>
                </a:solidFill>
              </a:rPr>
              <a:t>面向开发者的操作系统不能只支持运行应用程序，还要让开发者能调试应用程序。GDB、strace 都依赖内核的 ptrace 机制，提供了良好的实用性。</a:t>
            </a:r>
            <a:endParaRPr sz="1500" b="0">
              <a:solidFill>
                <a:srgbClr val="202020"/>
              </a:solidFill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202020"/>
                </a:solidFill>
              </a:rPr>
              <a:t>难点在于：进程调试不是单个系统调用，而是贯穿进程管理、信号、wait、地址空间、寄存器、安全与 procfs 的完整通路。本项目要在 Asterinas 上，从零构建一套兼容、安全、能正确运行真实调试器的调试子系统。</a:t>
            </a:r>
            <a:endParaRPr sz="1500" b="0">
              <a:solidFill>
                <a:srgbClr val="202020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1090168"/>
            <a:ext cx="10241280" cy="68580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2400" b="1">
                <a:solidFill>
                  <a:srgbClr val="A00016"/>
                </a:solidFill>
              </a:rPr>
              <a:t>1.2 总体目标与对应内核能力</a:t>
            </a:r>
            <a:endParaRPr sz="2400" b="1">
              <a:solidFill>
                <a:srgbClr val="A00016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005840" y="1783080"/>
            <a:ext cx="10241280" cy="704088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202020"/>
                </a:solidFill>
              </a:rPr>
              <a:t>要让开发者能使用 GDB / strace 调试用户程序，内核必须补齐的能力有：</a:t>
            </a:r>
            <a:endParaRPr sz="1500" b="0">
              <a:solidFill>
                <a:srgbClr val="202020"/>
              </a:solidFill>
            </a:endParaRP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05840" y="2596896"/>
          <a:ext cx="10241280" cy="3666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20640"/>
                <a:gridCol w="5120640"/>
              </a:tblGrid>
              <a:tr h="458343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</a:rPr>
                        <a:t>总体目标</a:t>
                      </a:r>
                      <a:endParaRPr sz="1250" b="1">
                        <a:solidFill>
                          <a:srgbClr val="FFFFFF"/>
                        </a:solidFill>
                      </a:endParaRPr>
                    </a:p>
                  </a:txBody>
                  <a:tcPr marL="76200" marR="76200" marT="38100" marB="38100" anchor="ctr">
                    <a:solidFill>
                      <a:srgbClr val="A000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</a:rPr>
                        <a:t>对应内核能力</a:t>
                      </a:r>
                      <a:endParaRPr sz="1250" b="1">
                        <a:solidFill>
                          <a:srgbClr val="FFFFFF"/>
                        </a:solidFill>
                      </a:endParaRPr>
                    </a:p>
                  </a:txBody>
                  <a:tcPr marL="76200" marR="76200" marT="38100" marB="38100" anchor="ctr">
                    <a:solidFill>
                      <a:srgbClr val="A00016"/>
                    </a:solidFill>
                  </a:tcPr>
                </a:tc>
              </a:tr>
              <a:tr h="458343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GDB 调试</a:t>
                      </a:r>
                      <a:endParaRPr sz="1250" b="0">
                        <a:solidFill>
                          <a:srgbClr val="202020"/>
                        </a:solidFill>
                      </a:endParaRP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建立 tracer / tracee 关系，使能 tracee 陷入内核 stop，并等待 tracer wait &amp; resume</a:t>
                      </a:r>
                      <a:endParaRPr sz="1250" b="0">
                        <a:solidFill>
                          <a:srgbClr val="202020"/>
                        </a:solidFill>
                      </a:endParaRP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</a:tr>
              <a:tr h="458343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设置并命中软件断点</a:t>
                      </a:r>
                      <a:endParaRPr sz="1250" b="0">
                        <a:solidFill>
                          <a:srgbClr val="202020"/>
                        </a:solidFill>
                      </a:endParaRP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使能修改只读内存写入 breakpoint，#BP 异常后进入 ptrace-stop</a:t>
                      </a:r>
                      <a:endParaRPr sz="1250" b="0">
                        <a:solidFill>
                          <a:srgbClr val="202020"/>
                        </a:solidFill>
                      </a:endParaRP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</a:tr>
              <a:tr h="458343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读 / 写寄存器</a:t>
                      </a:r>
                      <a:endParaRPr sz="1250" b="0">
                        <a:solidFill>
                          <a:srgbClr val="202020"/>
                        </a:solidFill>
                      </a:endParaRP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tracee stop 时保存 register 现场，按字段规则安全读写</a:t>
                      </a:r>
                      <a:endParaRPr sz="1250" b="0">
                        <a:solidFill>
                          <a:srgbClr val="202020"/>
                        </a:solidFill>
                      </a:endParaRP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</a:tr>
              <a:tr h="458343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读 / 写进程内存</a:t>
                      </a:r>
                      <a:endParaRPr sz="1250" b="0">
                        <a:solidFill>
                          <a:srgbClr val="202020"/>
                        </a:solidFill>
                      </a:endParaRP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跨进程安全读写目标地址空间，必要时主动触发 page fault</a:t>
                      </a:r>
                      <a:endParaRPr sz="1250" b="0">
                        <a:solidFill>
                          <a:srgbClr val="202020"/>
                        </a:solidFill>
                      </a:endParaRP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</a:tr>
              <a:tr h="458343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继续 / 单步</a:t>
                      </a:r>
                      <a:endParaRPr sz="1250" b="0">
                        <a:solidFill>
                          <a:srgbClr val="202020"/>
                        </a:solidFill>
                      </a:endParaRP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resume 继续，按需设置 CPU trap flag (TF) 单步执行</a:t>
                      </a:r>
                      <a:endParaRPr sz="1250" b="0">
                        <a:solidFill>
                          <a:srgbClr val="202020"/>
                        </a:solidFill>
                      </a:endParaRP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</a:tr>
              <a:tr h="458343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strace 跟踪系统调用</a:t>
                      </a:r>
                      <a:endParaRPr sz="1250" b="0">
                        <a:solidFill>
                          <a:srgbClr val="202020"/>
                        </a:solidFill>
                      </a:endParaRP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在每次 syscall entry / exit 进入 ptrace-stop</a:t>
                      </a:r>
                      <a:endParaRPr sz="1250" b="0">
                        <a:solidFill>
                          <a:srgbClr val="202020"/>
                        </a:solidFill>
                      </a:endParaRP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</a:tr>
              <a:tr h="458343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按安全策略限制调试</a:t>
                      </a:r>
                      <a:endParaRPr sz="1250" b="0">
                        <a:solidFill>
                          <a:srgbClr val="202020"/>
                        </a:solidFill>
                      </a:endParaRP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校验 uid/gid、CAP_SYS_PTRACE、Yama，拦截越权 attach</a:t>
                      </a:r>
                      <a:endParaRPr sz="1250" b="0">
                        <a:solidFill>
                          <a:srgbClr val="202020"/>
                        </a:solidFill>
                      </a:endParaRP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377440"/>
            <a:ext cx="9966960" cy="12801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4400" b="1">
                <a:solidFill>
                  <a:srgbClr val="A00016"/>
                </a:solidFill>
              </a:rPr>
              <a:t>PART 2　核心设计</a:t>
            </a:r>
            <a:endParaRPr sz="4400" b="1">
              <a:solidFill>
                <a:srgbClr val="A00016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097280" y="3749039"/>
            <a:ext cx="9966960" cy="64008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1800" b="0">
                <a:solidFill>
                  <a:srgbClr val="606060"/>
                </a:solidFill>
              </a:rPr>
              <a:t>ptrace 子系统的整体架构与关键机制</a:t>
            </a:r>
            <a:endParaRPr sz="1800" b="0">
              <a:solidFill>
                <a:srgbClr val="606060"/>
              </a:solidFill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1115568" y="3611880"/>
            <a:ext cx="2194560" cy="38100"/>
          </a:xfrm>
          <a:prstGeom prst="rect">
            <a:avLst/>
          </a:prstGeom>
          <a:solidFill>
            <a:srgbClr val="A0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1107948"/>
            <a:ext cx="10241280" cy="68580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2400" b="1">
                <a:solidFill>
                  <a:srgbClr val="A00016"/>
                </a:solidFill>
              </a:rPr>
              <a:t>2.1 总体架构：七层调试能力通路</a:t>
            </a:r>
            <a:endParaRPr sz="2400" b="1">
              <a:solidFill>
                <a:srgbClr val="A00016"/>
              </a:solidFill>
            </a:endParaRPr>
          </a:p>
        </p:txBody>
      </p:sp>
      <p:pic>
        <p:nvPicPr>
          <p:cNvPr id="3" name="Picture 2" descr="01_arch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8065" y="1683385"/>
            <a:ext cx="6944360" cy="48831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26490" y="2625090"/>
            <a:ext cx="3343275" cy="3241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202020"/>
                </a:solidFill>
              </a:rPr>
              <a:t>整套调试能力自上而下是一条主干：</a:t>
            </a:r>
            <a:endParaRPr sz="1500" b="0">
              <a:solidFill>
                <a:srgbClr val="202020"/>
              </a:solidFill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202020"/>
                </a:solidFill>
              </a:rPr>
              <a:t>用户工具（GDB/strace）发出请求，经系统调用接口进入内核，先过权限检查鉴权放行，再交给 ptrace 核心状态机。状态机是整个系统的中枢，负责建立关系、进入 ptrace-stop、向 tracer 报告 wait、再 resume 继续，一旦命中新的停止条件就再次回到 stop。围绕这个中枢，向下分出三类能力：跨进程用户空间读写、寄存器上下文快照、以及与 signal/wait/exec/exit/clone 等系统调用的协作。</a:t>
            </a:r>
            <a:endParaRPr sz="1250" b="0">
              <a:solidFill>
                <a:srgbClr val="606060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1069848"/>
            <a:ext cx="10241280" cy="68580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2400" b="1">
                <a:solidFill>
                  <a:srgbClr val="A00016"/>
                </a:solidFill>
              </a:rPr>
              <a:t>2.2 ptrace-stop 主状态机：三类停止统一收敛</a:t>
            </a:r>
            <a:endParaRPr sz="2400" b="1">
              <a:solidFill>
                <a:srgbClr val="A00016"/>
              </a:solidFill>
            </a:endParaRPr>
          </a:p>
        </p:txBody>
      </p:sp>
      <p:pic>
        <p:nvPicPr>
          <p:cNvPr id="3" name="Picture 2" descr="04_state_mach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1255" y="1755775"/>
            <a:ext cx="9507220" cy="363601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05840" y="5201285"/>
            <a:ext cx="10241280" cy="1174115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0">
                <a:solidFill>
                  <a:srgbClr val="202020"/>
                </a:solidFill>
              </a:rPr>
              <a:t>生命周期：未被跟踪 → 建立关系 → </a:t>
            </a:r>
            <a:r>
              <a:rPr sz="1500" b="1">
                <a:solidFill>
                  <a:srgbClr val="202020"/>
                </a:solidFill>
              </a:rPr>
              <a:t>ptrace-stop（保存现场）</a:t>
            </a:r>
            <a:r>
              <a:rPr sz="1500" b="0">
                <a:solidFill>
                  <a:srgbClr val="202020"/>
                </a:solidFill>
              </a:rPr>
              <a:t> → wait 报告 → 恢复运行 → 命中下一次停止条件再回到 stop，或退出清理。</a:t>
            </a:r>
            <a:endParaRPr sz="1500" b="0">
              <a:solidFill>
                <a:srgbClr val="202020"/>
              </a:solidFill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0">
                <a:solidFill>
                  <a:srgbClr val="202020"/>
                </a:solidFill>
              </a:rPr>
              <a:t>三种停止来源（信号停、系统调用停、事件停）</a:t>
            </a:r>
            <a:r>
              <a:rPr sz="1500" b="1">
                <a:solidFill>
                  <a:srgbClr val="202020"/>
                </a:solidFill>
              </a:rPr>
              <a:t>统一收敛到 do_ptrace_stop()</a:t>
            </a:r>
            <a:r>
              <a:rPr sz="1500" b="0">
                <a:solidFill>
                  <a:srgbClr val="202020"/>
                </a:solidFill>
              </a:rPr>
              <a:t>：同一抽象保存现场、记录 wait status、投 </a:t>
            </a:r>
            <a:r>
              <a:rPr sz="1500" b="0">
                <a:solidFill>
                  <a:srgbClr val="A00016"/>
                </a:solidFill>
                <a:latin typeface="Menlo" panose="020B0609030804020204"/>
                <a:cs typeface="Menlo" panose="020B0609030804020204"/>
              </a:rPr>
              <a:t>SIGCHLD</a:t>
            </a:r>
            <a:r>
              <a:rPr sz="1500" b="0">
                <a:solidFill>
                  <a:srgbClr val="202020"/>
                </a:solidFill>
              </a:rPr>
              <a:t>、阻塞 tracee、resume 后回写。</a:t>
            </a:r>
            <a:endParaRPr sz="1500" b="0">
              <a:solidFill>
                <a:srgbClr val="202020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75360" y="1077468"/>
            <a:ext cx="10241280" cy="68580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2400" b="1">
                <a:solidFill>
                  <a:srgbClr val="A00016"/>
                </a:solidFill>
              </a:rPr>
              <a:t>2.3 tracer 与 tracee 如何同步</a:t>
            </a:r>
            <a:endParaRPr sz="2400" b="1">
              <a:solidFill>
                <a:srgbClr val="A00016"/>
              </a:solidFill>
            </a:endParaRPr>
          </a:p>
        </p:txBody>
      </p:sp>
      <p:pic>
        <p:nvPicPr>
          <p:cNvPr id="3" name="Picture 2" descr="04b_sy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595" y="2019300"/>
            <a:ext cx="8434070" cy="41725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852535" y="1763395"/>
            <a:ext cx="3208655" cy="4723765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0">
                <a:solidFill>
                  <a:srgbClr val="202020"/>
                </a:solidFill>
              </a:rPr>
              <a:t>tracer（调试器线程）与 tracee（被调试线程）通过共享结构 TraceeStatus 同步，其中有一个原子标志和一把互斥锁。</a:t>
            </a:r>
            <a:endParaRPr sz="1500" b="0">
              <a:solidFill>
                <a:srgbClr val="202020"/>
              </a:solidFill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endParaRPr sz="1500" b="0">
              <a:solidFill>
                <a:srgbClr val="202020"/>
              </a:solidFill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endParaRPr sz="1500" b="0">
              <a:solidFill>
                <a:srgbClr val="202020"/>
              </a:solidFill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endParaRPr sz="1500" b="0">
              <a:solidFill>
                <a:srgbClr val="202020"/>
              </a:solidFill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endParaRPr sz="1500" b="0">
              <a:solidFill>
                <a:srgbClr val="202020"/>
              </a:solidFill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0">
                <a:solidFill>
                  <a:srgbClr val="202020"/>
                </a:solidFill>
              </a:rPr>
              <a:t>原子标志 is_stopped 是 tracee 是否停在 ptrace-stop 的唯一依据：tracee 停下时置真并挂起，tracer 操作前据此确认其已停止、否则拒绝，恢复执行时置假并唤醒。</a:t>
            </a:r>
            <a:endParaRPr sz="1500" b="0">
              <a:solidFill>
                <a:srgbClr val="202020"/>
              </a:solidFill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0">
                <a:solidFill>
                  <a:srgbClr val="202020"/>
                </a:solidFill>
              </a:rPr>
              <a:t>互斥锁 state 保护现场数据（寄存器快照、待投递信号、事件），两线程读写前都先持锁，避免并发竞争。</a:t>
            </a:r>
            <a:endParaRPr sz="1500" b="0">
              <a:solidFill>
                <a:srgbClr val="202020"/>
              </a:solidFill>
            </a:endParaRPr>
          </a:p>
        </p:txBody>
      </p:sp>
      <p:pic>
        <p:nvPicPr>
          <p:cNvPr id="4" name="Picture 3" descr="20260617-145625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2535" y="3061970"/>
            <a:ext cx="3208655" cy="96202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71855" y="1097153"/>
            <a:ext cx="10241280" cy="68580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2400" b="1">
                <a:solidFill>
                  <a:srgbClr val="A00016"/>
                </a:solidFill>
              </a:rPr>
              <a:t>2.4 跨进程内存访问：在目标进程地址空间里直接读写</a:t>
            </a:r>
            <a:endParaRPr sz="2400" b="1">
              <a:solidFill>
                <a:srgbClr val="A00016"/>
              </a:solidFill>
            </a:endParaRPr>
          </a:p>
        </p:txBody>
      </p:sp>
      <p:pic>
        <p:nvPicPr>
          <p:cNvPr id="3" name="Picture 2" descr="07_mem_ac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8800" y="1783080"/>
            <a:ext cx="7267575" cy="449897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935" y="2919095"/>
            <a:ext cx="3744595" cy="2555875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0">
                <a:solidFill>
                  <a:srgbClr val="A00016"/>
                </a:solidFill>
                <a:latin typeface="Menlo" panose="020B0609030804020204"/>
                <a:cs typeface="Menlo" panose="020B0609030804020204"/>
              </a:rPr>
              <a:t>ptrace PEEK/POKE</a:t>
            </a:r>
            <a:r>
              <a:rPr sz="1500" b="0">
                <a:solidFill>
                  <a:srgbClr val="202020"/>
                </a:solidFill>
              </a:rPr>
              <a:t> 与 </a:t>
            </a:r>
            <a:r>
              <a:rPr sz="1500" b="0">
                <a:solidFill>
                  <a:srgbClr val="A00016"/>
                </a:solidFill>
                <a:latin typeface="Menlo" panose="020B0609030804020204"/>
                <a:cs typeface="Menlo" panose="020B0609030804020204"/>
              </a:rPr>
              <a:t>/proc/&lt;pid&gt;/mem</a:t>
            </a:r>
            <a:r>
              <a:rPr sz="1500" b="0">
                <a:solidFill>
                  <a:srgbClr val="202020"/>
                </a:solidFill>
              </a:rPr>
              <a:t> 走同一套底层读写原语，读写的都是「另一个进程」的内存。</a:t>
            </a:r>
            <a:endParaRPr sz="1500" b="0">
              <a:solidFill>
                <a:srgbClr val="202020"/>
              </a:solidFill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不切换地址空间</a:t>
            </a:r>
            <a:r>
              <a:rPr sz="1500" b="0">
                <a:solidFill>
                  <a:srgbClr val="202020"/>
                </a:solidFill>
              </a:rPr>
              <a:t>：不把 CPU 页表切到目标进程，而是直接在它的地址空间里按页定位到物理页帧并拷贝；遇到缺页就主动触发一次缺页处理再重试。</a:t>
            </a:r>
            <a:endParaRPr sz="1500" b="0">
              <a:solidFill>
                <a:srgbClr val="202020"/>
              </a:solidFill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0">
                <a:solidFill>
                  <a:srgbClr val="202020"/>
                </a:solidFill>
              </a:rPr>
              <a:t>整条跨进程读写都夹在统一的读写接口和权限检查边界内，安全可控。</a:t>
            </a:r>
            <a:endParaRPr sz="1500" b="0">
              <a:solidFill>
                <a:srgbClr val="202020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715" y="1169543"/>
            <a:ext cx="10241280" cy="68580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2400" b="1">
                <a:solidFill>
                  <a:srgbClr val="A00016"/>
                </a:solidFill>
              </a:rPr>
              <a:t>2.5 x86-64 寄存器 ABI：字段级读写策略</a:t>
            </a:r>
            <a:endParaRPr sz="2400" b="1">
              <a:solidFill>
                <a:srgbClr val="A00016"/>
              </a:solidFill>
            </a:endParaRPr>
          </a:p>
        </p:txBody>
      </p:sp>
      <p:pic>
        <p:nvPicPr>
          <p:cNvPr id="3" name="Picture 2" descr="08_register_ab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9630" y="2197100"/>
            <a:ext cx="7086600" cy="411353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715" y="2712085"/>
            <a:ext cx="3690620" cy="333121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快照式访问</a:t>
            </a:r>
            <a:r>
              <a:rPr sz="1500" b="0">
                <a:solidFill>
                  <a:srgbClr val="202020"/>
                </a:solidFill>
              </a:rPr>
              <a:t>：tracee 陷入内核、进入 ptrace-stop 时，持锁把用户寄存器上下文复制成一份寄存器快照；tracer 持锁在快照上按字段修改，tracee 唤醒时再写回——作为 GDB </a:t>
            </a:r>
            <a:r>
              <a:rPr sz="1500" b="0">
                <a:solidFill>
                  <a:srgbClr val="A00016"/>
                </a:solidFill>
                <a:latin typeface="Menlo" panose="020B0609030804020204"/>
                <a:cs typeface="Menlo" panose="020B0609030804020204"/>
              </a:rPr>
              <a:t>info registers</a:t>
            </a:r>
            <a:r>
              <a:rPr sz="1500" b="0">
                <a:solidFill>
                  <a:srgbClr val="202020"/>
                </a:solidFill>
              </a:rPr>
              <a:t> 的 ABI 基础。</a:t>
            </a:r>
            <a:endParaRPr sz="1500" b="0">
              <a:solidFill>
                <a:srgbClr val="202020"/>
              </a:solidFill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按字段分级管控</a:t>
            </a:r>
            <a:r>
              <a:rPr sz="1500" b="0">
                <a:solidFill>
                  <a:srgbClr val="202020"/>
                </a:solidFill>
              </a:rPr>
              <a:t>：</a:t>
            </a:r>
            <a:r>
              <a:rPr sz="1500" b="0">
                <a:solidFill>
                  <a:srgbClr val="A00016"/>
                </a:solidFill>
                <a:latin typeface="Menlo" panose="020B0609030804020204"/>
                <a:cs typeface="Menlo" panose="020B0609030804020204"/>
              </a:rPr>
              <a:t>rax..r15</a:t>
            </a:r>
            <a:r>
              <a:rPr sz="1500" b="0">
                <a:solidFill>
                  <a:srgbClr val="202020"/>
                </a:solidFill>
              </a:rPr>
              <a:t> 由 tracer 自由修改；</a:t>
            </a:r>
            <a:r>
              <a:rPr sz="1500" b="0">
                <a:solidFill>
                  <a:srgbClr val="A00016"/>
                </a:solidFill>
                <a:latin typeface="Menlo" panose="020B0609030804020204"/>
                <a:cs typeface="Menlo" panose="020B0609030804020204"/>
              </a:rPr>
              <a:t>rip/rsp/fs/gsbase</a:t>
            </a:r>
            <a:r>
              <a:rPr sz="1500" b="0">
                <a:solidFill>
                  <a:srgbClr val="202020"/>
                </a:solidFill>
              </a:rPr>
              <a:t> 必须是用户地址；</a:t>
            </a:r>
            <a:r>
              <a:rPr sz="1500" b="0">
                <a:solidFill>
                  <a:srgbClr val="A00016"/>
                </a:solidFill>
                <a:latin typeface="Menlo" panose="020B0609030804020204"/>
                <a:cs typeface="Menlo" panose="020B0609030804020204"/>
              </a:rPr>
              <a:t>rflags</a:t>
            </a:r>
            <a:r>
              <a:rPr sz="1500" b="0">
                <a:solidFill>
                  <a:srgbClr val="202020"/>
                </a:solidFill>
              </a:rPr>
              <a:t> 仅能写用户态可控位；</a:t>
            </a:r>
            <a:r>
              <a:rPr sz="1500" b="0">
                <a:solidFill>
                  <a:srgbClr val="A00016"/>
                </a:solidFill>
                <a:latin typeface="Menlo" panose="020B0609030804020204"/>
                <a:cs typeface="Menlo" panose="020B0609030804020204"/>
              </a:rPr>
              <a:t>cs/ss/ds/es</a:t>
            </a:r>
            <a:r>
              <a:rPr sz="1500" b="0">
                <a:solidFill>
                  <a:srgbClr val="202020"/>
                </a:solidFill>
              </a:rPr>
              <a:t> 段寄存器只读、与 Linux 一致。</a:t>
            </a:r>
            <a:endParaRPr sz="1500" b="0">
              <a:solidFill>
                <a:srgbClr val="202020"/>
              </a:solidFill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0">
                <a:solidFill>
                  <a:srgbClr val="202020"/>
                </a:solidFill>
              </a:rPr>
              <a:t>debug 寄存器目前</a:t>
            </a:r>
            <a:r>
              <a:rPr sz="1500" b="1">
                <a:solidFill>
                  <a:srgbClr val="202020"/>
                </a:solidFill>
              </a:rPr>
              <a:t>只读</a:t>
            </a:r>
            <a:r>
              <a:rPr sz="1500" b="0">
                <a:solidFill>
                  <a:srgbClr val="202020"/>
                </a:solidFill>
              </a:rPr>
              <a:t>——满足 GDB 探测、暂不放开硬件断点，后续再支持写入。</a:t>
            </a:r>
            <a:endParaRPr sz="1500" b="0">
              <a:solidFill>
                <a:srgbClr val="20202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pic>
        <p:nvPicPr>
          <p:cNvPr id="3" name="Picture 2" descr="06_signal_sta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7410" y="1440815"/>
            <a:ext cx="9799320" cy="288671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867410" y="1017778"/>
            <a:ext cx="10241280" cy="68580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2400" b="1">
                <a:solidFill>
                  <a:srgbClr val="A00016"/>
                </a:solidFill>
              </a:rPr>
              <a:t>2.6 恢复语义与信号四态机</a:t>
            </a:r>
            <a:endParaRPr sz="2400" b="1">
              <a:solidFill>
                <a:srgbClr val="A00016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005840" y="4206874"/>
            <a:ext cx="10241280" cy="22860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202020"/>
                </a:solidFill>
              </a:rPr>
              <a:t>恢复请求：由 tracer 发送，可选择抑制（丢弃）原信号，或注入一个新信号。恢复语义 CONT（普通继续）、SINGLESTEP（设 TF 单步）、SYSCALL（开 syscall 跟踪）三选一。</a:t>
            </a:r>
            <a:endParaRPr sz="1500" b="0">
              <a:solidFill>
                <a:srgbClr val="202020"/>
              </a:solidFill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202020"/>
                </a:solidFill>
              </a:rPr>
              <a:t>状态如何被消费：</a:t>
            </a:r>
            <a:endParaRPr sz="1500" b="0">
              <a:solidFill>
                <a:srgbClr val="202020"/>
              </a:solidFill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0">
                <a:solidFill>
                  <a:srgbClr val="202020"/>
                </a:solidFill>
              </a:rPr>
              <a:t>tracer 通过 wait 消费 Pending：观察并报告，使其转为 Consumed。</a:t>
            </a:r>
            <a:endParaRPr sz="1500" b="0">
              <a:solidFill>
                <a:srgbClr val="202020"/>
              </a:solidFill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0">
                <a:solidFill>
                  <a:srgbClr val="202020"/>
                </a:solidFill>
              </a:rPr>
              <a:t>tracer 通过 GETSIGINFO 消费 Pending / Consumed / Injected：读取对应的 siginfo。</a:t>
            </a:r>
            <a:endParaRPr sz="1500" b="0">
              <a:solidFill>
                <a:srgbClr val="202020"/>
              </a:solidFill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0">
                <a:solidFill>
                  <a:srgbClr val="202020"/>
                </a:solidFill>
              </a:rPr>
              <a:t>tracee 在 resume 时通过 re-inject 消费 Pending / Injected：把信号重新投递给自己。</a:t>
            </a:r>
            <a:endParaRPr sz="1500" b="0">
              <a:solidFill>
                <a:srgbClr val="202020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01675" y="1066673"/>
            <a:ext cx="10241280" cy="68580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2400" b="1">
                <a:solidFill>
                  <a:srgbClr val="A00016"/>
                </a:solidFill>
              </a:rPr>
              <a:t>2.7 案例研究：GDB 等调试器的断点是怎么实现的</a:t>
            </a:r>
            <a:endParaRPr sz="2400" b="1">
              <a:solidFill>
                <a:srgbClr val="A00016"/>
              </a:solidFill>
            </a:endParaRPr>
          </a:p>
        </p:txBody>
      </p:sp>
      <p:pic>
        <p:nvPicPr>
          <p:cNvPr id="3" name="Picture 2" descr="09_breakpoint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7395" y="1618615"/>
            <a:ext cx="8488045" cy="51879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8510" y="3016250"/>
            <a:ext cx="2028825" cy="134239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202020"/>
                </a:solidFill>
              </a:rPr>
              <a:t>断点是调试器最常用的功能，但它不是单独的内核机制，而是前面这些 ptrace 原语的精确编排。</a:t>
            </a:r>
            <a:endParaRPr sz="1500" b="0">
              <a:solidFill>
                <a:srgbClr val="202020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1017143"/>
            <a:ext cx="10241280" cy="68580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2400" b="1">
                <a:solidFill>
                  <a:srgbClr val="A00016"/>
                </a:solidFill>
              </a:rPr>
              <a:t>2.8 安全模型：统一鉴权 + Yama</a:t>
            </a:r>
            <a:endParaRPr sz="2400" b="1">
              <a:solidFill>
                <a:srgbClr val="A00016"/>
              </a:solidFill>
            </a:endParaRPr>
          </a:p>
        </p:txBody>
      </p:sp>
      <p:pic>
        <p:nvPicPr>
          <p:cNvPr id="3" name="Picture 2" descr="10_security_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8570" y="1576705"/>
            <a:ext cx="4164330" cy="49911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263640" y="1783080"/>
            <a:ext cx="4983480" cy="20116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0">
                <a:solidFill>
                  <a:srgbClr val="202020"/>
                </a:solidFill>
              </a:rPr>
              <a:t>统一决策链：</a:t>
            </a:r>
            <a:r>
              <a:rPr sz="1500" b="1">
                <a:solidFill>
                  <a:srgbClr val="202020"/>
                </a:solidFill>
              </a:rPr>
              <a:t>同进程 → UID/GID 匹配 → CAP_SYS_PTRACE → Yama LSM hook</a:t>
            </a:r>
            <a:r>
              <a:rPr sz="1500" b="0">
                <a:solidFill>
                  <a:srgbClr val="202020"/>
                </a:solidFill>
              </a:rPr>
              <a:t>。</a:t>
            </a:r>
            <a:endParaRPr sz="1500" b="0">
              <a:solidFill>
                <a:srgbClr val="202020"/>
              </a:solidFill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0">
                <a:solidFill>
                  <a:srgbClr val="202020"/>
                </a:solidFill>
              </a:rPr>
              <a:t>ptrace 与 procfs 区分 </a:t>
            </a:r>
            <a:r>
              <a:rPr sz="1500" b="0">
                <a:solidFill>
                  <a:srgbClr val="A00016"/>
                </a:solidFill>
                <a:latin typeface="Menlo" panose="020B0609030804020204"/>
                <a:cs typeface="Menlo" panose="020B0609030804020204"/>
              </a:rPr>
              <a:t>Read/Attach</a:t>
            </a:r>
            <a:r>
              <a:rPr sz="1500" b="0">
                <a:solidFill>
                  <a:srgbClr val="202020"/>
                </a:solidFill>
              </a:rPr>
              <a:t>、</a:t>
            </a:r>
            <a:r>
              <a:rPr sz="1500" b="0">
                <a:solidFill>
                  <a:srgbClr val="A00016"/>
                </a:solidFill>
                <a:latin typeface="Menlo" panose="020B0609030804020204"/>
                <a:cs typeface="Menlo" panose="020B0609030804020204"/>
              </a:rPr>
              <a:t>Fs/Real creds</a:t>
            </a:r>
            <a:r>
              <a:rPr sz="1500" b="0">
                <a:solidFill>
                  <a:srgbClr val="202020"/>
                </a:solidFill>
              </a:rPr>
              <a:t>，</a:t>
            </a:r>
            <a:r>
              <a:rPr sz="1500" b="1">
                <a:solidFill>
                  <a:srgbClr val="202020"/>
                </a:solidFill>
              </a:rPr>
              <a:t>避免 procfs 绕过</a:t>
            </a:r>
            <a:r>
              <a:rPr sz="1500" b="0">
                <a:solidFill>
                  <a:srgbClr val="202020"/>
                </a:solidFill>
              </a:rPr>
              <a:t>调试鉴权。</a:t>
            </a:r>
            <a:endParaRPr sz="1500" b="0">
              <a:solidFill>
                <a:srgbClr val="202020"/>
              </a:solidFill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0">
                <a:solidFill>
                  <a:srgbClr val="202020"/>
                </a:solidFill>
              </a:rPr>
              <a:t>Yama </a:t>
            </a:r>
            <a:r>
              <a:rPr sz="1500" b="0">
                <a:solidFill>
                  <a:srgbClr val="A00016"/>
                </a:solidFill>
                <a:latin typeface="Menlo" panose="020B0609030804020204"/>
                <a:cs typeface="Menlo" panose="020B0609030804020204"/>
              </a:rPr>
              <a:t>ptrace_scope</a:t>
            </a:r>
            <a:r>
              <a:rPr sz="1500" b="0">
                <a:solidFill>
                  <a:srgbClr val="202020"/>
                </a:solidFill>
              </a:rPr>
              <a:t> 四档对各放行条件的影响（✓ 放行 / ✗ 拒绝；同进程恒放行）：</a:t>
            </a:r>
            <a:endParaRPr sz="1500" b="0">
              <a:solidFill>
                <a:srgbClr val="202020"/>
              </a:solidFill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custDataLst>
              <p:tags r:id="rId3"/>
            </p:custDataLst>
          </p:nvPr>
        </p:nvGraphicFramePr>
        <p:xfrm>
          <a:off x="6263640" y="3886200"/>
          <a:ext cx="4983480" cy="23774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45870"/>
                <a:gridCol w="1245870"/>
                <a:gridCol w="1245870"/>
                <a:gridCol w="1245870"/>
              </a:tblGrid>
              <a:tr h="475487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</a:rPr>
                        <a:t>Yama scope</a:t>
                      </a:r>
                      <a:endParaRPr sz="1250" b="1">
                        <a:solidFill>
                          <a:srgbClr val="FFFFFF"/>
                        </a:solidFill>
                      </a:endParaRPr>
                    </a:p>
                  </a:txBody>
                  <a:tcPr marL="76200" marR="76200" marT="38100" marB="38100" anchor="ctr">
                    <a:solidFill>
                      <a:srgbClr val="A000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</a:rPr>
                        <a:t>调用者是其祖先</a:t>
                      </a:r>
                      <a:endParaRPr sz="1250" b="1">
                        <a:solidFill>
                          <a:srgbClr val="FFFFFF"/>
                        </a:solidFill>
                      </a:endParaRPr>
                    </a:p>
                  </a:txBody>
                  <a:tcPr marL="76200" marR="76200" marT="38100" marB="38100" anchor="ctr">
                    <a:solidFill>
                      <a:srgbClr val="A000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</a:rPr>
                        <a:t>具备 CAP_SYS_PTRACE</a:t>
                      </a:r>
                      <a:endParaRPr sz="1250" b="1">
                        <a:solidFill>
                          <a:srgbClr val="FFFFFF"/>
                        </a:solidFill>
                      </a:endParaRPr>
                    </a:p>
                  </a:txBody>
                  <a:tcPr marL="76200" marR="76200" marT="38100" marB="38100" anchor="ctr">
                    <a:solidFill>
                      <a:srgbClr val="A0001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</a:rPr>
                        <a:t>仅 UID/GID 匹配</a:t>
                      </a:r>
                      <a:endParaRPr sz="1250" b="1">
                        <a:solidFill>
                          <a:srgbClr val="FFFFFF"/>
                        </a:solidFill>
                      </a:endParaRPr>
                    </a:p>
                  </a:txBody>
                  <a:tcPr marL="76200" marR="76200" marT="38100" marB="38100" anchor="ctr">
                    <a:solidFill>
                      <a:srgbClr val="A00016"/>
                    </a:solidFill>
                  </a:tcPr>
                </a:tc>
              </a:tr>
              <a:tr h="475487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0 Disabled</a:t>
                      </a:r>
                      <a:endParaRPr sz="1250" b="0">
                        <a:solidFill>
                          <a:srgbClr val="202020"/>
                        </a:solidFill>
                      </a:endParaRP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✓</a:t>
                      </a:r>
                      <a:endParaRPr sz="1250" b="0">
                        <a:solidFill>
                          <a:srgbClr val="202020"/>
                        </a:solidFill>
                      </a:endParaRP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✓</a:t>
                      </a:r>
                      <a:endParaRPr sz="1250" b="0">
                        <a:solidFill>
                          <a:srgbClr val="202020"/>
                        </a:solidFill>
                      </a:endParaRP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✓</a:t>
                      </a:r>
                      <a:endParaRPr sz="1250" b="0">
                        <a:solidFill>
                          <a:srgbClr val="202020"/>
                        </a:solidFill>
                      </a:endParaRP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</a:tr>
              <a:tr h="475487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1 Relational</a:t>
                      </a:r>
                      <a:endParaRPr sz="1250" b="0">
                        <a:solidFill>
                          <a:srgbClr val="202020"/>
                        </a:solidFill>
                      </a:endParaRP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✓</a:t>
                      </a:r>
                      <a:endParaRPr sz="1250" b="0">
                        <a:solidFill>
                          <a:srgbClr val="202020"/>
                        </a:solidFill>
                      </a:endParaRP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✓</a:t>
                      </a:r>
                      <a:endParaRPr sz="1250" b="0">
                        <a:solidFill>
                          <a:srgbClr val="202020"/>
                        </a:solidFill>
                      </a:endParaRP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✗</a:t>
                      </a:r>
                      <a:endParaRPr sz="1250" b="0">
                        <a:solidFill>
                          <a:srgbClr val="202020"/>
                        </a:solidFill>
                      </a:endParaRP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</a:tr>
              <a:tr h="475487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2 Capability</a:t>
                      </a:r>
                      <a:endParaRPr sz="1250" b="0">
                        <a:solidFill>
                          <a:srgbClr val="202020"/>
                        </a:solidFill>
                      </a:endParaRP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✗</a:t>
                      </a:r>
                      <a:endParaRPr sz="1250" b="0">
                        <a:solidFill>
                          <a:srgbClr val="202020"/>
                        </a:solidFill>
                      </a:endParaRP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✓</a:t>
                      </a:r>
                      <a:endParaRPr sz="1250" b="0">
                        <a:solidFill>
                          <a:srgbClr val="202020"/>
                        </a:solidFill>
                      </a:endParaRP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✗</a:t>
                      </a:r>
                      <a:endParaRPr sz="1250" b="0">
                        <a:solidFill>
                          <a:srgbClr val="202020"/>
                        </a:solidFill>
                      </a:endParaRPr>
                    </a:p>
                  </a:txBody>
                  <a:tcPr marL="76200" marR="76200" marT="38100" marB="38100" anchor="ctr">
                    <a:solidFill>
                      <a:srgbClr val="F6ECEE"/>
                    </a:solidFill>
                  </a:tcPr>
                </a:tc>
              </a:tr>
              <a:tr h="475491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3 NoAttach</a:t>
                      </a:r>
                      <a:endParaRPr sz="1250" b="0">
                        <a:solidFill>
                          <a:srgbClr val="202020"/>
                        </a:solidFill>
                      </a:endParaRP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✗</a:t>
                      </a:r>
                      <a:endParaRPr sz="1250" b="0">
                        <a:solidFill>
                          <a:srgbClr val="202020"/>
                        </a:solidFill>
                      </a:endParaRP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✗</a:t>
                      </a:r>
                      <a:endParaRPr sz="1250" b="0">
                        <a:solidFill>
                          <a:srgbClr val="202020"/>
                        </a:solidFill>
                      </a:endParaRP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02020"/>
                          </a:solidFill>
                        </a:rPr>
                        <a:t>✗</a:t>
                      </a:r>
                      <a:endParaRPr sz="1250" b="0">
                        <a:solidFill>
                          <a:srgbClr val="202020"/>
                        </a:solidFill>
                      </a:endParaRPr>
                    </a:p>
                  </a:txBody>
                  <a:tcPr marL="76200" marR="762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377440"/>
            <a:ext cx="9966960" cy="12801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4400" b="1">
                <a:solidFill>
                  <a:srgbClr val="A00016"/>
                </a:solidFill>
              </a:rPr>
              <a:t>PART 3　实现与验证</a:t>
            </a:r>
            <a:endParaRPr sz="4400" b="1">
              <a:solidFill>
                <a:srgbClr val="A00016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097280" y="3749039"/>
            <a:ext cx="9966960" cy="64008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1800" b="0">
                <a:solidFill>
                  <a:srgbClr val="606060"/>
                </a:solidFill>
              </a:rPr>
              <a:t>在 Asterinas 上运行真实调试工具，并加入测试体系</a:t>
            </a:r>
            <a:endParaRPr sz="1800" b="0">
              <a:solidFill>
                <a:srgbClr val="606060"/>
              </a:solidFill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1115568" y="3611880"/>
            <a:ext cx="2194560" cy="38100"/>
          </a:xfrm>
          <a:prstGeom prst="rect">
            <a:avLst/>
          </a:prstGeom>
          <a:solidFill>
            <a:srgbClr val="A0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1018413"/>
            <a:ext cx="10241280" cy="68580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2400" b="1">
                <a:solidFill>
                  <a:srgbClr val="A00016"/>
                </a:solidFill>
              </a:rPr>
              <a:t>3.1 GDB / strace 实机演示</a:t>
            </a:r>
            <a:endParaRPr sz="2400" b="1">
              <a:solidFill>
                <a:srgbClr val="A00016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005840" y="1783080"/>
            <a:ext cx="4690110" cy="3342005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1">
                <a:solidFill>
                  <a:srgbClr val="202020"/>
                </a:solidFill>
              </a:rPr>
              <a:t>GDB</a:t>
            </a:r>
            <a:r>
              <a:rPr sz="1500" b="0">
                <a:solidFill>
                  <a:srgbClr val="202020"/>
                </a:solidFill>
              </a:rPr>
              <a:t>：持续集成用 </a:t>
            </a:r>
            <a:r>
              <a:rPr sz="1500" b="0">
                <a:solidFill>
                  <a:srgbClr val="A00016"/>
                </a:solidFill>
                <a:latin typeface="Menlo" panose="020B0609030804020204"/>
                <a:cs typeface="Menlo" panose="020B0609030804020204"/>
              </a:rPr>
              <a:t>gdb -batch</a:t>
            </a:r>
            <a:r>
              <a:rPr sz="1500" b="0">
                <a:solidFill>
                  <a:srgbClr val="202020"/>
                </a:solidFill>
              </a:rPr>
              <a:t> 调一段带断点的 C 程序，逐项校验输出：</a:t>
            </a:r>
            <a:endParaRPr sz="1500" b="0">
              <a:solidFill>
                <a:srgbClr val="202020"/>
              </a:solidFill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0">
                <a:solidFill>
                  <a:srgbClr val="202020"/>
                </a:solidFill>
              </a:rPr>
              <a:t>命中断点，打印调用栈回溯（</a:t>
            </a:r>
            <a:r>
              <a:rPr sz="1500" b="0">
                <a:solidFill>
                  <a:srgbClr val="A00016"/>
                </a:solidFill>
                <a:latin typeface="Menlo" panose="020B0609030804020204"/>
                <a:cs typeface="Menlo" panose="020B0609030804020204"/>
              </a:rPr>
              <a:t>#0 hello_world</a:t>
            </a:r>
            <a:r>
              <a:rPr sz="1500" b="0">
                <a:solidFill>
                  <a:srgbClr val="202020"/>
                </a:solidFill>
              </a:rPr>
              <a:t> → </a:t>
            </a:r>
            <a:r>
              <a:rPr sz="1500" b="0">
                <a:solidFill>
                  <a:srgbClr val="A00016"/>
                </a:solidFill>
                <a:latin typeface="Menlo" panose="020B0609030804020204"/>
                <a:cs typeface="Menlo" panose="020B0609030804020204"/>
              </a:rPr>
              <a:t>#1 … in main</a:t>
            </a:r>
            <a:r>
              <a:rPr sz="1500" b="0">
                <a:solidFill>
                  <a:srgbClr val="202020"/>
                </a:solidFill>
              </a:rPr>
              <a:t>）</a:t>
            </a:r>
            <a:endParaRPr sz="1500" b="0">
              <a:solidFill>
                <a:srgbClr val="202020"/>
              </a:solidFill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0">
                <a:solidFill>
                  <a:srgbClr val="202020"/>
                </a:solidFill>
              </a:rPr>
              <a:t>打印并修改变量与内存（读 </a:t>
            </a:r>
            <a:r>
              <a:rPr sz="1500" b="0">
                <a:solidFill>
                  <a:srgbClr val="A00016"/>
                </a:solidFill>
                <a:latin typeface="Menlo" panose="020B0609030804020204"/>
                <a:cs typeface="Menlo" panose="020B0609030804020204"/>
              </a:rPr>
              <a:t>$1 = 1</a:t>
            </a:r>
            <a:r>
              <a:rPr sz="1500" b="0">
                <a:solidFill>
                  <a:srgbClr val="202020"/>
                </a:solidFill>
              </a:rPr>
              <a:t>、改 </a:t>
            </a:r>
            <a:r>
              <a:rPr sz="1500" b="0">
                <a:solidFill>
                  <a:srgbClr val="A00016"/>
                </a:solidFill>
                <a:latin typeface="Menlo" panose="020B0609030804020204"/>
                <a:cs typeface="Menlo" panose="020B0609030804020204"/>
              </a:rPr>
              <a:t>*p = 4321</a:t>
            </a:r>
            <a:r>
              <a:rPr sz="1500" b="0">
                <a:solidFill>
                  <a:srgbClr val="202020"/>
                </a:solidFill>
              </a:rPr>
              <a:t>、内存校验通过）</a:t>
            </a:r>
            <a:endParaRPr sz="1500" b="0">
              <a:solidFill>
                <a:srgbClr val="202020"/>
              </a:solidFill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0">
                <a:solidFill>
                  <a:srgbClr val="202020"/>
                </a:solidFill>
              </a:rPr>
              <a:t>读寄存器（</a:t>
            </a:r>
            <a:r>
              <a:rPr sz="1500" b="0">
                <a:solidFill>
                  <a:srgbClr val="A00016"/>
                </a:solidFill>
                <a:latin typeface="Menlo" panose="020B0609030804020204"/>
                <a:cs typeface="Menlo" panose="020B0609030804020204"/>
              </a:rPr>
              <a:t>rip</a:t>
            </a:r>
            <a:r>
              <a:rPr sz="1500" b="0">
                <a:solidFill>
                  <a:srgbClr val="202020"/>
                </a:solidFill>
              </a:rPr>
              <a:t>、</a:t>
            </a:r>
            <a:r>
              <a:rPr sz="1500" b="0">
                <a:solidFill>
                  <a:srgbClr val="A00016"/>
                </a:solidFill>
                <a:latin typeface="Menlo" panose="020B0609030804020204"/>
                <a:cs typeface="Menlo" panose="020B0609030804020204"/>
              </a:rPr>
              <a:t>rsp</a:t>
            </a:r>
            <a:r>
              <a:rPr sz="1500" b="0">
                <a:solidFill>
                  <a:srgbClr val="202020"/>
                </a:solidFill>
              </a:rPr>
              <a:t>），继续运行得到正确输出</a:t>
            </a:r>
            <a:endParaRPr sz="1500" b="0">
              <a:solidFill>
                <a:srgbClr val="202020"/>
              </a:solidFill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0">
                <a:solidFill>
                  <a:srgbClr val="202020"/>
                </a:solidFill>
              </a:rPr>
              <a:t>全程</a:t>
            </a:r>
            <a:r>
              <a:rPr sz="1500" b="1">
                <a:solidFill>
                  <a:srgbClr val="202020"/>
                </a:solidFill>
              </a:rPr>
              <a:t>无任何 GDB warning</a:t>
            </a:r>
            <a:r>
              <a:rPr sz="1500" b="0">
                <a:solidFill>
                  <a:srgbClr val="202020"/>
                </a:solidFill>
              </a:rPr>
              <a:t>——说明寄存器/段 ABI 已对齐</a:t>
            </a:r>
            <a:endParaRPr sz="1500" b="0">
              <a:solidFill>
                <a:srgbClr val="202020"/>
              </a:solidFill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1">
                <a:solidFill>
                  <a:srgbClr val="202020"/>
                </a:solidFill>
              </a:rPr>
              <a:t>strace</a:t>
            </a:r>
            <a:r>
              <a:rPr sz="1500" b="0">
                <a:solidFill>
                  <a:srgbClr val="202020"/>
                </a:solidFill>
              </a:rPr>
              <a:t>：持续集成运行 </a:t>
            </a:r>
            <a:r>
              <a:rPr sz="1500" b="0">
                <a:solidFill>
                  <a:srgbClr val="A00016"/>
                </a:solidFill>
                <a:latin typeface="Menlo" panose="020B0609030804020204"/>
                <a:cs typeface="Menlo" panose="020B0609030804020204"/>
              </a:rPr>
              <a:t>strace ls /tmp</a:t>
            </a:r>
            <a:r>
              <a:rPr sz="1500" b="0">
                <a:solidFill>
                  <a:srgbClr val="202020"/>
                </a:solidFill>
              </a:rPr>
              <a:t>，校验完整抓到系统调用序列（</a:t>
            </a:r>
            <a:r>
              <a:rPr sz="1500" b="0">
                <a:solidFill>
                  <a:srgbClr val="A00016"/>
                </a:solidFill>
                <a:latin typeface="Menlo" panose="020B0609030804020204"/>
                <a:cs typeface="Menlo" panose="020B0609030804020204"/>
              </a:rPr>
              <a:t>execve()</a:t>
            </a:r>
            <a:r>
              <a:rPr sz="1500" b="0">
                <a:solidFill>
                  <a:srgbClr val="202020"/>
                </a:solidFill>
              </a:rPr>
              <a:t>、</a:t>
            </a:r>
            <a:r>
              <a:rPr sz="1500" b="0">
                <a:solidFill>
                  <a:srgbClr val="A00016"/>
                </a:solidFill>
                <a:latin typeface="Menlo" panose="020B0609030804020204"/>
                <a:cs typeface="Menlo" panose="020B0609030804020204"/>
              </a:rPr>
              <a:t>getdents64()</a:t>
            </a:r>
            <a:r>
              <a:rPr sz="1500" b="0">
                <a:solidFill>
                  <a:srgbClr val="202020"/>
                </a:solidFill>
              </a:rPr>
              <a:t> 等）。</a:t>
            </a:r>
            <a:endParaRPr sz="1500" b="0">
              <a:solidFill>
                <a:srgbClr val="202020"/>
              </a:solidFill>
            </a:endParaRPr>
          </a:p>
        </p:txBody>
      </p:sp>
      <p:pic>
        <p:nvPicPr>
          <p:cNvPr id="5" name="视频">
            <a:hlinkClick r:id="" action="ppaction://media"/>
          </p:cNvPr>
          <p:cNvPicPr/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  <p:custDataLst>
              <p:tags r:id="rId4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5939790" y="2018030"/>
            <a:ext cx="5940425" cy="323786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 fullScrn="0">
              <p:cMediaNode>
                <p:cTn id="2" fill="hold" display="1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 additive="base">
                                        <p:cTn id="7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1053338"/>
            <a:ext cx="10241280" cy="68580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2400" b="1">
                <a:solidFill>
                  <a:srgbClr val="A00016"/>
                </a:solidFill>
              </a:rPr>
              <a:t>3.2 测试与验证方案</a:t>
            </a:r>
            <a:endParaRPr sz="2400" b="1">
              <a:solidFill>
                <a:srgbClr val="A00016"/>
              </a:solidFill>
            </a:endParaRPr>
          </a:p>
        </p:txBody>
      </p:sp>
      <p:pic>
        <p:nvPicPr>
          <p:cNvPr id="3" name="Picture 2" descr="12_test_pyra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6230" y="1793875"/>
            <a:ext cx="6417310" cy="431927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15720" y="6167754"/>
            <a:ext cx="10241280" cy="30861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0">
                <a:solidFill>
                  <a:srgbClr val="202020"/>
                </a:solidFill>
              </a:rPr>
              <a:t>验证体系按代码自底向上分四层（金字塔：越往上越少、越慢、价值越高）：</a:t>
            </a:r>
            <a:endParaRPr sz="1300" b="0">
              <a:solidFill>
                <a:srgbClr val="202020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1041273"/>
            <a:ext cx="10241280" cy="68580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2400" b="1">
                <a:solidFill>
                  <a:srgbClr val="A00016"/>
                </a:solidFill>
              </a:rPr>
              <a:t>3.3 实现中的细节打磨</a:t>
            </a:r>
            <a:endParaRPr sz="2400" b="1">
              <a:solidFill>
                <a:srgbClr val="A00016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005840" y="1783080"/>
            <a:ext cx="10241280" cy="2746375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202020"/>
                </a:solidFill>
              </a:rPr>
              <a:t>主线特性之外，还有一批小而必要的支撑改动，它们决定了真实工具能否真正跑通：</a:t>
            </a:r>
            <a:endParaRPr sz="1500" b="0">
              <a:solidFill>
                <a:srgbClr val="202020"/>
              </a:solidFill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/proc/pid/mem force-write</a:t>
            </a:r>
            <a:r>
              <a:rPr sz="1500" b="0">
                <a:solidFill>
                  <a:srgbClr val="202020"/>
                </a:solidFill>
              </a:rPr>
              <a:t>：允许写入只读代码页——这是写入 int3 软件断点的前提。</a:t>
            </a:r>
            <a:endParaRPr sz="1500" b="0">
              <a:solidFill>
                <a:srgbClr val="202020"/>
              </a:solidFill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x86 GDT 插入空 KCODE32 槽</a:t>
            </a:r>
            <a:r>
              <a:rPr sz="1500" b="0">
                <a:solidFill>
                  <a:srgbClr val="202020"/>
                </a:solidFill>
              </a:rPr>
              <a:t>：把 USER_CS / USER_SS 调成 Linux 期望的 0x33 / 0x2b，消除 GDB 警告。</a:t>
            </a:r>
            <a:endParaRPr sz="1500" b="0">
              <a:solidFill>
                <a:srgbClr val="202020"/>
              </a:solidFill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debug registers 读仿真 + personality 行为</a:t>
            </a:r>
            <a:r>
              <a:rPr sz="1500" b="0">
                <a:solidFill>
                  <a:srgbClr val="202020"/>
                </a:solidFill>
              </a:rPr>
              <a:t>：满足 GDB 的探测，又不放开硬件断点。</a:t>
            </a:r>
            <a:endParaRPr sz="1500" b="0">
              <a:solidFill>
                <a:srgbClr val="202020"/>
              </a:solidFill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procfs /proc/[pid]/maps</a:t>
            </a:r>
            <a:r>
              <a:rPr sz="1500" b="0">
                <a:solidFill>
                  <a:srgbClr val="202020"/>
                </a:solidFill>
              </a:rPr>
              <a:t>：补全非 [stack] 条目，GDB 据此定位代码/库映射。</a:t>
            </a:r>
            <a:endParaRPr sz="1500" b="0">
              <a:solidFill>
                <a:srgbClr val="202020"/>
              </a:solidFill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procfs /proc/pid/auxv</a:t>
            </a:r>
            <a:r>
              <a:rPr sz="1500" b="0">
                <a:solidFill>
                  <a:srgbClr val="202020"/>
                </a:solidFill>
              </a:rPr>
              <a:t>：暴露辅助向量，供加载器/调试器读取。</a:t>
            </a:r>
            <a:endParaRPr sz="1500" b="0">
              <a:solidFill>
                <a:srgbClr val="202020"/>
              </a:solidFill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procfs 每线程 /proc/[tid]</a:t>
            </a:r>
            <a:r>
              <a:rPr sz="1500" b="0">
                <a:solidFill>
                  <a:srgbClr val="202020"/>
                </a:solidFill>
              </a:rPr>
              <a:t>：按线程提供视图。</a:t>
            </a:r>
            <a:endParaRPr sz="1500" b="0">
              <a:solidFill>
                <a:srgbClr val="202020"/>
              </a:solidFill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1">
                <a:solidFill>
                  <a:srgbClr val="202020"/>
                </a:solidFill>
              </a:rPr>
              <a:t>tkill 系统调用与 Yama ptrace_scope</a:t>
            </a:r>
            <a:r>
              <a:rPr sz="1500" b="0">
                <a:solidFill>
                  <a:srgbClr val="202020"/>
                </a:solidFill>
              </a:rPr>
              <a:t>：补齐定向信号投递与调试安全边界。</a:t>
            </a:r>
            <a:endParaRPr sz="1500" b="0">
              <a:solidFill>
                <a:srgbClr val="202020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377440"/>
            <a:ext cx="9966960" cy="12801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4400" b="1">
                <a:solidFill>
                  <a:srgbClr val="A00016"/>
                </a:solidFill>
              </a:rPr>
              <a:t>PART 4　总结与展望</a:t>
            </a:r>
            <a:endParaRPr sz="4400" b="1">
              <a:solidFill>
                <a:srgbClr val="A00016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097280" y="3749039"/>
            <a:ext cx="9966960" cy="64008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1800" b="0">
                <a:solidFill>
                  <a:srgbClr val="606060"/>
                </a:solidFill>
              </a:rPr>
              <a:t>成果回顾与后续方向</a:t>
            </a:r>
            <a:endParaRPr sz="1800" b="0">
              <a:solidFill>
                <a:srgbClr val="606060"/>
              </a:solidFill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1115568" y="3611880"/>
            <a:ext cx="2194560" cy="38100"/>
          </a:xfrm>
          <a:prstGeom prst="rect">
            <a:avLst/>
          </a:prstGeom>
          <a:solidFill>
            <a:srgbClr val="A0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1053338"/>
            <a:ext cx="10241280" cy="68580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r>
              <a:rPr sz="2400" b="1">
                <a:solidFill>
                  <a:srgbClr val="A00016"/>
                </a:solidFill>
              </a:rPr>
              <a:t>4.1 总结与展望</a:t>
            </a:r>
            <a:endParaRPr sz="2400" b="1">
              <a:solidFill>
                <a:srgbClr val="A00016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005840" y="1783080"/>
            <a:ext cx="10241280" cy="4480559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1">
                <a:solidFill>
                  <a:srgbClr val="202020"/>
                </a:solidFill>
              </a:rPr>
              <a:t>设计核心</a:t>
            </a:r>
            <a:r>
              <a:rPr sz="1500" b="0">
                <a:solidFill>
                  <a:srgbClr val="202020"/>
                </a:solidFill>
              </a:rPr>
              <a:t>　以 </a:t>
            </a:r>
            <a:r>
              <a:rPr sz="1500" b="1">
                <a:solidFill>
                  <a:srgbClr val="202020"/>
                </a:solidFill>
              </a:rPr>
              <a:t>ptrace-stop 状态机</a:t>
            </a:r>
            <a:r>
              <a:rPr sz="1500" b="0">
                <a:solidFill>
                  <a:srgbClr val="202020"/>
                </a:solidFill>
              </a:rPr>
              <a:t>为中心，把信号、异常、系统调用、wait、寄存器、跨进程内存、安全策略统一到一条 </a:t>
            </a:r>
            <a:r>
              <a:rPr sz="1500" b="1">
                <a:solidFill>
                  <a:srgbClr val="202020"/>
                </a:solidFill>
              </a:rPr>
              <a:t>Linux ABI 兼容</a:t>
            </a:r>
            <a:r>
              <a:rPr sz="1500" b="0">
                <a:solidFill>
                  <a:srgbClr val="202020"/>
                </a:solidFill>
              </a:rPr>
              <a:t>的调试路径。</a:t>
            </a:r>
            <a:endParaRPr sz="1500" b="0">
              <a:solidFill>
                <a:srgbClr val="202020"/>
              </a:solidFill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1">
                <a:solidFill>
                  <a:srgbClr val="202020"/>
                </a:solidFill>
              </a:rPr>
              <a:t>项目价值</a:t>
            </a:r>
            <a:r>
              <a:rPr sz="1500" b="0">
                <a:solidFill>
                  <a:srgbClr val="202020"/>
                </a:solidFill>
              </a:rPr>
              <a:t>　不止「能跑 GDB」——更为 RustOS 建立了</a:t>
            </a:r>
            <a:r>
              <a:rPr sz="1500" b="1">
                <a:solidFill>
                  <a:srgbClr val="202020"/>
                </a:solidFill>
              </a:rPr>
              <a:t>跨越多个内核子系统的调试能力骨架</a:t>
            </a:r>
            <a:r>
              <a:rPr sz="1500" b="0">
                <a:solidFill>
                  <a:srgbClr val="202020"/>
                </a:solidFill>
              </a:rPr>
              <a:t>，同时成为检验进程、内存、信号与安全模型正确性的</a:t>
            </a:r>
            <a:r>
              <a:rPr sz="1500" b="1">
                <a:solidFill>
                  <a:srgbClr val="202020"/>
                </a:solidFill>
              </a:rPr>
              <a:t>综合压力测试入口</a:t>
            </a:r>
            <a:r>
              <a:rPr sz="1500" b="0">
                <a:solidFill>
                  <a:srgbClr val="202020"/>
                </a:solidFill>
              </a:rPr>
              <a:t>。</a:t>
            </a:r>
            <a:endParaRPr sz="1500" b="0">
              <a:solidFill>
                <a:srgbClr val="202020"/>
              </a:solidFill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1">
                <a:solidFill>
                  <a:srgbClr val="202020"/>
                </a:solidFill>
              </a:rPr>
              <a:t>后续方向</a:t>
            </a:r>
            <a:endParaRPr sz="1500" b="1">
              <a:solidFill>
                <a:srgbClr val="202020"/>
              </a:solidFill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0">
                <a:solidFill>
                  <a:srgbClr val="202020"/>
                </a:solidFill>
              </a:rPr>
              <a:t>中途调试已运行进程：支持 </a:t>
            </a:r>
            <a:r>
              <a:rPr sz="1500" b="0">
                <a:solidFill>
                  <a:srgbClr val="A00016"/>
                </a:solidFill>
                <a:latin typeface="Menlo" panose="020B0609030804020204"/>
                <a:cs typeface="Menlo" panose="020B0609030804020204"/>
              </a:rPr>
              <a:t>PTRACE_ATTACH / DETACH</a:t>
            </a:r>
            <a:r>
              <a:rPr sz="1500" b="0">
                <a:solidFill>
                  <a:srgbClr val="202020"/>
                </a:solidFill>
              </a:rPr>
              <a:t>。</a:t>
            </a:r>
            <a:endParaRPr sz="1500" b="0">
              <a:solidFill>
                <a:srgbClr val="202020"/>
              </a:solidFill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0">
                <a:solidFill>
                  <a:srgbClr val="202020"/>
                </a:solidFill>
              </a:rPr>
              <a:t>调试多线程进程：fork/vfork/clone 的 event-stop。</a:t>
            </a:r>
            <a:endParaRPr sz="1500" b="0">
              <a:solidFill>
                <a:srgbClr val="202020"/>
              </a:solidFill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0">
                <a:solidFill>
                  <a:srgbClr val="202020"/>
                </a:solidFill>
              </a:rPr>
              <a:t>支持 GDB watchpoint 观察点：x86 debug registers 真实读写。</a:t>
            </a:r>
            <a:endParaRPr sz="1500" b="0">
              <a:solidFill>
                <a:srgbClr val="202020"/>
              </a:solidFill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0">
                <a:solidFill>
                  <a:srgbClr val="202020"/>
                </a:solidFill>
              </a:rPr>
              <a:t>寄存器扩展：</a:t>
            </a:r>
            <a:r>
              <a:rPr sz="1500" b="0">
                <a:solidFill>
                  <a:srgbClr val="A00016"/>
                </a:solidFill>
                <a:latin typeface="Menlo" panose="020B0609030804020204"/>
                <a:cs typeface="Menlo" panose="020B0609030804020204"/>
              </a:rPr>
              <a:t>GETREGSET</a:t>
            </a:r>
            <a:r>
              <a:rPr sz="1500" b="0">
                <a:solidFill>
                  <a:srgbClr val="202020"/>
                </a:solidFill>
              </a:rPr>
              <a:t>、FP/SIMD。</a:t>
            </a:r>
            <a:endParaRPr sz="1500" b="0">
              <a:solidFill>
                <a:srgbClr val="202020"/>
              </a:solidFill>
            </a:endParaRP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500" b="0">
                <a:solidFill>
                  <a:srgbClr val="A00016"/>
                </a:solidFill>
              </a:rPr>
              <a:t>•  </a:t>
            </a:r>
            <a:r>
              <a:rPr sz="1500" b="0">
                <a:solidFill>
                  <a:srgbClr val="202020"/>
                </a:solidFill>
              </a:rPr>
              <a:t>跨架构推广：riscv64 / loongarch64。</a:t>
            </a:r>
            <a:endParaRPr sz="1500" b="0">
              <a:solidFill>
                <a:srgbClr val="202020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743200"/>
            <a:ext cx="9966960" cy="1280160"/>
          </a:xfrm>
          <a:prstGeom prst="rect">
            <a:avLst/>
          </a:prstGeom>
          <a:noFill/>
        </p:spPr>
        <p:txBody>
          <a:bodyPr wrap="square" lIns="25400" tIns="25400" rIns="25400" bIns="25400" anchor="ctr">
            <a:spAutoFit/>
          </a:bodyPr>
          <a:lstStyle/>
          <a:p>
            <a:pPr algn="ctr"/>
            <a:r>
              <a:rPr sz="4000" b="1">
                <a:solidFill>
                  <a:srgbClr val="A00016"/>
                </a:solidFill>
              </a:rPr>
              <a:t>谢谢！　Q &amp; A</a:t>
            </a:r>
            <a:endParaRPr sz="4000" b="1">
              <a:solidFill>
                <a:srgbClr val="A00016"/>
              </a:solidFill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TABLE_BEAUTIFY" val="smartTable{68ad84b5-4f4b-4922-b5d8-3383a3a4970c}"/>
</p:tagLst>
</file>

<file path=ppt/tags/tag2.xml><?xml version="1.0" encoding="utf-8"?>
<p:tagLst xmlns:p="http://schemas.openxmlformats.org/presentationml/2006/main">
  <p:tag name="KSO_WM_MEDIACOVER_FLAG" val="1"/>
  <p:tag name="KSO_WM_UNIT_MEDIACOVER_BTN_STATE" val="1"/>
</p:tagLst>
</file>

<file path=ppt/theme/theme1.xml><?xml version="1.0" encoding="utf-8"?>
<a:theme xmlns:a="http://schemas.openxmlformats.org/drawingml/2006/main" name="Office 主题​​">
  <a:themeElements>
    <a:clrScheme name="自定义 3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8B0012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主题​​">
  <a:themeElements>
    <a:clrScheme name="自定义 3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8B0012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0</TotalTime>
  <Words>4072</Words>
  <Application>WPS 演示</Application>
  <PresentationFormat>宽屏</PresentationFormat>
  <Paragraphs>223</Paragraphs>
  <Slides>21</Slides>
  <Notes>8</Notes>
  <HiddenSlides>0</HiddenSlides>
  <MMClips>0</MMClips>
  <ScaleCrop>false</ScaleCrop>
  <HeadingPairs>
    <vt:vector size="6" baseType="variant">
      <vt:variant>
        <vt:lpstr>已用的字体</vt:lpstr>
      </vt:variant>
      <vt:variant>
        <vt:i4>15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21</vt:i4>
      </vt:variant>
    </vt:vector>
  </HeadingPairs>
  <TitlesOfParts>
    <vt:vector size="38" baseType="lpstr">
      <vt:lpstr>Arial</vt:lpstr>
      <vt:lpstr>宋体</vt:lpstr>
      <vt:lpstr>Wingdings</vt:lpstr>
      <vt:lpstr>Menlo</vt:lpstr>
      <vt:lpstr>等线</vt:lpstr>
      <vt:lpstr>汉仪中等线KW</vt:lpstr>
      <vt:lpstr>微软雅黑</vt:lpstr>
      <vt:lpstr>汉仪旗黑</vt:lpstr>
      <vt:lpstr>宋体</vt:lpstr>
      <vt:lpstr>Arial Unicode MS</vt:lpstr>
      <vt:lpstr>等线 Light</vt:lpstr>
      <vt:lpstr>Calibri</vt:lpstr>
      <vt:lpstr>Helvetica Neue</vt:lpstr>
      <vt:lpstr>汉仪书宋二KW</vt:lpstr>
      <vt:lpstr>儷宋 Pro</vt:lpstr>
      <vt:lpstr>Office 主题​​</vt:lpstr>
      <vt:lpstr>1_Office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陈沛羽_深圳研院</dc:creator>
  <cp:lastModifiedBy>vvsv</cp:lastModifiedBy>
  <cp:revision>33</cp:revision>
  <dcterms:created xsi:type="dcterms:W3CDTF">2026-06-17T16:34:35Z</dcterms:created>
  <dcterms:modified xsi:type="dcterms:W3CDTF">2026-06-17T16:34:35Z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2052-5.5.1.7991</vt:lpwstr>
  </property>
  <property fmtid="{D5CDD505-2E9C-101B-9397-08002B2CF9AE}" pid="3" name="ICV">
    <vt:lpwstr>8B28768629894ACA8202718EE72CF5A8_12</vt:lpwstr>
  </property>
</Properties>
</file>