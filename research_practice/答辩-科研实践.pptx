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</p:sldMasterIdLst>
  <p:notesMasterIdLst>
    <p:notesMasterId r:id="rId5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B0012"/>
    <a:srgbClr val="F2D2D2"/>
    <a:srgbClr val="AE8585"/>
    <a:srgbClr val="DFC3C2"/>
    <a:srgbClr val="E6E6E6"/>
    <a:srgbClr val="DEE2E6"/>
    <a:srgbClr val="8A8D8F"/>
    <a:srgbClr val="384600"/>
    <a:srgbClr val="87674F"/>
    <a:srgbClr val="3D6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8" autoAdjust="0"/>
    <p:restoredTop sz="93846" autoAdjust="0"/>
  </p:normalViewPr>
  <p:slideViewPr>
    <p:cSldViewPr snapToGrid="0">
      <p:cViewPr>
        <p:scale>
          <a:sx n="44" d="100"/>
          <a:sy n="44" d="100"/>
        </p:scale>
        <p:origin x="564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E9746-BB1D-419B-A6DD-5EE22E0D79E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各类从零或新架构的 OS 都在补调试能力，但接入调试器的技术路线差别很大，多数并未直接复用未经修改的 Linux 工具链。下表对比它们的内核调试接口与调试器接入方式。</a:t>
            </a:r>
          </a:p>
          <a:p>
            <a:r>
              <a:t>Redox OS——刻意不在内核实现 Linux ptrace，而是提供一个类 /proc 的 proc scheme 文件接口；并用 Rust 自写了一个 gdbserver，GDB 通过 Redox 的 IPC 走 GDB 远程串行协议连接，relibc 里另有一个尽力而为的用户态 ptrace 兼容层。所以 Redox 的 GDB 根本不经过 ptrace 系统调用。</a:t>
            </a:r>
          </a:p>
          <a:p>
            <a:r>
              <a:t>SerenityOS——实现了自己的 ptrace 系统调用，但语义并非 Linux ABI；要让 GDB 工作，需要给 GDB 新增一个 serenity target 后端（移植工作），而不是直接用未经修改的上游 GDB。它还自带一个原生调试器 sdb。</a:t>
            </a:r>
          </a:p>
          <a:p>
            <a:r>
              <a:t>Fuchsia / Zircon——微内核，无 ptrace；调试由跑在开发机上的 zxdb 客户端连接目标设备上的 debug_agent 组件完成，基于 Zircon 内核对象 koid 与 job/process 模型，且只能远程调试、不能自托管。</a:t>
            </a:r>
          </a:p>
          <a:p>
            <a:r>
              <a:t>Haiku——使用端口式（port-based）调试 API（install_team_debugger、team/thread 调试上下文），不是 ptrace；2024 年 GSoC 把 GDB 15.1 移植上来，后端把 Haiku 的调试端口事件翻译成 gdbserver 语义，并为此修改内核以暴露更多调试信息。</a:t>
            </a:r>
          </a:p>
          <a:p>
            <a:r>
              <a:t>对比之下，Asterinas 在内核里原生实现 Linux ptrace ABI，未经修改的上游 GDB / strace 用它们标准的 Linux 后端即可直接运行——无需自写或移植 gdbserver、无需远程 agent、无需为私有接口改造 GDB、无需用户态兼容层。</a:t>
            </a:r>
          </a:p>
          <a:p>
            <a:r>
              <a:t>Q&amp;A 防线（gVisor）：若被问到 gVisor，它确实也在内部实现了 Linux ptrace（Sentry 的 pkg/sentry/kernel/ptrace.go），属同一路线；但 gVisor 是跑在宿主 Linux 之上的用户态沙箱运行时（Go），且只实现了跑容器够用的 ptrace 子集（历史上 gdb 与 strace 不能同跟一个进程）。因此稳妥表述是：在从零做的通用 OS 中，原生实现 Linux ptrace、直接复用未改 GDB/strace 的，Asterinas 是其中唯一一个。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解耦与无大锁——ptrace-stop 的停止与恢复仅依赖一个原子标志与等待者，不依赖目标线程是否离开 CPU；跟踪关系为旁路 map、不修改进程树，故不需要 Linux 的全局 tasklist_lock。</a:t>
            </a:r>
          </a:p>
          <a:p>
            <a:r>
              <a:t>寄存器快照与内存安全——进入停止时将寄存器现场快照为一份连续副本，在副本上读写、resume 时回写。Linux 原地修改内核栈 pt_regs 的写法可一比一翻译为 unsafe Rust，但以安全 Rust 表达需要更优的设计，将内存安全交由所有权与类型系统在编译期保证。</a:t>
            </a:r>
          </a:p>
          <a:p>
            <a:r>
              <a:t>历史包袱与可维护性——将 Linux 中分散重复、复用字段的处理收敛为单一显式表示：寄存器字段策略以一张表声明一次，ptrace-stop 信号的生命周期以一个四态机显式建模。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 收敛——`ptrace_event`/`ptrace_report_syscall` → `ptrace_notify` → `ptrace_do_notify` → `ptrace_stop`，信号停经 `ptrace_signal` 直接进 `ptrace_stop`。kernel/signal.c `ptrace_stop`：`set_special_state(TASK_TRACED)`、`current-&gt;last_siginfo=info`/`exit_code=exit_code`、随后 `schedule()`；注释明言 ptracer 在 `wait_task_inactive(,__TASK_TRACED)` 等本任务进入 schedule()；resume 经 `wake_up_state(__TASK_TRACED)` 并清 `JOBCTL_TRACED`（kernel/ptrace.c）。`ptrace_check_attach` 调 `wait_task_inactive(child, __TASK_TRACED|TASK_FROZEN)`。Asterinas：ptrace/mod.rs `do_ptrace_stop` → `Waiter::pause_until_by(|| !is_ptrace_stopped())`，`resume()` 翻转 `is_stopped` 并唤醒。三类停止的收敛 Linux 亦如此，不构成本项目相对 Linux 的优势；差异在于与调度解耦。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 kernel/ptrace.c——`__ptrace_link` 改 `child-&gt;parent=new_parent`；`ptrace_traceme`/`ptrace_attach`/`ptrace_detach` 各持 `write_lock_irq(&amp;tasklist_lock)`；kernel/exit.c `exit_ptrace` 路径同样持全局写锁；`ptrace_check_attach` 持 `read_lock(&amp;tasklist_lock)`。Asterinas：ptrace/mod.rs `attach_to`（tracees BTreeMap，锁序 tracer.tracees → tracee.tracee_status）、wait.rs `try_wait_tracees` 遍历 tracees() 旁路 map。边界说明：按 tid 查询全局 PID_TABLE 仍需一次瞬时加锁，但不跨 attach 操作持有；当前主要支持 TRACEME。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 arch/x86/kernel/ptrace.c——`getreg`/`putreg` 走 `*pt_regs_access(task_pt_regs(child), offset)` 原地改；fs_base/gs_base 经 `x86_fsbase_write_task`/`x86_gsbase_read_task`（存在 task-&gt;thread）。Asterinas：ptrace/mod.rs `do_ptrace_stop` 取 `state.general_regs=Some(*user_ctx.general_regs())`、resume 回写 `*user_ctx.general_regs_mut()=regs`；arch/x86/ptrace.rs `CUserRegsStruct` 为 `Pod`。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寄存器表口径说明——不含 32 位 compat 为 2:1（getreg+putreg → 一张表），含 compat 约 4:1，而 Linux 的重复大半来自本项目不运行的 32 位路径。源码：Linux arch/x86/kernel/ptrace.c `getreg`/`putreg`/`getreg32`/`putreg32`/`SEG32`；kernel/signal.c `ptrace_stop` 复用 `exit_code`/`last_siginfo`，`ptrace_signal` 回读 `exit_code` 作为新信号再投递。Asterinas：arch/x86/ptrace.rs `REG_RULES` + const 断言、ptrace/util.rs `StopDeliverySignal`。信号一项为表述更显式，而非 Linux 存在缺陷。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17320"/>
            <a:ext cx="9966960" cy="11887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3800" b="1">
                <a:solidFill>
                  <a:srgbClr val="A00016"/>
                </a:solidFill>
              </a:rPr>
              <a:t>面向 RustOS 的进程调试能力构建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834640"/>
            <a:ext cx="99669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900" b="1">
                <a:solidFill>
                  <a:srgbClr val="E8DDDF"/>
                </a:solidFill>
              </a:rPr>
              <a:t>在 Asterinas 上原生支持 GDB / strace 的 ptrace 子系统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931920"/>
            <a:ext cx="996696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E8DDDF"/>
                </a:solidFill>
              </a:rPr>
              <a:t>2026 全国大学生计算机系统能力大赛、操作系统设计赛（全国）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E8DDDF"/>
                </a:solidFill>
              </a:rPr>
              <a:t>OS 功能挑战赛道、proj9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E8DDDF"/>
                </a:solidFill>
              </a:rPr>
              <a:t>汇报人 / 日期 / 指导老师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868680"/>
            <a:ext cx="99669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4000" b="1">
                <a:solidFill>
                  <a:srgbClr val="A00016"/>
                </a:solidFill>
              </a:rPr>
              <a:t>目  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2194560"/>
          <a:ext cx="9601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658368">
                <a:tc>
                  <a:txBody>
                    <a:bodyPr/>
                    <a:lstStyle/>
                    <a:p/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章节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关键词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1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研究背景与目标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问题定义、断点案例、调试通路、相关工作、总体目标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2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设计与实现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状态机、同步、内存、寄存器、信号、安全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3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测试与应用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实机演示、测试体系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4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总结与展望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项目价值、后续方向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1　研究背景与目标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进程调试的意义与内核能力需求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1.1 研究背景与问题定义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2624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Asterinas 是由北京大学、中关村实验室、蚂蚁集团联合发起的一个用 Rust 编写、与 Linux ABI 兼容的国产自主可控安全操作系统内核，能直接运行 Linux 程序，并借助框内核架构提升内核可靠性。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一个面向开发者的操作系统，不能只满足于把程序跑起来，还要支撑起程序开发的完整闭环，而</a:t>
            </a:r>
            <a:r>
              <a:rPr sz="1500" b="1">
                <a:solidFill>
                  <a:srgbClr val="202020"/>
                </a:solidFill>
              </a:rPr>
              <a:t>进程调试</a:t>
            </a:r>
            <a:r>
              <a:rPr sz="1500" b="0">
                <a:solidFill>
                  <a:srgbClr val="202020"/>
                </a:solidFill>
              </a:rPr>
              <a:t>正是其中最基础的一环。无论是排查应用逻辑的上层开发者，还是分析系统调用、内存与寄存器行为的底层开发者，都离不开用户态进程调试机制。同时，一个新内核要真正可用，关键在于能</a:t>
            </a:r>
            <a:r>
              <a:rPr sz="1500" b="1">
                <a:solidFill>
                  <a:srgbClr val="202020"/>
                </a:solidFill>
              </a:rPr>
              <a:t>直接复用现有的用户态生态</a:t>
            </a:r>
            <a:r>
              <a:rPr sz="1500" b="0">
                <a:solidFill>
                  <a:srgbClr val="202020"/>
                </a:solidFill>
              </a:rPr>
              <a:t>，而不是要求应用重写；而 Linux ABI 已是事实标准，唯有兼容它，才能直接复用海量现有调试工具链生态，如 GDB strace 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因此，在 Asterinas 上支持用户进程调试，本质上就是</a:t>
            </a:r>
            <a:r>
              <a:rPr sz="1500" b="1">
                <a:solidFill>
                  <a:srgbClr val="202020"/>
                </a:solidFill>
              </a:rPr>
              <a:t>兼容 Linux 的 ptrace 接口与相关配套机制</a:t>
            </a:r>
            <a:r>
              <a:rPr sz="1500" b="0">
                <a:solidFill>
                  <a:srgbClr val="202020"/>
                </a:solidFill>
              </a:rPr>
              <a:t>——而这不是单个系统调用，而是贯穿进程管理、信号、wait、地址空间、寄存器、安全与 procfs 的完整通路。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1.2 调试的基本需求——以断点为例</a:t>
            </a:r>
          </a:p>
        </p:txBody>
      </p:sp>
      <p:pic>
        <p:nvPicPr>
          <p:cNvPr id="3" name="Picture 2" descr="09_breakpoint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0045" y="1783080"/>
            <a:ext cx="6572869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调试器对内核的基本需求：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运行时暂停目标进程工作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读写目标进程的私有状态（寄存器、内存、控制流 ...）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调试结束后恢复目标进程正常运行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以最常用的「GDB 软件断点」为例，一次命中并恢复，需要内核按下图配合：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这些功能分别需要：跨进程改内存、异常转信号、停 / 等 / 恢复、读写寄存器、单步，正是要逐一构建的内核能力。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1.3 Linux 为调试器提供的抽象：调试能力通路</a:t>
            </a:r>
          </a:p>
        </p:txBody>
      </p:sp>
      <p:pic>
        <p:nvPicPr>
          <p:cNvPr id="3" name="Picture 2" descr="01_arch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120" y="1783080"/>
            <a:ext cx="3094718" cy="21762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Linux 暴露给 GDB 等调试器的抽象如图所示：用户工具发出请求，经系统调用接口进入内核，先过权限检查鉴权放行，再交给 ptrace 核心状态机。状态机是整条通路的中枢，负责建立关系、进入 ptrace-stop、向 tracer 报告 wait、再 resume 继续，一旦命中新的停止条件就再次回到 stop。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围绕这个中枢，向下分出三类能力：跨进程用户空间读写、寄存器上下文快照、以及与 signal / wait / exec / exit / clone 等系统调用的协作。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忠实构建相应抽象，才能正确复用 Linux 海量调试器生态。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1.4 总体目标与对应内核能力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7040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要让开发者能使用 GDB / strace 调试用户程序，内核必须补齐的能力有：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2596896"/>
          <a:ext cx="10241280" cy="366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5834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总体目标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对应内核能力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GDB 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建立 tracer / tracee 关系，使能 tracee 陷入内核 stop，并等待 tracer wait &amp; resume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设置并命中软件断点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使能修改只读内存写入 breakpoint，#BP 异常后进入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写寄存器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tracee stop 时保存 register 现场，按字段规则安全读写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写进程内存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跨进程安全读写目标地址空间，必要时主动触发 page fault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继续 / 单步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resume 继续，按需设置 CPU trap flag (TF) 单步执行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strace 跟踪系统调用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在每次 syscall entry / exit 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按安全策略限制调试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校验 uid/gid、CAP_SYS_PTRACE、Yama，拦截越权 attach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1.5 相关工作：其它新兴 OS 的调试路线对比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05840" y="1783080"/>
          <a:ext cx="10241277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59"/>
                <a:gridCol w="3413759"/>
                <a:gridCol w="3413759"/>
              </a:tblGrid>
              <a:tr h="5440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系统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内核调试接口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调试器如何接入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Redox OS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proc scheme，非 ptrace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自写 Rust gdbserver，GDB 走远程协议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SerenityOS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自有 ptrace，非 Linux ABI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移植 GDB，新增 serenity target 后端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Fuchsia / Zircon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内核对象模型，无 ptrace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zxdb 客户端连 debug_agent，仅远程调试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Haiku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端口式调试 API，非 ptrace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移植 GDB，翻译到 Haiku 调试端口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Asterinas（本项目）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内核原生 Linux ptrace ABI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未经修改的上游 GDB / strace 直接运行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05840" y="5157216"/>
            <a:ext cx="10241280" cy="108813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多数方案要么自定义协议、配自写或移植的 gdbserver / agent，要么为私有接口改造 GDB；在内核里原生实现 Linux ptrace、让未改的 GDB / strace 直接跑通的是少数——这正是本项目的技术取舍。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2　设计与实现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ptrace 子系统的关键机制，以及与 Linux 的结构性差异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2.1 和 Linux 相同抽象接口，但内部更优实现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3776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借助框内核 + 安全 Rust OS 这一载体，本项目相比 Linux 实现做出三处结构性改良：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ptrace 状态机与调度器解耦、建立跟踪无需全局大锁 tasklist_lock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编译期确保 tracer 和 tracee 不会同时读写同一份寄存器快照，保障内存安全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消除历史设计包袱，提升可维护性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这些都不改变对外行为，而是在等价语义下，把同一套 ptrace 重建到更安全、更具可维护性的载体上。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2.2 ptrace 状态机：与调度器解耦</a:t>
            </a:r>
          </a:p>
        </p:txBody>
      </p:sp>
      <p:pic>
        <p:nvPicPr>
          <p:cNvPr id="3" name="Picture 2" descr="04b_syn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9230" y="1783080"/>
            <a:ext cx="4214499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生命周期：未被跟踪 → 建立关系 → </a:t>
            </a:r>
            <a:r>
              <a:rPr sz="1500" b="1">
                <a:solidFill>
                  <a:srgbClr val="202020"/>
                </a:solidFill>
              </a:rPr>
              <a:t>ptrace-stop（快照现场、阻塞）</a:t>
            </a:r>
            <a:r>
              <a:rPr sz="1500" b="0">
                <a:solidFill>
                  <a:srgbClr val="202020"/>
                </a:solidFill>
              </a:rPr>
              <a:t> → wait 报告 → 恢复运行 → 命中下一次停止条件再回到 stop，或退出清理。三种停止来源（信号停、系统调用停、事件停）</a:t>
            </a:r>
            <a:r>
              <a:rPr sz="1500" b="1">
                <a:solidFill>
                  <a:srgbClr val="202020"/>
                </a:solidFill>
              </a:rPr>
              <a:t>统一收敛到 do_ptrace_stop()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同步机制</a:t>
            </a:r>
            <a:r>
              <a:rPr sz="1500" b="0">
                <a:solidFill>
                  <a:srgbClr val="202020"/>
                </a:solidFill>
              </a:rPr>
              <a:t>：tracer 与 tracee 共享 TraceeStatus = 原子标志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is_stopped</a:t>
            </a:r>
            <a:r>
              <a:rPr sz="1500" b="0">
                <a:solidFill>
                  <a:srgbClr val="202020"/>
                </a:solidFill>
              </a:rPr>
              <a:t>（是否停在 ptrace-stop 的唯一依据）加一把互斥锁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state</a:t>
            </a:r>
            <a:r>
              <a:rPr sz="1500" b="0">
                <a:solidFill>
                  <a:srgbClr val="202020"/>
                </a:solidFill>
              </a:rPr>
              <a:t>（保护寄存器快照、待投递信号、事件）。被跟踪线程进入停止时将自身挂起于一个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Waiter</a:t>
            </a:r>
            <a:r>
              <a:rPr sz="1500" b="0">
                <a:solidFill>
                  <a:srgbClr val="202020"/>
                </a:solidFill>
              </a:rPr>
              <a:t> 上，tracer 执行 resume 时仅翻转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is_stopped</a:t>
            </a:r>
            <a:r>
              <a:rPr sz="1500" b="0">
                <a:solidFill>
                  <a:srgbClr val="202020"/>
                </a:solidFill>
              </a:rPr>
              <a:t> 并将其唤醒。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Linux 对该状态机的实现（已核 Linux 7.1）</a:t>
            </a:r>
            <a:r>
              <a:rPr sz="1500" b="0">
                <a:solidFill>
                  <a:srgbClr val="202020"/>
                </a:solidFill>
              </a:rPr>
              <a:t>：Linux 同样将三类停止收敛至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ptrace_stop()</a:t>
            </a:r>
            <a:r>
              <a:rPr sz="1500" b="0">
                <a:solidFill>
                  <a:srgbClr val="202020"/>
                </a:solidFill>
              </a:rPr>
              <a:t>（信号停直接进入，系统调用停经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ptrace_report_syscall</a:t>
            </a:r>
            <a:r>
              <a:rPr sz="1500" b="0">
                <a:solidFill>
                  <a:srgbClr val="202020"/>
                </a:solidFill>
              </a:rPr>
              <a:t>、事件停经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ptrace_event</a:t>
            </a:r>
            <a:r>
              <a:rPr sz="1500" b="0">
                <a:solidFill>
                  <a:srgbClr val="202020"/>
                </a:solidFill>
              </a:rPr>
              <a:t>，均汇入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ptrace_notify</a:t>
            </a:r>
            <a:r>
              <a:rPr sz="1500" b="0">
                <a:solidFill>
                  <a:srgbClr val="202020"/>
                </a:solidFill>
              </a:rPr>
              <a:t>）；被跟踪线程的停止状态保存于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TASK_TRACED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jobctl</a:t>
            </a:r>
            <a:r>
              <a:rPr sz="1500" b="0">
                <a:solidFill>
                  <a:srgbClr val="202020"/>
                </a:solidFill>
              </a:rPr>
              <a:t> 标志，进入停止时置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TASK_TRACED</a:t>
            </a:r>
            <a:r>
              <a:rPr sz="1500" b="0">
                <a:solidFill>
                  <a:srgbClr val="202020"/>
                </a:solidFill>
              </a:rPr>
              <a:t>、向父进程投递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SIGCHLD</a:t>
            </a:r>
            <a:r>
              <a:rPr sz="1500" b="0">
                <a:solidFill>
                  <a:srgbClr val="202020"/>
                </a:solidFill>
              </a:rPr>
              <a:t>，随后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schedule()</a:t>
            </a:r>
            <a:r>
              <a:rPr sz="1500" b="0">
                <a:solidFill>
                  <a:srgbClr val="202020"/>
                </a:solidFill>
              </a:rPr>
              <a:t> 让出 CPU，tracer 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wake_up_state(__TASK_TRACED)</a:t>
            </a:r>
            <a:r>
              <a:rPr sz="1500" b="0">
                <a:solidFill>
                  <a:srgbClr val="202020"/>
                </a:solidFill>
              </a:rPr>
              <a:t> 将其唤醒。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与本项目的差异</a:t>
            </a:r>
            <a:r>
              <a:rPr sz="1500" b="0">
                <a:solidFill>
                  <a:srgbClr val="202020"/>
                </a:solidFill>
              </a:rPr>
              <a:t>：由于停止状态与调度状态绑定，tracer 在操作前必须经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wait_task_inactive(__TASK_TRACED|TASK_FROZEN)</a:t>
            </a:r>
            <a:r>
              <a:rPr sz="1500" b="0">
                <a:solidFill>
                  <a:srgbClr val="202020"/>
                </a:solidFill>
              </a:rPr>
              <a:t> 等待目标线程实际离开 CPU——与调度器强耦合；本项目仅以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is_stopped</a:t>
            </a:r>
            <a:r>
              <a:rPr sz="1500" b="0">
                <a:solidFill>
                  <a:srgbClr val="202020"/>
                </a:solidFill>
              </a:rPr>
              <a:t> 原子标志为准，</a:t>
            </a:r>
            <a:r>
              <a:rPr sz="1500" b="1">
                <a:solidFill>
                  <a:srgbClr val="202020"/>
                </a:solidFill>
              </a:rPr>
              <a:t>与线程是否在 CPU 上执行无关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2.3 跟踪关系：旁路 map，无全局大锁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2624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跟踪关系是一张</a:t>
            </a:r>
            <a:r>
              <a:rPr sz="1500" b="1">
                <a:solidFill>
                  <a:srgbClr val="202020"/>
                </a:solidFill>
              </a:rPr>
              <a:t>旁路表</a:t>
            </a:r>
            <a:r>
              <a:rPr sz="1500" b="0">
                <a:solidFill>
                  <a:srgbClr val="202020"/>
                </a:solidFill>
              </a:rPr>
              <a:t>：tracer 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tracees: Mutex&lt;BTreeMap&lt;Tid, Arc&lt;Thread&gt;&gt;&gt;</a:t>
            </a:r>
            <a:r>
              <a:rPr sz="1500" b="0">
                <a:solidFill>
                  <a:srgbClr val="202020"/>
                </a:solidFill>
              </a:rPr>
              <a:t> 强引用持有 tracee，tracee 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Weak&lt;Thread&gt;</a:t>
            </a:r>
            <a:r>
              <a:rPr sz="1500" b="0">
                <a:solidFill>
                  <a:srgbClr val="202020"/>
                </a:solidFill>
              </a:rPr>
              <a:t> 反指 tracer（打破引用环），</a:t>
            </a:r>
            <a:r>
              <a:rPr sz="1500" b="1">
                <a:solidFill>
                  <a:srgbClr val="202020"/>
                </a:solidFill>
              </a:rPr>
              <a:t>完全不动进程树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tracer 的 wait 亦遍历该旁路 map（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try_wait_tracees</a:t>
            </a:r>
            <a:r>
              <a:rPr sz="1500" b="0">
                <a:solidFill>
                  <a:srgbClr val="202020"/>
                </a:solidFill>
              </a:rPr>
              <a:t>），而非子进程链；每个 tracee 各持有一个 per-object 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TraceeStatus</a:t>
            </a:r>
            <a:r>
              <a:rPr sz="1500" b="0">
                <a:solidFill>
                  <a:srgbClr val="202020"/>
                </a:solidFill>
              </a:rPr>
              <a:t>，关系变更仅涉及</a:t>
            </a:r>
            <a:r>
              <a:rPr sz="1500" b="1">
                <a:solidFill>
                  <a:srgbClr val="202020"/>
                </a:solidFill>
              </a:rPr>
              <a:t>两把 per-object 锁</a:t>
            </a:r>
            <a:r>
              <a:rPr sz="1500" b="0">
                <a:solidFill>
                  <a:srgbClr val="202020"/>
                </a:solidFill>
              </a:rPr>
              <a:t>，固定锁序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 → tracee_status</a:t>
            </a:r>
            <a:r>
              <a:rPr sz="1500" b="0">
                <a:solidFill>
                  <a:srgbClr val="202020"/>
                </a:solidFill>
              </a:rPr>
              <a:t>，避免遍历与停止 / 退出之间交叉等待造成死锁。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与 Linux 的差异（已核 Linux 7.1）</a:t>
            </a:r>
            <a:r>
              <a:rPr sz="1500" b="0">
                <a:solidFill>
                  <a:srgbClr val="202020"/>
                </a:solidFill>
              </a:rPr>
              <a:t>：Linux 把 tracee </a:t>
            </a:r>
            <a:r>
              <a:rPr sz="1500" b="1">
                <a:solidFill>
                  <a:srgbClr val="202020"/>
                </a:solidFill>
              </a:rPr>
              <a:t>reparent</a:t>
            </a:r>
            <a:r>
              <a:rPr sz="1500" b="0">
                <a:solidFill>
                  <a:srgbClr val="202020"/>
                </a:solidFill>
              </a:rPr>
              <a:t> 进全局进程树（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__ptrace_link</a:t>
            </a:r>
            <a:r>
              <a:rPr sz="1500" b="0">
                <a:solidFill>
                  <a:srgbClr val="202020"/>
                </a:solidFill>
              </a:rPr>
              <a:t> 改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child-&gt;parent</a:t>
            </a:r>
            <a:r>
              <a:rPr sz="1500" b="0">
                <a:solidFill>
                  <a:srgbClr val="202020"/>
                </a:solidFill>
              </a:rPr>
              <a:t>），故 attach / traceme / detach / exit </a:t>
            </a:r>
            <a:r>
              <a:rPr sz="1500" b="1">
                <a:solidFill>
                  <a:srgbClr val="202020"/>
                </a:solidFill>
              </a:rPr>
              <a:t>全程持有全局写锁 tasklist_lock</a:t>
            </a:r>
            <a:r>
              <a:rPr sz="1500" b="0">
                <a:solidFill>
                  <a:srgbClr val="202020"/>
                </a:solidFill>
              </a:rPr>
              <a:t>；本项目因关系与进程树解耦，无需该全局锁。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2.4 跨线程读写寄存器：寄存器副本，编译期强制检查内存安全</a:t>
            </a:r>
          </a:p>
        </p:txBody>
      </p:sp>
      <p:pic>
        <p:nvPicPr>
          <p:cNvPr id="3" name="Picture 2" descr="08_register_ab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645" y="1783080"/>
            <a:ext cx="3591668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快照式访问</a:t>
            </a:r>
            <a:r>
              <a:rPr sz="1500" b="0">
                <a:solidFill>
                  <a:srgbClr val="202020"/>
                </a:solidFill>
              </a:rPr>
              <a:t>：tracee 进入 ptrace-stop 时，持锁将用户寄存器上下文复制为一份连续副本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CUserRegsStruct</a:t>
            </a:r>
            <a:r>
              <a:rPr sz="1500" b="0">
                <a:solidFill>
                  <a:srgbClr val="202020"/>
                </a:solidFill>
              </a:rPr>
              <a:t>；tracer 在副本上按字段读写，resume 时回写。一致性由互斥锁保证、与其是否在 CPU 上执行无关——这正是 2.2 解耦得以成立的前提。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按字段分级管控</a:t>
            </a:r>
            <a:r>
              <a:rPr sz="1500" b="0">
                <a:solidFill>
                  <a:srgbClr val="202020"/>
                </a:solidFill>
              </a:rPr>
              <a:t>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rax..r15</a:t>
            </a:r>
            <a:r>
              <a:rPr sz="1500" b="0">
                <a:solidFill>
                  <a:srgbClr val="202020"/>
                </a:solidFill>
              </a:rPr>
              <a:t> 可自由写入；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rip/rsp/fsbase/gsbase</a:t>
            </a:r>
            <a:r>
              <a:rPr sz="1500" b="0">
                <a:solidFill>
                  <a:srgbClr val="202020"/>
                </a:solidFill>
              </a:rPr>
              <a:t> 必须是用户地址；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rflags</a:t>
            </a:r>
            <a:r>
              <a:rPr sz="1500" b="0">
                <a:solidFill>
                  <a:srgbClr val="202020"/>
                </a:solidFill>
              </a:rPr>
              <a:t> 仅放用户态可控位；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cs/ss/ds/es</a:t>
            </a:r>
            <a:r>
              <a:rPr sz="1500" b="0">
                <a:solidFill>
                  <a:srgbClr val="202020"/>
                </a:solidFill>
              </a:rPr>
              <a:t> 段寄存器固定（源码注释原文：比 Linux 更严）。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为何要这样设计（已核 Linux 7.1）</a:t>
            </a:r>
            <a:r>
              <a:rPr sz="1500" b="0">
                <a:solidFill>
                  <a:srgbClr val="202020"/>
                </a:solidFill>
              </a:rPr>
              <a:t>：Linux 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</a:t>
            </a:r>
            <a:r>
              <a:rPr sz="1500" b="0">
                <a:solidFill>
                  <a:srgbClr val="202020"/>
                </a:solidFill>
              </a:rPr>
              <a:t> </a:t>
            </a:r>
            <a:r>
              <a:rPr sz="1500" b="1">
                <a:solidFill>
                  <a:srgbClr val="202020"/>
                </a:solidFill>
              </a:rPr>
              <a:t>原地读写</a:t>
            </a:r>
            <a:r>
              <a:rPr sz="1500" b="0">
                <a:solidFill>
                  <a:srgbClr val="202020"/>
                </a:solidFill>
              </a:rPr>
              <a:t> tracee 内核栈上的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pt_regs</a:t>
            </a:r>
            <a:r>
              <a:rPr sz="1500" b="0">
                <a:solidFill>
                  <a:srgbClr val="202020"/>
                </a:solidFill>
              </a:rPr>
              <a:t>，现场还散落在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task-&gt;thread</a:t>
            </a:r>
            <a:r>
              <a:rPr sz="1500" b="0">
                <a:solidFill>
                  <a:srgbClr val="202020"/>
                </a:solidFill>
              </a:rPr>
              <a:t>（fsbase/gsbase）；由于修改的是活动的内核栈，必须先经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wait_task_inactive</a:t>
            </a:r>
            <a:r>
              <a:rPr sz="1500" b="0">
                <a:solidFill>
                  <a:srgbClr val="202020"/>
                </a:solidFill>
              </a:rPr>
              <a:t> 等待其离开 CPU。这种原地裸指针访问可一比一翻译为 unsafe Rust，但以</a:t>
            </a:r>
            <a:r>
              <a:rPr sz="1500" b="1">
                <a:solidFill>
                  <a:srgbClr val="202020"/>
                </a:solidFill>
              </a:rPr>
              <a:t>安全 Rust</a:t>
            </a:r>
            <a:r>
              <a:rPr sz="1500" b="0">
                <a:solidFill>
                  <a:srgbClr val="202020"/>
                </a:solidFill>
              </a:rPr>
              <a:t> 表达需要快照式设计：副本为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Pod</a:t>
            </a:r>
            <a:r>
              <a:rPr sz="1500" b="0">
                <a:solidFill>
                  <a:srgbClr val="202020"/>
                </a:solidFill>
              </a:rPr>
              <a:t>、按字节安全访问，跨进程内存经可失败的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VmReader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VmWriter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UFrame</a:t>
            </a:r>
            <a:r>
              <a:rPr sz="1500" b="0">
                <a:solidFill>
                  <a:srgbClr val="202020"/>
                </a:solidFill>
              </a:rPr>
              <a:t> 句柄，越界与释放后访问由所有权与类型系统在</a:t>
            </a:r>
            <a:r>
              <a:rPr sz="1500" b="1">
                <a:solidFill>
                  <a:srgbClr val="202020"/>
                </a:solidFill>
              </a:rPr>
              <a:t>编译期</a:t>
            </a:r>
            <a:r>
              <a:rPr sz="1500" b="0">
                <a:solidFill>
                  <a:srgbClr val="202020"/>
                </a:solidFill>
              </a:rPr>
              <a:t>阻止，kernel/ 全程零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unsafe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2.5 历史包袱：可维护性改良（字段策略表与信号四态机）</a:t>
            </a:r>
          </a:p>
        </p:txBody>
      </p:sp>
      <p:pic>
        <p:nvPicPr>
          <p:cNvPr id="3" name="Picture 2" descr="06_signal_st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876" y="1783080"/>
            <a:ext cx="7387206" cy="21762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两个将分散、复用收敛为单一显式表示的实例：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寄存器字段策略：一张表 vs 重列多遍</a:t>
            </a:r>
            <a:r>
              <a:rPr sz="1500" b="0">
                <a:solidFill>
                  <a:srgbClr val="202020"/>
                </a:solidFill>
              </a:rPr>
              <a:t>。Linux 中各字段的特殊处理散布于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</a:t>
            </a:r>
            <a:r>
              <a:rPr sz="1500" b="0">
                <a:solidFill>
                  <a:srgbClr val="202020"/>
                </a:solidFill>
              </a:rPr>
              <a:t>，32 位 compat 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getreg32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putreg32</a:t>
            </a:r>
            <a:r>
              <a:rPr sz="1500" b="0">
                <a:solidFill>
                  <a:srgbClr val="202020"/>
                </a:solidFill>
              </a:rPr>
              <a:t> 再以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SEG32</a:t>
            </a:r>
            <a:r>
              <a:rPr sz="1500" b="0">
                <a:solidFill>
                  <a:srgbClr val="202020"/>
                </a:solidFill>
              </a:rPr>
              <a:t> 宏重复列出段寄存器（读 / 写 × 64 / 32 位约 4 处分派）。本项目用单张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REG_RULES</a:t>
            </a:r>
            <a:r>
              <a:rPr sz="1500" b="0">
                <a:solidFill>
                  <a:srgbClr val="202020"/>
                </a:solidFill>
              </a:rPr>
              <a:t> 表为每个字段声明一次策略，读快照 / 写校验 / 按偏移 PEEK / POKEUSER 四条路径共查同表，并以编译期断言防止表与结构体漂移。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信号四态机：显式状态 vs 复用字段</a:t>
            </a:r>
            <a:r>
              <a:rPr sz="1500" b="0">
                <a:solidFill>
                  <a:srgbClr val="202020"/>
                </a:solidFill>
              </a:rPr>
              <a:t>。ptrace-stop 信号的生命周期，本项目以一个四态机 Empty / Pending / Consumed / Injected 显式建模（停 → Pending，wait → Consumed，tracer 注入 → Injected，resume 回投或抑制）。Linux 将同一生命周期分摊在复用字段上：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exit_code</a:t>
            </a:r>
            <a:r>
              <a:rPr sz="1500" b="0">
                <a:solidFill>
                  <a:srgbClr val="202020"/>
                </a:solidFill>
              </a:rPr>
              <a:t> 既承载停止码，又被回读为注入的新信号，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last_siginfo</a:t>
            </a:r>
            <a:r>
              <a:rPr sz="1500" b="0">
                <a:solidFill>
                  <a:srgbClr val="202020"/>
                </a:solidFill>
              </a:rPr>
              <a:t> 指针置 / 清，另加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jobctl</a:t>
            </a:r>
            <a:r>
              <a:rPr sz="1500" b="0">
                <a:solidFill>
                  <a:srgbClr val="202020"/>
                </a:solidFill>
              </a:rPr>
              <a:t> 标志。两者行为等价，显式状态机更易读、易扩展。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2.6 跨进程内存访问：与 Linux 一致的忠实实现</a:t>
            </a:r>
          </a:p>
        </p:txBody>
      </p:sp>
      <p:pic>
        <p:nvPicPr>
          <p:cNvPr id="3" name="Picture 2" descr="07_mem_a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577" y="1783080"/>
            <a:ext cx="3367805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 PEEK/POKE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/proc/&lt;pid&gt;/mem</a:t>
            </a:r>
            <a:r>
              <a:rPr sz="1500" b="0">
                <a:solidFill>
                  <a:srgbClr val="202020"/>
                </a:solidFill>
              </a:rPr>
              <a:t> 走同一套底层读写原语，读写的均为另一进程的内存——此点</a:t>
            </a:r>
            <a:r>
              <a:rPr sz="1500" b="1">
                <a:solidFill>
                  <a:srgbClr val="202020"/>
                </a:solidFill>
              </a:rPr>
              <a:t>与 Linux 一致</a:t>
            </a:r>
            <a:r>
              <a:rPr sz="1500" b="0">
                <a:solidFill>
                  <a:srgbClr val="202020"/>
                </a:solidFill>
              </a:rPr>
              <a:t>（Linux 两者亦均经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access_remote_vm</a:t>
            </a:r>
            <a:r>
              <a:rPr sz="1500" b="0">
                <a:solidFill>
                  <a:srgbClr val="202020"/>
                </a:solidFill>
              </a:rPr>
              <a:t>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不切换地址空间</a:t>
            </a:r>
            <a:r>
              <a:rPr sz="1500" b="0">
                <a:solidFill>
                  <a:srgbClr val="202020"/>
                </a:solidFill>
              </a:rPr>
              <a:t>：不将 CPU 页表切换至目标进程，而是直接在其地址空间内按页定位物理页帧并拷贝；遇缺页则主动触发一次缺页处理后重试。读、写、清零三种操作共用同一泛型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access_alien</a:t>
            </a:r>
            <a:r>
              <a:rPr sz="1500" b="0">
                <a:solidFill>
                  <a:srgbClr val="202020"/>
                </a:solidFill>
              </a:rPr>
              <a:t> 与闭包，易错的分页循环仅实现一处。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整条跨进程读写均处于统一的读写接口与权限检查边界之内，安全可控。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此部分与 Linux 行为一致，价值在于忠实与安全，而非差异。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2.7 安全模型：统一鉴权 + Yama（与 Linux 一致）</a:t>
            </a:r>
          </a:p>
        </p:txBody>
      </p:sp>
      <p:pic>
        <p:nvPicPr>
          <p:cNvPr id="3" name="Picture 2" descr="10_security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940" y="1783080"/>
            <a:ext cx="3738438" cy="44805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3640" y="1783080"/>
            <a:ext cx="498348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统一决策链：</a:t>
            </a:r>
            <a:r>
              <a:rPr sz="1500" b="1">
                <a:solidFill>
                  <a:srgbClr val="202020"/>
                </a:solidFill>
              </a:rPr>
              <a:t>同进程 → UID/GID 匹配 → CAP_SYS_PTRACE → Yama LSM hook</a:t>
            </a:r>
            <a:r>
              <a:rPr sz="1500" b="0">
                <a:solidFill>
                  <a:srgbClr val="202020"/>
                </a:solidFill>
              </a:rPr>
              <a:t>，与 Linux 行为对齐。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ptrace 与 procfs 区分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Read/Attach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Fs/Real creds</a:t>
            </a:r>
            <a:r>
              <a:rPr sz="1500" b="0">
                <a:solidFill>
                  <a:srgbClr val="202020"/>
                </a:solidFill>
              </a:rPr>
              <a:t>，</a:t>
            </a:r>
            <a:r>
              <a:rPr sz="1500" b="1">
                <a:solidFill>
                  <a:srgbClr val="202020"/>
                </a:solidFill>
              </a:rPr>
              <a:t>避免 procfs 绕过</a:t>
            </a:r>
            <a:r>
              <a:rPr sz="1500" b="0">
                <a:solidFill>
                  <a:srgbClr val="202020"/>
                </a:solidFill>
              </a:rPr>
              <a:t>调试鉴权。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Yama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ptrace_scope</a:t>
            </a:r>
            <a:r>
              <a:rPr sz="1500" b="0">
                <a:solidFill>
                  <a:srgbClr val="202020"/>
                </a:solidFill>
              </a:rPr>
              <a:t> 四档对各放行条件的影响（✓ 放行 / ✗ 拒绝；同进程恒放行）：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3886200"/>
          <a:ext cx="4983480" cy="2377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870"/>
                <a:gridCol w="1245870"/>
                <a:gridCol w="1245870"/>
                <a:gridCol w="1245870"/>
              </a:tblGrid>
              <a:tr h="47548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Yama scope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调用者是其祖先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具备 CAP_SYS_PTRACE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仅 UID/GID 匹配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0 Disabled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1 Relational（默认）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2 Capability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7549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3 NoAttach（设置后不可降级）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3　测试与应用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在 Asterinas 上运行真实调试工具，并加入测试体系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3.1 GDB / strace 实机演示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766560" y="1783080"/>
            <a:ext cx="4480560" cy="3931920"/>
          </a:xfrm>
          <a:prstGeom prst="roundRect">
            <a:avLst/>
          </a:prstGeom>
          <a:solidFill>
            <a:srgbClr val="2A2A2A"/>
          </a:solidFill>
          <a:ln w="19050">
            <a:solidFill>
              <a:srgbClr val="A0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▶  演示视频
（在此插入）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557784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606060"/>
                </a:solidFill>
              </a:rPr>
              <a:t>此处插入演示视频</a:t>
            </a:r>
            <a:r>
              <a:rPr sz="1250" b="0">
                <a:solidFill>
                  <a:srgbClr val="606060"/>
                </a:solidFill>
              </a:rPr>
              <a:t>（请在 PPT 中嵌入）：在 Asterinas 上真实运行 GDB 与 strace，内容即下方 CI 用例，已纳入持续集成、每次提交自动回归。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GDB</a:t>
            </a:r>
            <a:r>
              <a:rPr sz="1500" b="0">
                <a:solidFill>
                  <a:srgbClr val="202020"/>
                </a:solidFill>
              </a:rPr>
              <a:t>：持续集成用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gdb -batch</a:t>
            </a:r>
            <a:r>
              <a:rPr sz="1500" b="0">
                <a:solidFill>
                  <a:srgbClr val="202020"/>
                </a:solidFill>
              </a:rPr>
              <a:t> 调一段带断点的 C 程序，逐项校验输出：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命中断点，打印调用栈回溯（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#0 hello_world</a:t>
            </a:r>
            <a:r>
              <a:rPr sz="1500" b="0">
                <a:solidFill>
                  <a:srgbClr val="202020"/>
                </a:solidFill>
              </a:rPr>
              <a:t> →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#1 … in main</a:t>
            </a:r>
            <a:r>
              <a:rPr sz="1500" b="0">
                <a:solidFill>
                  <a:srgbClr val="202020"/>
                </a:solidFill>
              </a:rPr>
              <a:t>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打印并修改变量与内存（读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$1 = 1</a:t>
            </a:r>
            <a:r>
              <a:rPr sz="1500" b="0">
                <a:solidFill>
                  <a:srgbClr val="202020"/>
                </a:solidFill>
              </a:rPr>
              <a:t>、改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*p = 4321</a:t>
            </a:r>
            <a:r>
              <a:rPr sz="1500" b="0">
                <a:solidFill>
                  <a:srgbClr val="202020"/>
                </a:solidFill>
              </a:rPr>
              <a:t>、内存校验通过）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读寄存器（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rip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rsp</a:t>
            </a:r>
            <a:r>
              <a:rPr sz="1500" b="0">
                <a:solidFill>
                  <a:srgbClr val="202020"/>
                </a:solidFill>
              </a:rPr>
              <a:t>），继续运行得到正确输出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全程</a:t>
            </a:r>
            <a:r>
              <a:rPr sz="1500" b="1">
                <a:solidFill>
                  <a:srgbClr val="202020"/>
                </a:solidFill>
              </a:rPr>
              <a:t>无任何 GDB warning</a:t>
            </a:r>
            <a:r>
              <a:rPr sz="1500" b="0">
                <a:solidFill>
                  <a:srgbClr val="202020"/>
                </a:solidFill>
              </a:rPr>
              <a:t>——说明寄存器/段 ABI 已对齐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strace</a:t>
            </a:r>
            <a:r>
              <a:rPr sz="1500" b="0">
                <a:solidFill>
                  <a:srgbClr val="202020"/>
                </a:solidFill>
              </a:rPr>
              <a:t>：持续集成运行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strace ls /tmp</a:t>
            </a:r>
            <a:r>
              <a:rPr sz="1500" b="0">
                <a:solidFill>
                  <a:srgbClr val="202020"/>
                </a:solidFill>
              </a:rPr>
              <a:t>，校验完整抓到系统调用序列（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execve()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getdents64()</a:t>
            </a:r>
            <a:r>
              <a:rPr sz="1500" b="0">
                <a:solidFill>
                  <a:srgbClr val="202020"/>
                </a:solidFill>
              </a:rPr>
              <a:t> 等）。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相关能力已随 Asterinas 0.18.0 正式发布（发布链接 / commit 待补）。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3.2 测试与验证方案</a:t>
            </a:r>
          </a:p>
        </p:txBody>
      </p:sp>
      <p:pic>
        <p:nvPicPr>
          <p:cNvPr id="3" name="Picture 2" descr="12_test_pyra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627" y="1783080"/>
            <a:ext cx="3097705" cy="20848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验证体系按代码自底向上分四层（金字塔：越往上越少、越慢、价值越高）：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简单回归测试</a:t>
            </a:r>
            <a:r>
              <a:rPr sz="1300" b="0">
                <a:solidFill>
                  <a:srgbClr val="202020"/>
                </a:solidFill>
              </a:rPr>
              <a:t>：pid_mem、ptrace、set_options、read_write_regs、yama 等单点 C 用例。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复杂回归测试</a:t>
            </a:r>
            <a:r>
              <a:rPr sz="1300" b="0">
                <a:solidFill>
                  <a:srgbClr val="202020"/>
                </a:solidFill>
              </a:rPr>
              <a:t>：手写 debugger / debuggee 配对，模拟真实调试器的 attach、断点、单步、读写全流程。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一致性测试</a:t>
            </a:r>
            <a:r>
              <a:rPr sz="1300" b="0">
                <a:solidFill>
                  <a:srgbClr val="202020"/>
                </a:solidFill>
              </a:rPr>
              <a:t>：gVisor ptrace_test / proc_test 与 LTP，以 ABI 行为为准。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端到端测试</a:t>
            </a:r>
            <a:r>
              <a:rPr sz="1300" b="0">
                <a:solidFill>
                  <a:srgbClr val="202020"/>
                </a:solidFill>
              </a:rPr>
              <a:t>：NixOS 上以真实 GDB、strace 验收。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3.3 实现中的细节打磨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主线特性之外，还有一批小而必要的支撑改动（小 PR），它们决定了真实工具能否真正跑通：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/proc/pid/mem force-write</a:t>
            </a:r>
            <a:r>
              <a:rPr sz="1500" b="0">
                <a:solidFill>
                  <a:srgbClr val="202020"/>
                </a:solidFill>
              </a:rPr>
              <a:t>：允许写入只读代码页——这是写入 int3 软件断点的前提。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x86 GDT 插入空 KCODE32 槽</a:t>
            </a:r>
            <a:r>
              <a:rPr sz="1500" b="0">
                <a:solidFill>
                  <a:srgbClr val="202020"/>
                </a:solidFill>
              </a:rPr>
              <a:t>：把 USER_CS / USER_SS 调成 Linux 期望的 0x33 / 0x2b，消除 GDB 警告。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debug registers 读仿真 + personality 行为</a:t>
            </a:r>
            <a:r>
              <a:rPr sz="1500" b="0">
                <a:solidFill>
                  <a:srgbClr val="202020"/>
                </a:solidFill>
              </a:rPr>
              <a:t>：满足 GDB 的探测，又不放开硬件断点。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补全</a:t>
            </a:r>
            <a:r>
              <a:rPr sz="1500" b="0">
                <a:solidFill>
                  <a:srgbClr val="202020"/>
                </a:solidFill>
              </a:rPr>
              <a:t>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/proc/[pid]/maps</a:t>
            </a:r>
            <a:r>
              <a:rPr sz="1500" b="0">
                <a:solidFill>
                  <a:srgbClr val="202020"/>
                </a:solidFill>
              </a:rPr>
              <a:t> 补全非 [stack] 条目以定位代码/库映射；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/proc/pid/auxv</a:t>
            </a:r>
            <a:r>
              <a:rPr sz="1500" b="0">
                <a:solidFill>
                  <a:srgbClr val="202020"/>
                </a:solidFill>
              </a:rPr>
              <a:t> 暴露辅助向量；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/proc/[tid]</a:t>
            </a:r>
            <a:r>
              <a:rPr sz="1500" b="0">
                <a:solidFill>
                  <a:srgbClr val="202020"/>
                </a:solidFill>
              </a:rPr>
              <a:t> 提供每线程视图。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tkill 系统调用与 Yama ptrace_scope</a:t>
            </a:r>
            <a:r>
              <a:rPr sz="1500" b="0">
                <a:solidFill>
                  <a:srgbClr val="202020"/>
                </a:solidFill>
              </a:rPr>
              <a:t>：补齐定向信号投递与调试安全边界。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4　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成果回顾与后续方向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4.1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设计核心</a:t>
            </a:r>
            <a:r>
              <a:rPr sz="1500" b="0">
                <a:solidFill>
                  <a:srgbClr val="202020"/>
                </a:solidFill>
              </a:rPr>
              <a:t>　以 </a:t>
            </a:r>
            <a:r>
              <a:rPr sz="1500" b="1">
                <a:solidFill>
                  <a:srgbClr val="202020"/>
                </a:solidFill>
              </a:rPr>
              <a:t>ptrace-stop 状态机</a:t>
            </a:r>
            <a:r>
              <a:rPr sz="1500" b="0">
                <a:solidFill>
                  <a:srgbClr val="202020"/>
                </a:solidFill>
              </a:rPr>
              <a:t>为中心，把信号、异常、系统调用、wait、寄存器、跨进程内存、安全策略统一到一条 </a:t>
            </a:r>
            <a:r>
              <a:rPr sz="1500" b="1">
                <a:solidFill>
                  <a:srgbClr val="202020"/>
                </a:solidFill>
              </a:rPr>
              <a:t>Linux ABI 兼容</a:t>
            </a:r>
            <a:r>
              <a:rPr sz="1500" b="0">
                <a:solidFill>
                  <a:srgbClr val="202020"/>
                </a:solidFill>
              </a:rPr>
              <a:t>的调试路径。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项目价值</a:t>
            </a:r>
            <a:r>
              <a:rPr sz="1500" b="0">
                <a:solidFill>
                  <a:srgbClr val="202020"/>
                </a:solidFill>
              </a:rPr>
              <a:t>　不止「能跑 GDB」——更为 RustOS 建立了</a:t>
            </a:r>
            <a:r>
              <a:rPr sz="1500" b="1">
                <a:solidFill>
                  <a:srgbClr val="202020"/>
                </a:solidFill>
              </a:rPr>
              <a:t>跨越多个内核子系统的调试能力骨架</a:t>
            </a:r>
            <a:r>
              <a:rPr sz="1500" b="0">
                <a:solidFill>
                  <a:srgbClr val="202020"/>
                </a:solidFill>
              </a:rPr>
              <a:t>，同时成为检验进程、内存、信号与安全模型正确性的</a:t>
            </a:r>
            <a:r>
              <a:rPr sz="1500" b="1">
                <a:solidFill>
                  <a:srgbClr val="202020"/>
                </a:solidFill>
              </a:rPr>
              <a:t>综合压力测试入口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后续方向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中途调试已运行进程：支持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PTRACE_ATTACH / DETACH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调试多线程进程：fork/vfork/clone 的 event-stop。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支持 GDB watchpoint 观察点：x86 debug registers 真实读写。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寄存器扩展：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GETREGSET</a:t>
            </a:r>
            <a:r>
              <a:rPr sz="1500" b="0">
                <a:solidFill>
                  <a:srgbClr val="202020"/>
                </a:solidFill>
              </a:rPr>
              <a:t>、FP/SIMD。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跨架构推广：riscv64 / loongarch64。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A00016"/>
                </a:solidFill>
              </a:rPr>
              <a:t>谢谢！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10015</Words>
  <Application>WPS 演示</Application>
  <PresentationFormat>宽屏</PresentationFormat>
  <Paragraphs>1051</Paragraphs>
  <Slides>31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31</vt:i4>
      </vt:variant>
    </vt:vector>
  </HeadingPairs>
  <TitlesOfParts>
    <vt:vector size="66" baseType="lpstr">
      <vt:lpstr>Arial</vt:lpstr>
      <vt:lpstr>宋体</vt:lpstr>
      <vt:lpstr>Wingdings</vt:lpstr>
      <vt:lpstr>方正大标宋简体</vt:lpstr>
      <vt:lpstr>微软雅黑</vt:lpstr>
      <vt:lpstr>方正小标宋简体</vt:lpstr>
      <vt:lpstr>微软雅黑 Light</vt:lpstr>
      <vt:lpstr>方正中等线简体</vt:lpstr>
      <vt:lpstr>Arial Black</vt:lpstr>
      <vt:lpstr>EB Garamond ExtraBold</vt:lpstr>
      <vt:lpstr>Garamond</vt:lpstr>
      <vt:lpstr>思源黑体 CN Heavy</vt:lpstr>
      <vt:lpstr>方正正中黑简体</vt:lpstr>
      <vt:lpstr>思源黑体 CN Bold</vt:lpstr>
      <vt:lpstr>等线</vt:lpstr>
      <vt:lpstr>方正楷体简体</vt:lpstr>
      <vt:lpstr>思源黑体 Bold</vt:lpstr>
      <vt:lpstr>方正书宋简体</vt:lpstr>
      <vt:lpstr>思源黑体</vt:lpstr>
      <vt:lpstr>Arial Unicode MS</vt:lpstr>
      <vt:lpstr>等线 Light</vt:lpstr>
      <vt:lpstr>KSOF10C3A506</vt:lpstr>
      <vt:lpstr>Segoe Print</vt:lpstr>
      <vt:lpstr>思源黑体 2</vt:lpstr>
      <vt:lpstr>方正粗宋简体</vt:lpstr>
      <vt:lpstr>思源黑体 1 Bold</vt:lpstr>
      <vt:lpstr>黑体</vt:lpstr>
      <vt:lpstr>KSOF615CD7A2</vt:lpstr>
      <vt:lpstr>微软雅黑</vt:lpstr>
      <vt:lpstr>KSOFCE745A90</vt:lpstr>
      <vt:lpstr>Consolas</vt:lpstr>
      <vt:lpstr>Consolas</vt:lpstr>
      <vt:lpstr>Consolas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陈沛羽_深圳研院</dc:creator>
  <cp:lastModifiedBy>范心怡</cp:lastModifiedBy>
  <cp:revision>17</cp:revision>
  <dcterms:created xsi:type="dcterms:W3CDTF">2025-12-03T04:45:00Z</dcterms:created>
  <dcterms:modified xsi:type="dcterms:W3CDTF">2026-06-13T15:49:59Z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8B28768629894ACA8202718EE72CF5A8_12</vt:lpwstr>
  </property>
</Properties>
</file>