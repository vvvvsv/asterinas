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77" r:id="rId8"/>
    <p:sldId id="268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0" r:id="rId19"/>
    <p:sldId id="272" r:id="rId20"/>
    <p:sldId id="271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F2D2D2"/>
    <a:srgbClr val="AE8585"/>
    <a:srgbClr val="DFC3C2"/>
    <a:srgbClr val="E6E6E6"/>
    <a:srgbClr val="DEE2E6"/>
    <a:srgbClr val="8A8D8F"/>
    <a:srgbClr val="384600"/>
    <a:srgbClr val="87674F"/>
    <a:srgbClr val="3D6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3846" autoAdjust="0"/>
  </p:normalViewPr>
  <p:slideViewPr>
    <p:cSldViewPr snapToGrid="0">
      <p:cViewPr>
        <p:scale>
          <a:sx n="44" d="100"/>
          <a:sy n="44" d="100"/>
        </p:scale>
        <p:origin x="564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9746-BB1D-419B-A6DD-5EE22E0D79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tags" Target="../tags/tag2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417320"/>
            <a:ext cx="9966960" cy="11887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3800" b="1">
                <a:solidFill>
                  <a:srgbClr val="A00016"/>
                </a:solidFill>
              </a:rPr>
              <a:t>面向 RustOS 的进程调试能力构建</a:t>
            </a:r>
            <a:endParaRPr sz="3800" b="1">
              <a:solidFill>
                <a:srgbClr val="A0001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2834640"/>
            <a:ext cx="99669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9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在 Asterinas 上原生支持 GDB / strace 的 ptrace 子系统</a:t>
            </a:r>
            <a:endParaRPr sz="19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996696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2026 全国大学生计算机系统能力大赛、操作系统设计赛（全国）</a:t>
            </a:r>
            <a:endParaRPr sz="1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  <a:p>
            <a:pPr>
              <a:spcAft>
                <a:spcPts val="500"/>
              </a:spcAft>
            </a:pPr>
            <a:r>
              <a:rPr sz="1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OS 功能挑战赛道、proj9</a:t>
            </a:r>
            <a:endParaRPr sz="1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  <a:p>
            <a:pPr>
              <a:spcAft>
                <a:spcPts val="500"/>
              </a:spcAft>
            </a:pPr>
            <a:r>
              <a:rPr sz="1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汇报人 / 日期 / 指导老师</a:t>
            </a:r>
            <a:endParaRPr sz="1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68680"/>
            <a:ext cx="99669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4000" b="1">
                <a:solidFill>
                  <a:srgbClr val="A00016"/>
                </a:solidFill>
              </a:rPr>
              <a:t>目  录</a:t>
            </a:r>
            <a:endParaRPr sz="4000" b="1">
              <a:solidFill>
                <a:srgbClr val="A00016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2194560"/>
          <a:ext cx="960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658368">
                <a:tc>
                  <a:txBody>
                    <a:bodyPr/>
                    <a:lstStyle/>
                    <a:p/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章节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关键词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1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研究背景与目标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问题定义、总体目标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2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核心设计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总体架构、状态机、内存、寄存器、安全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3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实现与验证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实机演示、测试体系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4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总结与展望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项目价值、后续方向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1　研究背景与目标</a:t>
            </a:r>
            <a:endParaRPr sz="4400" b="1">
              <a:solidFill>
                <a:srgbClr val="A0001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用户调试能力构建的背景、意义与目标</a:t>
            </a:r>
            <a:endParaRPr sz="1800" b="0">
              <a:solidFill>
                <a:srgbClr val="606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0" y="1445133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1.1 研究背景与问题定义</a:t>
            </a:r>
            <a:endParaRPr sz="2400" b="1">
              <a:solidFill>
                <a:srgbClr val="A00016"/>
              </a:solidFill>
            </a:endParaRPr>
          </a:p>
        </p:txBody>
      </p:sp>
      <p:pic>
        <p:nvPicPr>
          <p:cNvPr id="3" name="Picture 2" descr="00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75" y="1972310"/>
            <a:ext cx="5171440" cy="40633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5360" y="2131060"/>
            <a:ext cx="5490845" cy="42068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Asterinas 是一个用 Rust 编写、与 Linux ABI 兼容的操作系统内核，能直接运行 Linux 程序，并借助 Rust 框内核架构提升内核可靠性。</a:t>
            </a:r>
            <a:r>
              <a:rPr lang="en-US" sz="15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ZGC </a:t>
            </a:r>
            <a:r>
              <a:rPr lang="zh-CN" altLang="en-US" sz="15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自主可控安全</a:t>
            </a:r>
            <a:r>
              <a:rPr lang="en-US" altLang="zh-CN" sz="15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OS</a:t>
            </a:r>
            <a:r>
              <a:rPr lang="zh-CN" altLang="en-US" sz="15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技术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面向开发者的操作系统不能只支持运行应用程序，还要让开发者能调试应用程序。GDB、strace 都依赖内核的 ptrace 机制，提供了良好的实用性。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难点在于：进程调试不是单个系统调用，而是贯穿进程管理、信号、wait、地址空间、寄存器、安全与 procfs 的完整通路。本项目要在 Asterinas 上，从零构建一套兼容、安全、能正确运行真实调试器的调试子系统。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500" b="1">
                <a:solidFill>
                  <a:srgbClr val="202020"/>
                </a:solidFill>
              </a:rPr>
              <a:t>1. OS</a:t>
            </a:r>
            <a:r>
              <a:rPr lang="zh-CN" altLang="en-US" sz="1500" b="1">
                <a:solidFill>
                  <a:srgbClr val="202020"/>
                </a:solidFill>
              </a:rPr>
              <a:t>需要支持进程调试</a:t>
            </a:r>
            <a:endParaRPr lang="zh-CN" altLang="en-US"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zh-CN" sz="1500" b="1">
                <a:solidFill>
                  <a:srgbClr val="202020"/>
                </a:solidFill>
              </a:rPr>
              <a:t>2. </a:t>
            </a:r>
            <a:r>
              <a:rPr lang="zh-CN" altLang="en-US" sz="1500" b="1">
                <a:solidFill>
                  <a:srgbClr val="202020"/>
                </a:solidFill>
              </a:rPr>
              <a:t>支持不同层级</a:t>
            </a:r>
            <a:r>
              <a:rPr lang="zh-CN" altLang="en-US" sz="1500" b="1">
                <a:solidFill>
                  <a:srgbClr val="202020"/>
                </a:solidFill>
              </a:rPr>
              <a:t>开发者</a:t>
            </a:r>
            <a:endParaRPr lang="zh-CN" altLang="en-US"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zh-CN" sz="1500" b="1">
                <a:solidFill>
                  <a:srgbClr val="202020"/>
                </a:solidFill>
              </a:rPr>
              <a:t>3. </a:t>
            </a:r>
            <a:r>
              <a:rPr lang="zh-CN" altLang="en-US" sz="1500" b="1">
                <a:solidFill>
                  <a:srgbClr val="202020"/>
                </a:solidFill>
              </a:rPr>
              <a:t>复用现有用户态应用</a:t>
            </a:r>
            <a:r>
              <a:rPr lang="en-US" altLang="zh-CN" sz="1500" b="1">
                <a:solidFill>
                  <a:srgbClr val="202020"/>
                </a:solidFill>
              </a:rPr>
              <a:t> -&gt; </a:t>
            </a:r>
            <a:r>
              <a:rPr lang="zh-CN" altLang="en-US" sz="1500" b="1">
                <a:solidFill>
                  <a:srgbClr val="202020"/>
                </a:solidFill>
              </a:rPr>
              <a:t>所以要支持</a:t>
            </a:r>
            <a:r>
              <a:rPr lang="en-US" altLang="zh-CN" sz="1500" b="1">
                <a:solidFill>
                  <a:srgbClr val="202020"/>
                </a:solidFill>
              </a:rPr>
              <a:t>Linux ABI</a:t>
            </a:r>
            <a:r>
              <a:rPr lang="zh-CN" altLang="en-US" sz="1500" b="1">
                <a:solidFill>
                  <a:srgbClr val="202020"/>
                </a:solidFill>
              </a:rPr>
              <a:t>（事实标准）</a:t>
            </a:r>
            <a:endParaRPr lang="zh-CN" altLang="en-US" sz="1500" b="1">
              <a:solidFill>
                <a:srgbClr val="20202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66635" y="6035675"/>
            <a:ext cx="3951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这个图不要了</a:t>
            </a:r>
            <a:endParaRPr lang="zh-CN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23085" y="1720215"/>
            <a:ext cx="64090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调试基本需求</a:t>
            </a:r>
            <a:r>
              <a:rPr lang="zh-CN" altLang="en-US"/>
              <a:t>是什么：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运行时读写进程私有</a:t>
            </a:r>
            <a:r>
              <a:rPr lang="zh-CN" altLang="en-US"/>
              <a:t>信息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调试结束后恢复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实现一个断点的大步骤。参考</a:t>
            </a:r>
            <a:r>
              <a:rPr lang="en-US" altLang="zh-CN"/>
              <a:t> breakpoint case study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1675" y="1066673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2.7 案例研究：GDB 等调试器的断点是怎么实现的</a:t>
            </a:r>
            <a:endParaRPr sz="2400" b="1">
              <a:solidFill>
                <a:srgbClr val="A00016"/>
              </a:solidFill>
            </a:endParaRPr>
          </a:p>
        </p:txBody>
      </p:sp>
      <p:pic>
        <p:nvPicPr>
          <p:cNvPr id="3" name="Picture 2" descr="09_breakpoin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395" y="1618615"/>
            <a:ext cx="8488045" cy="5187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8510" y="3016250"/>
            <a:ext cx="2028825" cy="23869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断点是调试器最常用的功能，但它不是单独的内核机制，而是前面这些 ptrace 原语的精确编排。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500" b="1">
                <a:solidFill>
                  <a:srgbClr val="202020"/>
                </a:solidFill>
              </a:rPr>
              <a:t>改成</a:t>
            </a:r>
            <a:r>
              <a:rPr lang="en-US" altLang="zh-CN" sz="1500" b="1">
                <a:solidFill>
                  <a:srgbClr val="202020"/>
                </a:solidFill>
              </a:rPr>
              <a:t>7+-2</a:t>
            </a:r>
            <a:r>
              <a:rPr lang="zh-CN" altLang="en-US" sz="1500" b="1">
                <a:solidFill>
                  <a:srgbClr val="202020"/>
                </a:solidFill>
              </a:rPr>
              <a:t>个阶段</a:t>
            </a:r>
            <a:r>
              <a:rPr lang="en-US" altLang="zh-CN" sz="1500" b="1">
                <a:solidFill>
                  <a:srgbClr val="202020"/>
                </a:solidFill>
              </a:rPr>
              <a:t> </a:t>
            </a:r>
            <a:r>
              <a:rPr lang="zh-CN" altLang="en-US" sz="1500" b="1">
                <a:solidFill>
                  <a:srgbClr val="202020"/>
                </a:solidFill>
              </a:rPr>
              <a:t>放</a:t>
            </a:r>
            <a:r>
              <a:rPr lang="en-US" altLang="zh-CN" sz="1500" b="1">
                <a:solidFill>
                  <a:srgbClr val="202020"/>
                </a:solidFill>
              </a:rPr>
              <a:t>P1</a:t>
            </a:r>
            <a:endParaRPr lang="en-US" altLang="zh-CN"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altLang="en-US" sz="1500" b="1">
                <a:solidFill>
                  <a:srgbClr val="202020"/>
                </a:solidFill>
              </a:rPr>
              <a:t>最开始就</a:t>
            </a:r>
            <a:r>
              <a:rPr lang="en-US" altLang="zh-CN" sz="1500" b="1">
                <a:solidFill>
                  <a:srgbClr val="202020"/>
                </a:solidFill>
              </a:rPr>
              <a:t>case study</a:t>
            </a:r>
            <a:endParaRPr lang="zh-CN" altLang="en-US" sz="1500" b="1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016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1.2 总体目标与对应内核能力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241280" cy="70408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要让开发者能使用 GDB / strace 调试用户程序，内核必须补齐的能力有：</a:t>
            </a:r>
            <a:endParaRPr sz="1500" b="0">
              <a:solidFill>
                <a:srgbClr val="20202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2596896"/>
          <a:ext cx="10241280" cy="366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120640"/>
              </a:tblGrid>
              <a:tr h="45834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总体目标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对应内核能力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GDB 调试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建立 tracer / tracee 关系，使能 tracee 陷入内核 stop，并等待 tracer wait &amp; resume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设置并命中软件断点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使能修改只读内存写入 breakpoint，#BP 异常后进入 ptrace-stop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读 / 写寄存器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tracee stop 时保存 register 现场，按字段规则安全读写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读 / 写进程内存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跨进程安全读写目标地址空间，必要时主动触发 page fault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继续 / 单步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resume 继续，按需设置 CPU trap flag (TF) 单步执行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strace 跟踪系统调用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在每次 syscall entry / exit 进入 ptrace-stop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按安全策略限制调试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校验 uid/gid、CAP_SYS_PTRACE、Yama，拦截越权 attach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646045"/>
            <a:ext cx="9966960" cy="72771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2　设计</a:t>
            </a:r>
            <a:r>
              <a:rPr lang="zh-CN" sz="4400" b="1">
                <a:solidFill>
                  <a:srgbClr val="A00016"/>
                </a:solidFill>
              </a:rPr>
              <a:t>与实现</a:t>
            </a:r>
            <a:endParaRPr lang="zh-CN" sz="4400" b="1">
              <a:solidFill>
                <a:srgbClr val="A0001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757294"/>
            <a:ext cx="996696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ptrace 子系统的整体架构与关键机制</a:t>
            </a:r>
            <a:endParaRPr sz="1800" b="0">
              <a:solidFill>
                <a:srgbClr val="606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文本框 4"/>
          <p:cNvSpPr txBox="1"/>
          <p:nvPr/>
        </p:nvSpPr>
        <p:spPr>
          <a:xfrm>
            <a:off x="6405880" y="772160"/>
            <a:ext cx="519049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因为</a:t>
            </a:r>
            <a:r>
              <a:rPr lang="en-US" altLang="zh-CN" b="1"/>
              <a:t>rust</a:t>
            </a:r>
            <a:r>
              <a:rPr lang="zh-CN" altLang="en-US" b="1"/>
              <a:t>限制，</a:t>
            </a:r>
            <a:endParaRPr lang="zh-CN" altLang="en-US" b="1"/>
          </a:p>
          <a:p>
            <a:r>
              <a:rPr lang="zh-CN" altLang="en-US" b="1"/>
              <a:t>机制图里有哪些</a:t>
            </a:r>
            <a:r>
              <a:rPr lang="en-US" altLang="zh-CN" b="1"/>
              <a:t>linux</a:t>
            </a:r>
            <a:r>
              <a:rPr lang="zh-CN" altLang="en-US" b="1"/>
              <a:t>里可以不考虑的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（可不可以说，和</a:t>
            </a:r>
            <a:r>
              <a:rPr lang="en-US" altLang="zh-CN" b="1"/>
              <a:t> linux </a:t>
            </a:r>
            <a:r>
              <a:rPr lang="zh-CN" altLang="en-US" b="1"/>
              <a:t>提供完全一致的</a:t>
            </a:r>
            <a:r>
              <a:rPr lang="en-US" altLang="zh-CN" b="1"/>
              <a:t>interface</a:t>
            </a:r>
            <a:r>
              <a:rPr lang="zh-CN" altLang="en-US" b="1"/>
              <a:t>上，能在内部哪里解决</a:t>
            </a:r>
            <a:r>
              <a:rPr lang="en-US" altLang="zh-CN" b="1"/>
              <a:t>linux</a:t>
            </a:r>
            <a:r>
              <a:rPr lang="zh-CN" altLang="en-US" b="1"/>
              <a:t>的一些</a:t>
            </a:r>
            <a:r>
              <a:rPr lang="zh-CN" altLang="en-US" b="1"/>
              <a:t>局限）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 b="1"/>
              <a:t>1. </a:t>
            </a:r>
            <a:r>
              <a:rPr lang="zh-CN" altLang="en-US" b="1"/>
              <a:t>寄存器副本（快照）（</a:t>
            </a:r>
            <a:r>
              <a:rPr lang="en-US" altLang="zh-CN" b="1">
                <a:sym typeface="+mn-ea"/>
              </a:rPr>
              <a:t>linux code </a:t>
            </a:r>
            <a:r>
              <a:rPr lang="zh-CN" altLang="en-US" b="1">
                <a:sym typeface="+mn-ea"/>
              </a:rPr>
              <a:t>可一比一翻译至</a:t>
            </a:r>
            <a:r>
              <a:rPr lang="en-US" altLang="zh-CN" b="1">
                <a:sym typeface="+mn-ea"/>
              </a:rPr>
              <a:t> unsafe rust</a:t>
            </a:r>
            <a:r>
              <a:rPr lang="zh-CN" altLang="en-US" b="1">
                <a:sym typeface="+mn-ea"/>
              </a:rPr>
              <a:t>，但</a:t>
            </a:r>
            <a:r>
              <a:rPr lang="en-US" altLang="zh-CN" b="1">
                <a:sym typeface="+mn-ea"/>
              </a:rPr>
              <a:t> safe rust </a:t>
            </a:r>
            <a:r>
              <a:rPr lang="zh-CN" altLang="en-US" b="1">
                <a:sym typeface="+mn-ea"/>
              </a:rPr>
              <a:t>需要更好的设计，在编译器上保障内存安全</a:t>
            </a:r>
            <a:r>
              <a:rPr lang="zh-CN" altLang="en-US" b="1"/>
              <a:t>）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 b="1"/>
              <a:t>2. ptrace </a:t>
            </a:r>
            <a:r>
              <a:rPr lang="zh-CN" altLang="en-US" b="1"/>
              <a:t>状态机和</a:t>
            </a:r>
            <a:r>
              <a:rPr lang="en-US" altLang="zh-CN" b="1"/>
              <a:t> scheduler </a:t>
            </a:r>
            <a:r>
              <a:rPr lang="zh-CN" altLang="en-US" b="1"/>
              <a:t>解耦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 b="1"/>
              <a:t>3. tasklist_lock </a:t>
            </a:r>
            <a:r>
              <a:rPr lang="zh-CN" altLang="en-US" b="1"/>
              <a:t>大锁</a:t>
            </a:r>
            <a:r>
              <a:rPr lang="zh-CN" altLang="en-US" b="1"/>
              <a:t>不需要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 b="1"/>
              <a:t>4. </a:t>
            </a:r>
            <a:r>
              <a:rPr lang="zh-CN" altLang="en-US" b="1"/>
              <a:t>历史包袱，原有的系统设计代码扩展性维护性</a:t>
            </a:r>
            <a:r>
              <a:rPr lang="en-US" altLang="zh-CN" b="1"/>
              <a:t>x</a:t>
            </a:r>
            <a:r>
              <a:rPr lang="zh-CN" altLang="en-US" b="1"/>
              <a:t>（找个</a:t>
            </a:r>
            <a:r>
              <a:rPr lang="zh-CN" altLang="en-US" b="1"/>
              <a:t>具体例子）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这部分放</a:t>
            </a:r>
            <a:r>
              <a:rPr lang="en-US" altLang="zh-CN" b="1"/>
              <a:t>PART2</a:t>
            </a:r>
            <a:r>
              <a:rPr lang="zh-CN" altLang="en-US" b="1"/>
              <a:t>第一页（要解决</a:t>
            </a:r>
            <a:r>
              <a:rPr lang="zh-CN" altLang="en-US" b="1"/>
              <a:t>什么问题）</a:t>
            </a:r>
            <a:endParaRPr lang="zh-CN" altLang="en-US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240981"/>
            <a:ext cx="10241280" cy="41973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2.1 </a:t>
            </a:r>
            <a:r>
              <a:rPr lang="zh-CN" sz="2400" b="1">
                <a:solidFill>
                  <a:srgbClr val="A00016"/>
                </a:solidFill>
              </a:rPr>
              <a:t>实现架构</a:t>
            </a:r>
            <a:r>
              <a:rPr sz="2400" b="1">
                <a:solidFill>
                  <a:srgbClr val="A00016"/>
                </a:solidFill>
              </a:rPr>
              <a:t>：七层调试能力通路</a:t>
            </a:r>
            <a:endParaRPr sz="2400" b="1">
              <a:solidFill>
                <a:srgbClr val="A00016"/>
              </a:solidFill>
            </a:endParaRPr>
          </a:p>
        </p:txBody>
      </p:sp>
      <p:pic>
        <p:nvPicPr>
          <p:cNvPr id="3" name="Picture 2" descr="01_arch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065" y="1660525"/>
            <a:ext cx="6944360" cy="4883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95070" y="2096135"/>
            <a:ext cx="3343275" cy="415671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整套调试能力自上而下是一条主干：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用户工具（GDB/strace）发出请求，经系统调用接口进入内核，先过权限检查鉴权放行，再交给 ptrace 核心状态机。状态机是整个系统的中枢，负责建立关系、进入 ptrace-stop、向 tracer 报告 wait、再 resume 继续，一旦命中新的停止条件就再次回到 stop。围绕这个中枢，向下分出三类能力：跨进程用户空间读写、寄存器上下文快照、以及与 signal/wait/exec/exit/clone 等系统调用的协作。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250" b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25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这其实是</a:t>
            </a:r>
            <a:r>
              <a:rPr lang="en-US" altLang="zh-CN" sz="125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linux</a:t>
            </a:r>
            <a:r>
              <a:rPr lang="zh-CN" altLang="en-US" sz="125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给</a:t>
            </a:r>
            <a:r>
              <a:rPr lang="en-US" altLang="zh-CN" sz="125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GDB</a:t>
            </a:r>
            <a:r>
              <a:rPr lang="zh-CN" altLang="en-US" sz="125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的抽象（所以是背景！！！）</a:t>
            </a:r>
            <a:endParaRPr lang="zh-CN" altLang="en-US" sz="125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altLang="en-US" sz="125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放</a:t>
            </a:r>
            <a:r>
              <a:rPr lang="en-US" altLang="zh-CN" sz="125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PART1111</a:t>
            </a:r>
            <a:r>
              <a:rPr lang="zh-CN" altLang="en-US" sz="125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，要改改具体行</a:t>
            </a:r>
            <a:r>
              <a:rPr lang="zh-CN" altLang="en-US" sz="125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文</a:t>
            </a:r>
            <a:endParaRPr lang="zh-CN" altLang="en-US" sz="125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6984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2.2 ptrace-stop 主状态机：三类停止统一收敛</a:t>
            </a:r>
            <a:endParaRPr sz="2400" b="1">
              <a:solidFill>
                <a:srgbClr val="A00016"/>
              </a:solidFill>
            </a:endParaRPr>
          </a:p>
        </p:txBody>
      </p:sp>
      <p:pic>
        <p:nvPicPr>
          <p:cNvPr id="3" name="Picture 2" descr="04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10" y="1610995"/>
            <a:ext cx="9507220" cy="3636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5141595"/>
            <a:ext cx="10241280" cy="15220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生命周期：未被跟踪 → 建立关系 → </a:t>
            </a:r>
            <a:r>
              <a:rPr sz="1500" b="1">
                <a:solidFill>
                  <a:srgbClr val="202020"/>
                </a:solidFill>
              </a:rPr>
              <a:t>ptrace-stop（保存现场）</a:t>
            </a:r>
            <a:r>
              <a:rPr sz="1500" b="0">
                <a:solidFill>
                  <a:srgbClr val="202020"/>
                </a:solidFill>
              </a:rPr>
              <a:t> → wait 报告 → 恢复运行 → 命中下一次停止条件再回到 stop，或退出清理。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三种停止来源（信号停、系统调用停、事件停）</a:t>
            </a:r>
            <a:r>
              <a:rPr sz="1500" b="1">
                <a:solidFill>
                  <a:srgbClr val="202020"/>
                </a:solidFill>
              </a:rPr>
              <a:t>统一收敛到 do_ptrace_stop()</a:t>
            </a:r>
            <a:r>
              <a:rPr sz="1500" b="0">
                <a:solidFill>
                  <a:srgbClr val="202020"/>
                </a:solidFill>
              </a:rPr>
              <a:t>：同一抽象保存现场、记录 wait status、投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SIGCHLD</a:t>
            </a:r>
            <a:r>
              <a:rPr sz="1500" b="0">
                <a:solidFill>
                  <a:srgbClr val="202020"/>
                </a:solidFill>
              </a:rPr>
              <a:t>、阻塞 tracee、resume 后回写。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500" b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和</a:t>
            </a:r>
            <a:r>
              <a:rPr lang="en-US" altLang="zh-CN" sz="1500" b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linux</a:t>
            </a:r>
            <a:r>
              <a:rPr lang="zh-CN" sz="1500" b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不同标红（和</a:t>
            </a:r>
            <a:r>
              <a:rPr lang="en-US" altLang="zh-CN" sz="1500" b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sceduler</a:t>
            </a:r>
            <a:r>
              <a:rPr lang="zh-CN" altLang="en-US" sz="1500" b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解耦</a:t>
            </a:r>
            <a:r>
              <a:rPr lang="zh-CN" sz="1500" b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）感觉是下一页的</a:t>
            </a:r>
            <a:r>
              <a:rPr lang="zh-CN" sz="1500" b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事情</a:t>
            </a:r>
            <a:endParaRPr lang="zh-CN" sz="1500" b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0" y="107746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2.3 tracer 与 tracee 如何同步</a:t>
            </a:r>
            <a:endParaRPr sz="2400" b="1">
              <a:solidFill>
                <a:srgbClr val="A00016"/>
              </a:solidFill>
            </a:endParaRPr>
          </a:p>
        </p:txBody>
      </p:sp>
      <p:pic>
        <p:nvPicPr>
          <p:cNvPr id="3" name="Picture 2" descr="04b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5" y="2019300"/>
            <a:ext cx="8434070" cy="41725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2535" y="1763395"/>
            <a:ext cx="3208655" cy="47237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tracer（调试器线程）与 tracee（被调试线程）通过共享结构 TraceeStatus 同步，其中有一个原子标志和一把互斥锁。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原子标志 is_stopped 是 tracee 是否停在 ptrace-stop 的唯一依据：tracee 停下时置真并挂起，tracer 操作前据此确认其已停止、否则拒绝，恢复执行时置假并唤醒。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互斥锁 state 保护现场数据（寄存器快照、待投递信号、事件），两线程读写前都先持锁，避免并发竞争。</a:t>
            </a:r>
            <a:endParaRPr sz="1500" b="0">
              <a:solidFill>
                <a:srgbClr val="202020"/>
              </a:solidFill>
            </a:endParaRPr>
          </a:p>
        </p:txBody>
      </p:sp>
      <p:pic>
        <p:nvPicPr>
          <p:cNvPr id="4" name="Picture 3" descr="20260617-14562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535" y="3061970"/>
            <a:ext cx="3208655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1855" y="1097153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2.4 跨进程内存访问：在目标进程地址空间里直接读写</a:t>
            </a:r>
            <a:endParaRPr sz="2400" b="1">
              <a:solidFill>
                <a:srgbClr val="A00016"/>
              </a:solidFill>
            </a:endParaRPr>
          </a:p>
        </p:txBody>
      </p:sp>
      <p:pic>
        <p:nvPicPr>
          <p:cNvPr id="3" name="Picture 2" descr="07_mem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0" y="1783080"/>
            <a:ext cx="7267575" cy="4498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935" y="2919095"/>
            <a:ext cx="3744595" cy="25558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ptrace PEEK/POKE</a:t>
            </a:r>
            <a:r>
              <a:rPr sz="1500" b="0">
                <a:solidFill>
                  <a:srgbClr val="202020"/>
                </a:solidFill>
              </a:rPr>
              <a:t> 与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/proc/&lt;pid&gt;/mem</a:t>
            </a:r>
            <a:r>
              <a:rPr sz="1500" b="0">
                <a:solidFill>
                  <a:srgbClr val="202020"/>
                </a:solidFill>
              </a:rPr>
              <a:t> 走同一套底层读写原语，读写的都是「另一个进程」的内存。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不切换地址空间</a:t>
            </a:r>
            <a:r>
              <a:rPr sz="1500" b="0">
                <a:solidFill>
                  <a:srgbClr val="202020"/>
                </a:solidFill>
              </a:rPr>
              <a:t>：不把 CPU 页表切到目标进程，而是直接在它的地址空间里按页定位到物理页帧并拷贝；遇到缺页就主动触发一次缺页处理再重试。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整条跨进程读写都夹在统一的读写接口和权限检查边界内，安全可控。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715" y="1169543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2.5 x86-64 寄存器 ABI：字段级读写策略</a:t>
            </a:r>
            <a:endParaRPr sz="2400" b="1">
              <a:solidFill>
                <a:srgbClr val="A00016"/>
              </a:solidFill>
            </a:endParaRPr>
          </a:p>
        </p:txBody>
      </p:sp>
      <p:pic>
        <p:nvPicPr>
          <p:cNvPr id="3" name="Picture 2" descr="08_register_a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630" y="2197100"/>
            <a:ext cx="7086600" cy="41135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7715" y="1855470"/>
            <a:ext cx="3690620" cy="4892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快照式访问</a:t>
            </a:r>
            <a:r>
              <a:rPr sz="1500" b="0">
                <a:solidFill>
                  <a:srgbClr val="202020"/>
                </a:solidFill>
              </a:rPr>
              <a:t>：tracee 陷入内核、进入 ptrace-stop 时，持锁把用户寄存器上下文复制成一份寄存器快照；tracer 持锁在快照上按字段修改，tracee 唤醒时再写回——作为 GDB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info registers</a:t>
            </a:r>
            <a:r>
              <a:rPr sz="1500" b="0">
                <a:solidFill>
                  <a:srgbClr val="202020"/>
                </a:solidFill>
              </a:rPr>
              <a:t> 的 ABI 基础。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按字段分级管控</a:t>
            </a:r>
            <a:r>
              <a:rPr sz="1500" b="0">
                <a:solidFill>
                  <a:srgbClr val="202020"/>
                </a:solidFill>
              </a:rPr>
              <a:t>：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rax..r15</a:t>
            </a:r>
            <a:r>
              <a:rPr sz="1500" b="0">
                <a:solidFill>
                  <a:srgbClr val="202020"/>
                </a:solidFill>
              </a:rPr>
              <a:t> 由 tracer 自由修改；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rip/rsp/fs/gsbase</a:t>
            </a:r>
            <a:r>
              <a:rPr sz="1500" b="0">
                <a:solidFill>
                  <a:srgbClr val="202020"/>
                </a:solidFill>
              </a:rPr>
              <a:t> 必须是用户地址；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rflags</a:t>
            </a:r>
            <a:r>
              <a:rPr sz="1500" b="0">
                <a:solidFill>
                  <a:srgbClr val="202020"/>
                </a:solidFill>
              </a:rPr>
              <a:t> 仅能写用户态可控位；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cs/ss/ds/es</a:t>
            </a:r>
            <a:r>
              <a:rPr sz="1500" b="0">
                <a:solidFill>
                  <a:srgbClr val="202020"/>
                </a:solidFill>
              </a:rPr>
              <a:t> 段寄存器只读、与 Linux 一致。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debug 寄存器目前</a:t>
            </a:r>
            <a:r>
              <a:rPr sz="1500" b="1">
                <a:solidFill>
                  <a:srgbClr val="202020"/>
                </a:solidFill>
              </a:rPr>
              <a:t>只读</a:t>
            </a:r>
            <a:r>
              <a:rPr sz="1500" b="0">
                <a:solidFill>
                  <a:srgbClr val="202020"/>
                </a:solidFill>
              </a:rPr>
              <a:t>——满足 GDB 探测、暂不放开硬件断点，后续再支持写入。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altLang="en-US" sz="1500" b="1">
                <a:solidFill>
                  <a:srgbClr val="202020"/>
                </a:solidFill>
              </a:rPr>
              <a:t>和</a:t>
            </a:r>
            <a:r>
              <a:rPr lang="en-US" altLang="zh-CN" sz="1500" b="1">
                <a:solidFill>
                  <a:srgbClr val="202020"/>
                </a:solidFill>
              </a:rPr>
              <a:t> Linux </a:t>
            </a:r>
            <a:r>
              <a:rPr lang="zh-CN" altLang="en-US" sz="1500" b="1">
                <a:solidFill>
                  <a:srgbClr val="202020"/>
                </a:solidFill>
              </a:rPr>
              <a:t>抽象不一样，</a:t>
            </a:r>
            <a:r>
              <a:rPr lang="en-US" altLang="zh-CN" sz="1500" b="1">
                <a:solidFill>
                  <a:srgbClr val="202020"/>
                </a:solidFill>
              </a:rPr>
              <a:t>Linux </a:t>
            </a:r>
            <a:r>
              <a:rPr lang="zh-CN" altLang="en-US" sz="1500" b="1">
                <a:solidFill>
                  <a:srgbClr val="202020"/>
                </a:solidFill>
              </a:rPr>
              <a:t>里每个红色小块都是一个函数（</a:t>
            </a:r>
            <a:r>
              <a:rPr lang="zh-CN" altLang="en-US" sz="1500" b="1">
                <a:solidFill>
                  <a:srgbClr val="202020"/>
                </a:solidFill>
              </a:rPr>
              <a:t>历史包袱），我这里每个小块都是表里的一个条目。简化</a:t>
            </a:r>
            <a:r>
              <a:rPr lang="zh-CN" altLang="en-US" sz="1500" b="1">
                <a:solidFill>
                  <a:srgbClr val="202020"/>
                </a:solidFill>
              </a:rPr>
              <a:t>代码抽象。</a:t>
            </a:r>
            <a:endParaRPr lang="zh-CN" altLang="en-US"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altLang="en-US" sz="15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扩展性、维护性（还有没有其他的）</a:t>
            </a:r>
            <a:endParaRPr lang="zh-CN" altLang="en-US" sz="15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06_signal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0" y="1292225"/>
            <a:ext cx="9799320" cy="288671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67410" y="101777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2.6 恢复语义与信号四态机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9430" y="3926840"/>
            <a:ext cx="10368280" cy="25666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恢复请求：由 tracer 发送，可选择抑制（丢弃）原信号，或注入一个新信号。恢复语义 CONT（普通继续）、SINGLESTEP（设 TF 单步）、SYSCALL（开 syscall 跟踪）三选一。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状态如何被消费：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tracer 通过 wait 消费 Pending：观察并报告，使其转为 Consumed。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tracer 通过 GETSIGINFO 消费 Pending / Consumed / Injected：读取对应的 siginfo。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tracee 在 resume 时通过 re-inject 消费 Pending / Injected：把信号重新投递给自己。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500" b="1">
                <a:solidFill>
                  <a:srgbClr val="202020"/>
                </a:solidFill>
              </a:rPr>
              <a:t>历史包袱：</a:t>
            </a:r>
            <a:r>
              <a:rPr lang="en-US" altLang="zh-CN" sz="1500" b="1">
                <a:solidFill>
                  <a:srgbClr val="202020"/>
                </a:solidFill>
              </a:rPr>
              <a:t>linux</a:t>
            </a:r>
            <a:r>
              <a:rPr lang="zh-CN" altLang="en-US" sz="1500" b="1">
                <a:solidFill>
                  <a:srgbClr val="202020"/>
                </a:solidFill>
              </a:rPr>
              <a:t>是个逐渐扩展的功能集合，所以该四态机实现复杂，搞到了几个字段里。（印象中是最开始没有</a:t>
            </a:r>
            <a:r>
              <a:rPr lang="en-US" altLang="zh-CN" sz="1500" b="1">
                <a:solidFill>
                  <a:srgbClr val="202020"/>
                </a:solidFill>
              </a:rPr>
              <a:t>consumed </a:t>
            </a:r>
            <a:r>
              <a:rPr lang="zh-CN" altLang="en-US" sz="1500" b="1">
                <a:solidFill>
                  <a:srgbClr val="202020"/>
                </a:solidFill>
              </a:rPr>
              <a:t>还是没有</a:t>
            </a:r>
            <a:r>
              <a:rPr lang="en-US" altLang="zh-CN" sz="1500" b="1">
                <a:solidFill>
                  <a:srgbClr val="202020"/>
                </a:solidFill>
              </a:rPr>
              <a:t> injected</a:t>
            </a:r>
            <a:r>
              <a:rPr lang="zh-CN" altLang="en-US" sz="1500" b="1">
                <a:solidFill>
                  <a:srgbClr val="202020"/>
                </a:solidFill>
              </a:rPr>
              <a:t>）。</a:t>
            </a:r>
            <a:r>
              <a:rPr lang="en-US" altLang="zh-CN" sz="1500" b="1">
                <a:solidFill>
                  <a:srgbClr val="202020"/>
                </a:solidFill>
              </a:rPr>
              <a:t>asterinas</a:t>
            </a:r>
            <a:r>
              <a:rPr lang="zh-CN" altLang="en-US" sz="1500" b="1">
                <a:solidFill>
                  <a:srgbClr val="202020"/>
                </a:solidFill>
              </a:rPr>
              <a:t>里抽象比较</a:t>
            </a:r>
            <a:r>
              <a:rPr lang="zh-CN" altLang="en-US" sz="1500" b="1">
                <a:solidFill>
                  <a:srgbClr val="202020"/>
                </a:solidFill>
              </a:rPr>
              <a:t>清晰</a:t>
            </a:r>
            <a:endParaRPr lang="zh-CN" altLang="en-US" sz="1500" b="1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17143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2.8 安全模型：统一鉴权 + Yama</a:t>
            </a:r>
            <a:endParaRPr sz="2400" b="1">
              <a:solidFill>
                <a:srgbClr val="A00016"/>
              </a:solidFill>
            </a:endParaRPr>
          </a:p>
        </p:txBody>
      </p:sp>
      <p:pic>
        <p:nvPicPr>
          <p:cNvPr id="3" name="Picture 2" descr="10_securit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70" y="1576705"/>
            <a:ext cx="4164330" cy="4991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63640" y="1783080"/>
            <a:ext cx="4983480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统一决策链：</a:t>
            </a:r>
            <a:r>
              <a:rPr sz="1500" b="1">
                <a:solidFill>
                  <a:srgbClr val="202020"/>
                </a:solidFill>
              </a:rPr>
              <a:t>同进程 → UID/GID 匹配 → CAP_SYS_PTRACE → Yama LSM hook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ptrace 与 procfs 区分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Read/Attach</a:t>
            </a:r>
            <a:r>
              <a:rPr sz="1500" b="0">
                <a:solidFill>
                  <a:srgbClr val="202020"/>
                </a:solidFill>
              </a:rPr>
              <a:t>、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Fs/Real creds</a:t>
            </a:r>
            <a:r>
              <a:rPr sz="1500" b="0">
                <a:solidFill>
                  <a:srgbClr val="202020"/>
                </a:solidFill>
              </a:rPr>
              <a:t>，</a:t>
            </a:r>
            <a:r>
              <a:rPr sz="1500" b="1">
                <a:solidFill>
                  <a:srgbClr val="202020"/>
                </a:solidFill>
              </a:rPr>
              <a:t>避免 procfs 绕过</a:t>
            </a:r>
            <a:r>
              <a:rPr sz="1500" b="0">
                <a:solidFill>
                  <a:srgbClr val="202020"/>
                </a:solidFill>
              </a:rPr>
              <a:t>调试鉴权。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Yama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ptrace_scope</a:t>
            </a:r>
            <a:r>
              <a:rPr sz="1500" b="0">
                <a:solidFill>
                  <a:srgbClr val="202020"/>
                </a:solidFill>
              </a:rPr>
              <a:t> 四档对各放行条件的影响（✓ 放行 / ✗ 拒绝；同进程恒放行）：</a:t>
            </a:r>
            <a:endParaRPr sz="1500" b="0">
              <a:solidFill>
                <a:srgbClr val="20202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263640" y="3886200"/>
          <a:ext cx="4983480" cy="2377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245870"/>
                <a:gridCol w="1245870"/>
                <a:gridCol w="1245870"/>
              </a:tblGrid>
              <a:tr h="47548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Yama scope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调用者是其祖先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具备 CAP_SYS_PTRACE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仅 UID/GID 匹配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0 Disabled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1 Relational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2 Capability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7549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3 NoAttach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653665"/>
            <a:ext cx="9966960" cy="72771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3　</a:t>
            </a:r>
            <a:r>
              <a:rPr lang="zh-CN" sz="4400" b="1">
                <a:solidFill>
                  <a:srgbClr val="A00016"/>
                </a:solidFill>
              </a:rPr>
              <a:t>测试与</a:t>
            </a:r>
            <a:r>
              <a:rPr lang="zh-CN" sz="4400" b="1">
                <a:solidFill>
                  <a:srgbClr val="A00016"/>
                </a:solidFill>
              </a:rPr>
              <a:t>应用</a:t>
            </a:r>
            <a:endParaRPr lang="zh-CN" sz="4400" b="1">
              <a:solidFill>
                <a:srgbClr val="A0001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在 Asterinas 上运行真实调试工具，并加入测试体系</a:t>
            </a:r>
            <a:endParaRPr sz="1800" b="0">
              <a:solidFill>
                <a:srgbClr val="606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186371"/>
            <a:ext cx="10241280" cy="41973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3.2 </a:t>
            </a:r>
            <a:r>
              <a:rPr lang="zh-CN" sz="2400" b="1">
                <a:solidFill>
                  <a:srgbClr val="A00016"/>
                </a:solidFill>
              </a:rPr>
              <a:t>完成了</a:t>
            </a:r>
            <a:r>
              <a:rPr sz="2400" b="1">
                <a:solidFill>
                  <a:srgbClr val="A00016"/>
                </a:solidFill>
              </a:rPr>
              <a:t>测试与验证方案</a:t>
            </a:r>
            <a:endParaRPr sz="2400" b="1">
              <a:solidFill>
                <a:srgbClr val="A00016"/>
              </a:solidFill>
            </a:endParaRPr>
          </a:p>
        </p:txBody>
      </p:sp>
      <p:pic>
        <p:nvPicPr>
          <p:cNvPr id="3" name="Picture 2" descr="12_test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30" y="1793875"/>
            <a:ext cx="6417310" cy="43192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15720" y="6167754"/>
            <a:ext cx="10241280" cy="30861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验证体系按代码自底向上分四层（金字塔：越往上越少、越慢、价值越高）：</a:t>
            </a:r>
            <a:endParaRPr sz="13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18413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3.1 GDB / strace 实机演示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4690110" cy="40379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GDB</a:t>
            </a:r>
            <a:r>
              <a:rPr sz="1500" b="0">
                <a:solidFill>
                  <a:srgbClr val="202020"/>
                </a:solidFill>
              </a:rPr>
              <a:t>：持续集成用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gdb -batch</a:t>
            </a:r>
            <a:r>
              <a:rPr sz="1500" b="0">
                <a:solidFill>
                  <a:srgbClr val="202020"/>
                </a:solidFill>
              </a:rPr>
              <a:t> 调一段带断点的 C 程序，逐项校验输出：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命中断点，打印调用栈回溯（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#0 hello_world</a:t>
            </a:r>
            <a:r>
              <a:rPr sz="1500" b="0">
                <a:solidFill>
                  <a:srgbClr val="202020"/>
                </a:solidFill>
              </a:rPr>
              <a:t> →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#1 … in main</a:t>
            </a:r>
            <a:r>
              <a:rPr sz="1500" b="0">
                <a:solidFill>
                  <a:srgbClr val="202020"/>
                </a:solidFill>
              </a:rPr>
              <a:t>）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打印并修改变量与内存（读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$1 = 1</a:t>
            </a:r>
            <a:r>
              <a:rPr sz="1500" b="0">
                <a:solidFill>
                  <a:srgbClr val="202020"/>
                </a:solidFill>
              </a:rPr>
              <a:t>、改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*p = 4321</a:t>
            </a:r>
            <a:r>
              <a:rPr sz="1500" b="0">
                <a:solidFill>
                  <a:srgbClr val="202020"/>
                </a:solidFill>
              </a:rPr>
              <a:t>、内存校验通过）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读寄存器（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rip</a:t>
            </a:r>
            <a:r>
              <a:rPr sz="1500" b="0">
                <a:solidFill>
                  <a:srgbClr val="202020"/>
                </a:solidFill>
              </a:rPr>
              <a:t>、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rsp</a:t>
            </a:r>
            <a:r>
              <a:rPr sz="1500" b="0">
                <a:solidFill>
                  <a:srgbClr val="202020"/>
                </a:solidFill>
              </a:rPr>
              <a:t>），继续运行得到正确输出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全程</a:t>
            </a:r>
            <a:r>
              <a:rPr sz="1500" b="1">
                <a:solidFill>
                  <a:srgbClr val="202020"/>
                </a:solidFill>
              </a:rPr>
              <a:t>无任何 GDB warning</a:t>
            </a:r>
            <a:r>
              <a:rPr sz="1500" b="0">
                <a:solidFill>
                  <a:srgbClr val="202020"/>
                </a:solidFill>
              </a:rPr>
              <a:t>——说明寄存器/段 ABI 已对齐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strace</a:t>
            </a:r>
            <a:r>
              <a:rPr sz="1500" b="0">
                <a:solidFill>
                  <a:srgbClr val="202020"/>
                </a:solidFill>
              </a:rPr>
              <a:t>：持续集成运行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strace ls /tmp</a:t>
            </a:r>
            <a:r>
              <a:rPr sz="1500" b="0">
                <a:solidFill>
                  <a:srgbClr val="202020"/>
                </a:solidFill>
              </a:rPr>
              <a:t>，校验完整抓到系统调用序列（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execve()</a:t>
            </a:r>
            <a:r>
              <a:rPr sz="1500" b="0">
                <a:solidFill>
                  <a:srgbClr val="202020"/>
                </a:solidFill>
              </a:rPr>
              <a:t>、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getdents64()</a:t>
            </a:r>
            <a:r>
              <a:rPr sz="1500" b="0">
                <a:solidFill>
                  <a:srgbClr val="202020"/>
                </a:solidFill>
              </a:rPr>
              <a:t> 等）。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500" b="1">
                <a:solidFill>
                  <a:srgbClr val="202020"/>
                </a:solidFill>
              </a:rPr>
              <a:t>发布在</a:t>
            </a:r>
            <a:r>
              <a:rPr lang="en-US" altLang="zh-CN" sz="1500" b="1">
                <a:solidFill>
                  <a:srgbClr val="202020"/>
                </a:solidFill>
              </a:rPr>
              <a:t> </a:t>
            </a:r>
            <a:r>
              <a:rPr lang="en-US" altLang="zh-CN" sz="1500" b="1">
                <a:solidFill>
                  <a:srgbClr val="202020"/>
                </a:solidFill>
              </a:rPr>
              <a:t>Asterinas 0.18.0 </a:t>
            </a:r>
            <a:r>
              <a:rPr lang="zh-CN" altLang="en-US" sz="1500" b="1">
                <a:solidFill>
                  <a:srgbClr val="202020"/>
                </a:solidFill>
              </a:rPr>
              <a:t>日期，</a:t>
            </a:r>
            <a:r>
              <a:rPr lang="zh-CN" altLang="en-US" sz="1500" b="1">
                <a:solidFill>
                  <a:srgbClr val="202020"/>
                </a:solidFill>
              </a:rPr>
              <a:t>链接</a:t>
            </a:r>
            <a:endParaRPr lang="zh-CN" altLang="en-US" sz="1500" b="1">
              <a:solidFill>
                <a:srgbClr val="202020"/>
              </a:solidFill>
            </a:endParaRPr>
          </a:p>
        </p:txBody>
      </p:sp>
      <p:pic>
        <p:nvPicPr>
          <p:cNvPr id="5" name="视频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939790" y="2018030"/>
            <a:ext cx="5940425" cy="3237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41273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3.3 实现中的细节打磨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241280" cy="27463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主线特性之外，还有一批小而必要的支撑改动，它们决定了真实工具能否真正跑通：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/proc/pid/mem force-write</a:t>
            </a:r>
            <a:r>
              <a:rPr sz="1500" b="0">
                <a:solidFill>
                  <a:srgbClr val="202020"/>
                </a:solidFill>
              </a:rPr>
              <a:t>：允许写入只读代码页——这是写入 int3 软件断点的前提。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x86 GDT 插入空 KCODE32 槽</a:t>
            </a:r>
            <a:r>
              <a:rPr sz="1500" b="0">
                <a:solidFill>
                  <a:srgbClr val="202020"/>
                </a:solidFill>
              </a:rPr>
              <a:t>：把 USER_CS / USER_SS 调成 Linux 期望的 0x33 / 0x2b，消除 GDB 警告。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debug registers 读仿真 + personality 行为</a:t>
            </a:r>
            <a:r>
              <a:rPr sz="1500" b="0">
                <a:solidFill>
                  <a:srgbClr val="202020"/>
                </a:solidFill>
              </a:rPr>
              <a:t>：满足 GDB 的探测，又不放开硬件断点。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procfs /proc/[pid]/maps</a:t>
            </a:r>
            <a:r>
              <a:rPr sz="1500" b="0">
                <a:solidFill>
                  <a:srgbClr val="202020"/>
                </a:solidFill>
              </a:rPr>
              <a:t>：补全非 [stack] 条目，GDB 据此定位代码/库映射。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procfs /proc/pid/auxv</a:t>
            </a:r>
            <a:r>
              <a:rPr sz="1500" b="0">
                <a:solidFill>
                  <a:srgbClr val="202020"/>
                </a:solidFill>
              </a:rPr>
              <a:t>：暴露辅助向量，供加载器/调试器读取。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procfs 每线程 /proc/[tid]</a:t>
            </a:r>
            <a:r>
              <a:rPr sz="1500" b="0">
                <a:solidFill>
                  <a:srgbClr val="202020"/>
                </a:solidFill>
              </a:rPr>
              <a:t>：按线程提供视图。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tkill 系统调用与 Yama ptrace_scope</a:t>
            </a:r>
            <a:r>
              <a:rPr sz="1500" b="0">
                <a:solidFill>
                  <a:srgbClr val="202020"/>
                </a:solidFill>
              </a:rPr>
              <a:t>：补齐定向信号投递与调试安全边界。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4　总结与展望</a:t>
            </a:r>
            <a:endParaRPr sz="4400" b="1">
              <a:solidFill>
                <a:srgbClr val="A0001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成果回顾与后续方向</a:t>
            </a:r>
            <a:endParaRPr sz="1800" b="0">
              <a:solidFill>
                <a:srgbClr val="606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5333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4.1 总结与展望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241280" cy="448055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设计核心</a:t>
            </a:r>
            <a:r>
              <a:rPr sz="1500" b="0">
                <a:solidFill>
                  <a:srgbClr val="202020"/>
                </a:solidFill>
              </a:rPr>
              <a:t>　以 </a:t>
            </a:r>
            <a:r>
              <a:rPr sz="1500" b="1">
                <a:solidFill>
                  <a:srgbClr val="202020"/>
                </a:solidFill>
              </a:rPr>
              <a:t>ptrace-stop 状态机</a:t>
            </a:r>
            <a:r>
              <a:rPr sz="1500" b="0">
                <a:solidFill>
                  <a:srgbClr val="202020"/>
                </a:solidFill>
              </a:rPr>
              <a:t>为中心，把信号、异常、系统调用、wait、寄存器、跨进程内存、安全策略统一到一条 </a:t>
            </a:r>
            <a:r>
              <a:rPr sz="1500" b="1">
                <a:solidFill>
                  <a:srgbClr val="202020"/>
                </a:solidFill>
              </a:rPr>
              <a:t>Linux ABI 兼容</a:t>
            </a:r>
            <a:r>
              <a:rPr sz="1500" b="0">
                <a:solidFill>
                  <a:srgbClr val="202020"/>
                </a:solidFill>
              </a:rPr>
              <a:t>的调试路径。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项目价值</a:t>
            </a:r>
            <a:r>
              <a:rPr sz="1500" b="0">
                <a:solidFill>
                  <a:srgbClr val="202020"/>
                </a:solidFill>
              </a:rPr>
              <a:t>　不止「能跑 GDB」——更为 RustOS 建立了</a:t>
            </a:r>
            <a:r>
              <a:rPr sz="1500" b="1">
                <a:solidFill>
                  <a:srgbClr val="202020"/>
                </a:solidFill>
              </a:rPr>
              <a:t>跨越多个内核子系统的调试能力骨架</a:t>
            </a:r>
            <a:r>
              <a:rPr sz="1500" b="0">
                <a:solidFill>
                  <a:srgbClr val="202020"/>
                </a:solidFill>
              </a:rPr>
              <a:t>，同时成为检验进程、内存、信号与安全模型正确性的</a:t>
            </a:r>
            <a:r>
              <a:rPr sz="1500" b="1">
                <a:solidFill>
                  <a:srgbClr val="202020"/>
                </a:solidFill>
              </a:rPr>
              <a:t>综合压力测试入口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后续方向</a:t>
            </a:r>
            <a:endParaRPr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中途调试已运行进程：支持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PTRACE_ATTACH / DETACH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调试多线程进程：fork/vfork/clone 的 event-stop。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支持 GDB watchpoint 观察点：x86 debug registers 真实读写。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寄存器扩展：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GETREGSET</a:t>
            </a:r>
            <a:r>
              <a:rPr sz="1500" b="0">
                <a:solidFill>
                  <a:srgbClr val="202020"/>
                </a:solidFill>
              </a:rPr>
              <a:t>、FP/SIMD。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跨架构推广：riscv64 / loongarch64。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66960" cy="12801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000" b="1">
                <a:solidFill>
                  <a:srgbClr val="A00016"/>
                </a:solidFill>
              </a:rPr>
              <a:t>谢谢！　Q &amp; A</a:t>
            </a:r>
            <a:endParaRPr sz="4000" b="1">
              <a:solidFill>
                <a:srgbClr val="A00016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68ad84b5-4f4b-4922-b5d8-3383a3a4970c}"/>
</p:tagLst>
</file>

<file path=ppt/tags/tag2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4796</Words>
  <Application>WPS 演示</Application>
  <PresentationFormat>宽屏</PresentationFormat>
  <Paragraphs>268</Paragraphs>
  <Slides>22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0" baseType="lpstr">
      <vt:lpstr>Arial</vt:lpstr>
      <vt:lpstr>宋体</vt:lpstr>
      <vt:lpstr>Wingdings</vt:lpstr>
      <vt:lpstr>Menlo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汉仪书宋二KW</vt:lpstr>
      <vt:lpstr>儷宋 Pro</vt:lpstr>
      <vt:lpstr>Apple Color Emoji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陈沛羽_深圳研院</dc:creator>
  <cp:lastModifiedBy>vvsv</cp:lastModifiedBy>
  <cp:revision>107</cp:revision>
  <dcterms:created xsi:type="dcterms:W3CDTF">2026-06-18T03:20:14Z</dcterms:created>
  <dcterms:modified xsi:type="dcterms:W3CDTF">2026-06-18T03:20:14Z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8B28768629894ACA8202718EE72CF5A8_12</vt:lpwstr>
  </property>
</Properties>
</file>