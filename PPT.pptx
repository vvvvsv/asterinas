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48" r:id="rId6"/>
    <p:sldId id="357" r:id="rId7"/>
    <p:sldId id="385" r:id="rId8"/>
    <p:sldId id="405" r:id="rId9"/>
    <p:sldId id="406" r:id="rId10"/>
    <p:sldId id="361" r:id="rId11"/>
    <p:sldId id="386" r:id="rId12"/>
    <p:sldId id="407" r:id="rId13"/>
    <p:sldId id="415" r:id="rId14"/>
    <p:sldId id="416" r:id="rId15"/>
    <p:sldId id="408" r:id="rId16"/>
    <p:sldId id="417" r:id="rId17"/>
    <p:sldId id="418" r:id="rId18"/>
    <p:sldId id="419" r:id="rId19"/>
    <p:sldId id="420" r:id="rId20"/>
    <p:sldId id="421" r:id="rId21"/>
    <p:sldId id="422" r:id="rId22"/>
    <p:sldId id="410" r:id="rId23"/>
    <p:sldId id="423" r:id="rId24"/>
    <p:sldId id="424" r:id="rId25"/>
    <p:sldId id="409" r:id="rId26"/>
    <p:sldId id="411" r:id="rId27"/>
    <p:sldId id="358" r:id="rId28"/>
    <p:sldId id="395" r:id="rId29"/>
    <p:sldId id="412" r:id="rId30"/>
    <p:sldId id="413" r:id="rId31"/>
    <p:sldId id="360" r:id="rId32"/>
    <p:sldId id="401" r:id="rId33"/>
    <p:sldId id="414" r:id="rId34"/>
    <p:sldId id="40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376177" y="1583506"/>
            <a:ext cx="83011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面向 RustOS 的进程调试能力构建</a:t>
            </a:r>
            <a:endParaRPr lang="zh-CN" altLang="en-US" sz="4000" kern="1600" dirty="0">
              <a:latin typeface="方正小标宋简体" panose="03000509000000000000" pitchFamily="2" charset="-122"/>
              <a:ea typeface="方正小标宋简体" panose="03000509000000000000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25731" y="3589418"/>
            <a:ext cx="4732655" cy="1366387"/>
            <a:chOff x="4056604" y="3756300"/>
            <a:chExt cx="4732655" cy="1366387"/>
          </a:xfrm>
        </p:grpSpPr>
        <p:grpSp>
          <p:nvGrpSpPr>
            <p:cNvPr id="5" name="组合 4"/>
            <p:cNvGrpSpPr>
              <a:grpSpLocks noChangeAspect="1"/>
            </p:cNvGrpSpPr>
            <p:nvPr/>
          </p:nvGrpSpPr>
          <p:grpSpPr>
            <a:xfrm>
              <a:off x="4056604" y="3756300"/>
              <a:ext cx="576000" cy="576000"/>
              <a:chOff x="5312576" y="3233246"/>
              <a:chExt cx="1561578" cy="1561578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312576" y="3233246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8" name="椭圆 11"/>
              <p:cNvSpPr/>
              <p:nvPr/>
            </p:nvSpPr>
            <p:spPr>
              <a:xfrm>
                <a:off x="5736406" y="3597442"/>
                <a:ext cx="740329" cy="830424"/>
              </a:xfrm>
              <a:custGeom>
                <a:avLst/>
                <a:gdLst>
                  <a:gd name="connsiteX0" fmla="*/ 199932 w 300038"/>
                  <a:gd name="connsiteY0" fmla="*/ 273051 h 336551"/>
                  <a:gd name="connsiteX1" fmla="*/ 192088 w 300038"/>
                  <a:gd name="connsiteY1" fmla="*/ 280989 h 336551"/>
                  <a:gd name="connsiteX2" fmla="*/ 192088 w 300038"/>
                  <a:gd name="connsiteY2" fmla="*/ 306124 h 336551"/>
                  <a:gd name="connsiteX3" fmla="*/ 199932 w 300038"/>
                  <a:gd name="connsiteY3" fmla="*/ 312739 h 336551"/>
                  <a:gd name="connsiteX4" fmla="*/ 250919 w 300038"/>
                  <a:gd name="connsiteY4" fmla="*/ 312739 h 336551"/>
                  <a:gd name="connsiteX5" fmla="*/ 258763 w 300038"/>
                  <a:gd name="connsiteY5" fmla="*/ 306124 h 336551"/>
                  <a:gd name="connsiteX6" fmla="*/ 258763 w 300038"/>
                  <a:gd name="connsiteY6" fmla="*/ 280989 h 336551"/>
                  <a:gd name="connsiteX7" fmla="*/ 250919 w 300038"/>
                  <a:gd name="connsiteY7" fmla="*/ 273051 h 336551"/>
                  <a:gd name="connsiteX8" fmla="*/ 199932 w 300038"/>
                  <a:gd name="connsiteY8" fmla="*/ 273051 h 336551"/>
                  <a:gd name="connsiteX9" fmla="*/ 101328 w 300038"/>
                  <a:gd name="connsiteY9" fmla="*/ 196851 h 336551"/>
                  <a:gd name="connsiteX10" fmla="*/ 107908 w 300038"/>
                  <a:gd name="connsiteY10" fmla="*/ 196851 h 336551"/>
                  <a:gd name="connsiteX11" fmla="*/ 111856 w 300038"/>
                  <a:gd name="connsiteY11" fmla="*/ 202123 h 336551"/>
                  <a:gd name="connsiteX12" fmla="*/ 128964 w 300038"/>
                  <a:gd name="connsiteY12" fmla="*/ 248250 h 336551"/>
                  <a:gd name="connsiteX13" fmla="*/ 131595 w 300038"/>
                  <a:gd name="connsiteY13" fmla="*/ 239025 h 336551"/>
                  <a:gd name="connsiteX14" fmla="*/ 126332 w 300038"/>
                  <a:gd name="connsiteY14" fmla="*/ 225845 h 336551"/>
                  <a:gd name="connsiteX15" fmla="*/ 127648 w 300038"/>
                  <a:gd name="connsiteY15" fmla="*/ 217938 h 336551"/>
                  <a:gd name="connsiteX16" fmla="*/ 132911 w 300038"/>
                  <a:gd name="connsiteY16" fmla="*/ 215302 h 336551"/>
                  <a:gd name="connsiteX17" fmla="*/ 167126 w 300038"/>
                  <a:gd name="connsiteY17" fmla="*/ 215302 h 336551"/>
                  <a:gd name="connsiteX18" fmla="*/ 172390 w 300038"/>
                  <a:gd name="connsiteY18" fmla="*/ 217938 h 336551"/>
                  <a:gd name="connsiteX19" fmla="*/ 173706 w 300038"/>
                  <a:gd name="connsiteY19" fmla="*/ 225845 h 336551"/>
                  <a:gd name="connsiteX20" fmla="*/ 168442 w 300038"/>
                  <a:gd name="connsiteY20" fmla="*/ 239025 h 336551"/>
                  <a:gd name="connsiteX21" fmla="*/ 171074 w 300038"/>
                  <a:gd name="connsiteY21" fmla="*/ 248250 h 336551"/>
                  <a:gd name="connsiteX22" fmla="*/ 188182 w 300038"/>
                  <a:gd name="connsiteY22" fmla="*/ 202123 h 336551"/>
                  <a:gd name="connsiteX23" fmla="*/ 192130 w 300038"/>
                  <a:gd name="connsiteY23" fmla="*/ 196851 h 336551"/>
                  <a:gd name="connsiteX24" fmla="*/ 198710 w 300038"/>
                  <a:gd name="connsiteY24" fmla="*/ 196851 h 336551"/>
                  <a:gd name="connsiteX25" fmla="*/ 265823 w 300038"/>
                  <a:gd name="connsiteY25" fmla="*/ 224527 h 336551"/>
                  <a:gd name="connsiteX26" fmla="*/ 300038 w 300038"/>
                  <a:gd name="connsiteY26" fmla="*/ 274609 h 336551"/>
                  <a:gd name="connsiteX27" fmla="*/ 300038 w 300038"/>
                  <a:gd name="connsiteY27" fmla="*/ 328643 h 336551"/>
                  <a:gd name="connsiteX28" fmla="*/ 292142 w 300038"/>
                  <a:gd name="connsiteY28" fmla="*/ 336551 h 336551"/>
                  <a:gd name="connsiteX29" fmla="*/ 7896 w 300038"/>
                  <a:gd name="connsiteY29" fmla="*/ 336551 h 336551"/>
                  <a:gd name="connsiteX30" fmla="*/ 0 w 300038"/>
                  <a:gd name="connsiteY30" fmla="*/ 328643 h 336551"/>
                  <a:gd name="connsiteX31" fmla="*/ 0 w 300038"/>
                  <a:gd name="connsiteY31" fmla="*/ 274609 h 336551"/>
                  <a:gd name="connsiteX32" fmla="*/ 34215 w 300038"/>
                  <a:gd name="connsiteY32" fmla="*/ 224527 h 336551"/>
                  <a:gd name="connsiteX33" fmla="*/ 101328 w 300038"/>
                  <a:gd name="connsiteY33" fmla="*/ 196851 h 336551"/>
                  <a:gd name="connsiteX34" fmla="*/ 155328 w 300038"/>
                  <a:gd name="connsiteY34" fmla="*/ 0 h 336551"/>
                  <a:gd name="connsiteX35" fmla="*/ 201775 w 300038"/>
                  <a:gd name="connsiteY35" fmla="*/ 15854 h 336551"/>
                  <a:gd name="connsiteX36" fmla="*/ 223008 w 300038"/>
                  <a:gd name="connsiteY36" fmla="*/ 79268 h 336551"/>
                  <a:gd name="connsiteX37" fmla="*/ 224335 w 300038"/>
                  <a:gd name="connsiteY37" fmla="*/ 93801 h 336551"/>
                  <a:gd name="connsiteX38" fmla="*/ 229643 w 300038"/>
                  <a:gd name="connsiteY38" fmla="*/ 100407 h 336551"/>
                  <a:gd name="connsiteX39" fmla="*/ 232297 w 300038"/>
                  <a:gd name="connsiteY39" fmla="*/ 125508 h 336551"/>
                  <a:gd name="connsiteX40" fmla="*/ 208410 w 300038"/>
                  <a:gd name="connsiteY40" fmla="*/ 151931 h 336551"/>
                  <a:gd name="connsiteX41" fmla="*/ 185850 w 300038"/>
                  <a:gd name="connsiteY41" fmla="*/ 183639 h 336551"/>
                  <a:gd name="connsiteX42" fmla="*/ 172579 w 300038"/>
                  <a:gd name="connsiteY42" fmla="*/ 192887 h 336551"/>
                  <a:gd name="connsiteX43" fmla="*/ 150019 w 300038"/>
                  <a:gd name="connsiteY43" fmla="*/ 196850 h 336551"/>
                  <a:gd name="connsiteX44" fmla="*/ 127459 w 300038"/>
                  <a:gd name="connsiteY44" fmla="*/ 192887 h 336551"/>
                  <a:gd name="connsiteX45" fmla="*/ 114189 w 300038"/>
                  <a:gd name="connsiteY45" fmla="*/ 183639 h 336551"/>
                  <a:gd name="connsiteX46" fmla="*/ 91629 w 300038"/>
                  <a:gd name="connsiteY46" fmla="*/ 151931 h 336551"/>
                  <a:gd name="connsiteX47" fmla="*/ 67742 w 300038"/>
                  <a:gd name="connsiteY47" fmla="*/ 125508 h 336551"/>
                  <a:gd name="connsiteX48" fmla="*/ 70396 w 300038"/>
                  <a:gd name="connsiteY48" fmla="*/ 100407 h 336551"/>
                  <a:gd name="connsiteX49" fmla="*/ 75704 w 300038"/>
                  <a:gd name="connsiteY49" fmla="*/ 93801 h 336551"/>
                  <a:gd name="connsiteX50" fmla="*/ 77031 w 300038"/>
                  <a:gd name="connsiteY50" fmla="*/ 85874 h 336551"/>
                  <a:gd name="connsiteX51" fmla="*/ 74377 w 300038"/>
                  <a:gd name="connsiteY51" fmla="*/ 50203 h 336551"/>
                  <a:gd name="connsiteX52" fmla="*/ 103572 w 300038"/>
                  <a:gd name="connsiteY52" fmla="*/ 27744 h 336551"/>
                  <a:gd name="connsiteX53" fmla="*/ 119497 w 300038"/>
                  <a:gd name="connsiteY53" fmla="*/ 10569 h 336551"/>
                  <a:gd name="connsiteX54" fmla="*/ 155328 w 300038"/>
                  <a:gd name="connsiteY54" fmla="*/ 0 h 33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00038" h="336551">
                    <a:moveTo>
                      <a:pt x="199932" y="273051"/>
                    </a:moveTo>
                    <a:cubicBezTo>
                      <a:pt x="194703" y="273051"/>
                      <a:pt x="192088" y="277020"/>
                      <a:pt x="192088" y="280989"/>
                    </a:cubicBezTo>
                    <a:cubicBezTo>
                      <a:pt x="192088" y="306124"/>
                      <a:pt x="192088" y="306124"/>
                      <a:pt x="192088" y="306124"/>
                    </a:cubicBezTo>
                    <a:cubicBezTo>
                      <a:pt x="192088" y="310093"/>
                      <a:pt x="194703" y="312739"/>
                      <a:pt x="199932" y="312739"/>
                    </a:cubicBezTo>
                    <a:cubicBezTo>
                      <a:pt x="250919" y="312739"/>
                      <a:pt x="250919" y="312739"/>
                      <a:pt x="250919" y="312739"/>
                    </a:cubicBezTo>
                    <a:cubicBezTo>
                      <a:pt x="254841" y="312739"/>
                      <a:pt x="258763" y="310093"/>
                      <a:pt x="258763" y="306124"/>
                    </a:cubicBezTo>
                    <a:lnTo>
                      <a:pt x="258763" y="280989"/>
                    </a:lnTo>
                    <a:cubicBezTo>
                      <a:pt x="258763" y="277020"/>
                      <a:pt x="254841" y="273051"/>
                      <a:pt x="250919" y="273051"/>
                    </a:cubicBezTo>
                    <a:cubicBezTo>
                      <a:pt x="199932" y="273051"/>
                      <a:pt x="199932" y="273051"/>
                      <a:pt x="199932" y="273051"/>
                    </a:cubicBezTo>
                    <a:close/>
                    <a:moveTo>
                      <a:pt x="101328" y="196851"/>
                    </a:moveTo>
                    <a:cubicBezTo>
                      <a:pt x="103960" y="196851"/>
                      <a:pt x="105276" y="196851"/>
                      <a:pt x="107908" y="196851"/>
                    </a:cubicBezTo>
                    <a:cubicBezTo>
                      <a:pt x="109224" y="198169"/>
                      <a:pt x="110540" y="199487"/>
                      <a:pt x="111856" y="202123"/>
                    </a:cubicBezTo>
                    <a:cubicBezTo>
                      <a:pt x="128964" y="248250"/>
                      <a:pt x="128964" y="248250"/>
                      <a:pt x="128964" y="248250"/>
                    </a:cubicBezTo>
                    <a:cubicBezTo>
                      <a:pt x="131595" y="239025"/>
                      <a:pt x="131595" y="239025"/>
                      <a:pt x="131595" y="239025"/>
                    </a:cubicBezTo>
                    <a:cubicBezTo>
                      <a:pt x="126332" y="225845"/>
                      <a:pt x="126332" y="225845"/>
                      <a:pt x="126332" y="225845"/>
                    </a:cubicBezTo>
                    <a:cubicBezTo>
                      <a:pt x="125016" y="223209"/>
                      <a:pt x="126332" y="220574"/>
                      <a:pt x="127648" y="217938"/>
                    </a:cubicBezTo>
                    <a:cubicBezTo>
                      <a:pt x="128964" y="216620"/>
                      <a:pt x="131595" y="215302"/>
                      <a:pt x="132911" y="215302"/>
                    </a:cubicBezTo>
                    <a:cubicBezTo>
                      <a:pt x="167126" y="215302"/>
                      <a:pt x="167126" y="215302"/>
                      <a:pt x="167126" y="215302"/>
                    </a:cubicBezTo>
                    <a:cubicBezTo>
                      <a:pt x="168442" y="215302"/>
                      <a:pt x="171074" y="216620"/>
                      <a:pt x="172390" y="217938"/>
                    </a:cubicBezTo>
                    <a:cubicBezTo>
                      <a:pt x="173706" y="220574"/>
                      <a:pt x="175022" y="223209"/>
                      <a:pt x="173706" y="225845"/>
                    </a:cubicBezTo>
                    <a:cubicBezTo>
                      <a:pt x="168442" y="239025"/>
                      <a:pt x="168442" y="239025"/>
                      <a:pt x="168442" y="239025"/>
                    </a:cubicBezTo>
                    <a:cubicBezTo>
                      <a:pt x="171074" y="248250"/>
                      <a:pt x="171074" y="248250"/>
                      <a:pt x="171074" y="248250"/>
                    </a:cubicBezTo>
                    <a:cubicBezTo>
                      <a:pt x="188182" y="202123"/>
                      <a:pt x="188182" y="202123"/>
                      <a:pt x="188182" y="202123"/>
                    </a:cubicBezTo>
                    <a:cubicBezTo>
                      <a:pt x="189498" y="199487"/>
                      <a:pt x="190814" y="198169"/>
                      <a:pt x="192130" y="196851"/>
                    </a:cubicBezTo>
                    <a:cubicBezTo>
                      <a:pt x="194762" y="196851"/>
                      <a:pt x="196078" y="196851"/>
                      <a:pt x="198710" y="196851"/>
                    </a:cubicBezTo>
                    <a:cubicBezTo>
                      <a:pt x="265823" y="224527"/>
                      <a:pt x="265823" y="224527"/>
                      <a:pt x="265823" y="224527"/>
                    </a:cubicBezTo>
                    <a:cubicBezTo>
                      <a:pt x="286879" y="232435"/>
                      <a:pt x="300038" y="252204"/>
                      <a:pt x="300038" y="274609"/>
                    </a:cubicBezTo>
                    <a:cubicBezTo>
                      <a:pt x="300038" y="328643"/>
                      <a:pt x="300038" y="328643"/>
                      <a:pt x="300038" y="328643"/>
                    </a:cubicBezTo>
                    <a:cubicBezTo>
                      <a:pt x="300038" y="332597"/>
                      <a:pt x="296090" y="336551"/>
                      <a:pt x="292142" y="336551"/>
                    </a:cubicBezTo>
                    <a:cubicBezTo>
                      <a:pt x="7896" y="336551"/>
                      <a:pt x="7896" y="336551"/>
                      <a:pt x="7896" y="336551"/>
                    </a:cubicBezTo>
                    <a:cubicBezTo>
                      <a:pt x="3948" y="336551"/>
                      <a:pt x="0" y="332597"/>
                      <a:pt x="0" y="328643"/>
                    </a:cubicBezTo>
                    <a:cubicBezTo>
                      <a:pt x="0" y="274609"/>
                      <a:pt x="0" y="274609"/>
                      <a:pt x="0" y="274609"/>
                    </a:cubicBezTo>
                    <a:cubicBezTo>
                      <a:pt x="0" y="252204"/>
                      <a:pt x="13159" y="232435"/>
                      <a:pt x="34215" y="224527"/>
                    </a:cubicBezTo>
                    <a:cubicBezTo>
                      <a:pt x="101328" y="196851"/>
                      <a:pt x="101328" y="196851"/>
                      <a:pt x="101328" y="196851"/>
                    </a:cubicBezTo>
                    <a:close/>
                    <a:moveTo>
                      <a:pt x="155328" y="0"/>
                    </a:moveTo>
                    <a:cubicBezTo>
                      <a:pt x="171252" y="0"/>
                      <a:pt x="187177" y="5285"/>
                      <a:pt x="201775" y="15854"/>
                    </a:cubicBezTo>
                    <a:cubicBezTo>
                      <a:pt x="225662" y="34350"/>
                      <a:pt x="223008" y="72663"/>
                      <a:pt x="223008" y="79268"/>
                    </a:cubicBezTo>
                    <a:cubicBezTo>
                      <a:pt x="223008" y="84553"/>
                      <a:pt x="224335" y="89838"/>
                      <a:pt x="224335" y="93801"/>
                    </a:cubicBezTo>
                    <a:cubicBezTo>
                      <a:pt x="225662" y="95122"/>
                      <a:pt x="228316" y="96443"/>
                      <a:pt x="229643" y="100407"/>
                    </a:cubicBezTo>
                    <a:cubicBezTo>
                      <a:pt x="234951" y="107012"/>
                      <a:pt x="234951" y="114939"/>
                      <a:pt x="232297" y="125508"/>
                    </a:cubicBezTo>
                    <a:cubicBezTo>
                      <a:pt x="226989" y="146647"/>
                      <a:pt x="215045" y="150610"/>
                      <a:pt x="208410" y="151931"/>
                    </a:cubicBezTo>
                    <a:cubicBezTo>
                      <a:pt x="204429" y="159858"/>
                      <a:pt x="195139" y="175712"/>
                      <a:pt x="185850" y="183639"/>
                    </a:cubicBezTo>
                    <a:cubicBezTo>
                      <a:pt x="183196" y="187602"/>
                      <a:pt x="177888" y="190244"/>
                      <a:pt x="172579" y="192887"/>
                    </a:cubicBezTo>
                    <a:cubicBezTo>
                      <a:pt x="164617" y="195529"/>
                      <a:pt x="157982" y="196850"/>
                      <a:pt x="150019" y="196850"/>
                    </a:cubicBezTo>
                    <a:cubicBezTo>
                      <a:pt x="142057" y="196850"/>
                      <a:pt x="135422" y="195529"/>
                      <a:pt x="127459" y="192887"/>
                    </a:cubicBezTo>
                    <a:cubicBezTo>
                      <a:pt x="122151" y="190244"/>
                      <a:pt x="116843" y="187602"/>
                      <a:pt x="114189" y="183639"/>
                    </a:cubicBezTo>
                    <a:cubicBezTo>
                      <a:pt x="104900" y="175712"/>
                      <a:pt x="95610" y="159858"/>
                      <a:pt x="91629" y="151931"/>
                    </a:cubicBezTo>
                    <a:cubicBezTo>
                      <a:pt x="84994" y="150610"/>
                      <a:pt x="73050" y="146647"/>
                      <a:pt x="67742" y="125508"/>
                    </a:cubicBezTo>
                    <a:cubicBezTo>
                      <a:pt x="65088" y="114939"/>
                      <a:pt x="65088" y="107012"/>
                      <a:pt x="70396" y="100407"/>
                    </a:cubicBezTo>
                    <a:cubicBezTo>
                      <a:pt x="71723" y="96443"/>
                      <a:pt x="74377" y="95122"/>
                      <a:pt x="75704" y="93801"/>
                    </a:cubicBezTo>
                    <a:cubicBezTo>
                      <a:pt x="75704" y="91159"/>
                      <a:pt x="75704" y="88516"/>
                      <a:pt x="77031" y="85874"/>
                    </a:cubicBezTo>
                    <a:cubicBezTo>
                      <a:pt x="73050" y="80590"/>
                      <a:pt x="67742" y="68699"/>
                      <a:pt x="74377" y="50203"/>
                    </a:cubicBezTo>
                    <a:cubicBezTo>
                      <a:pt x="81013" y="30386"/>
                      <a:pt x="95610" y="27744"/>
                      <a:pt x="103572" y="27744"/>
                    </a:cubicBezTo>
                    <a:cubicBezTo>
                      <a:pt x="106227" y="22459"/>
                      <a:pt x="111535" y="17175"/>
                      <a:pt x="119497" y="10569"/>
                    </a:cubicBezTo>
                    <a:cubicBezTo>
                      <a:pt x="128786" y="3963"/>
                      <a:pt x="142057" y="0"/>
                      <a:pt x="155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4056604" y="4546687"/>
              <a:ext cx="576000" cy="576000"/>
              <a:chOff x="312256" y="5505217"/>
              <a:chExt cx="1561578" cy="156157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12256" y="5505217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grpSp>
            <p:nvGrpSpPr>
              <p:cNvPr id="11" name="组合 10"/>
              <p:cNvGrpSpPr>
                <a:grpSpLocks noChangeAspect="1"/>
              </p:cNvGrpSpPr>
              <p:nvPr/>
            </p:nvGrpSpPr>
            <p:grpSpPr>
              <a:xfrm>
                <a:off x="655432" y="5793810"/>
                <a:ext cx="875247" cy="1012007"/>
                <a:chOff x="-8569682" y="7503107"/>
                <a:chExt cx="1095478" cy="1266650"/>
              </a:xfrm>
            </p:grpSpPr>
            <p:sp>
              <p:nvSpPr>
                <p:cNvPr id="13" name="Freeform 431"/>
                <p:cNvSpPr>
                  <a:spLocks noEditPoints="1"/>
                </p:cNvSpPr>
                <p:nvPr/>
              </p:nvSpPr>
              <p:spPr bwMode="auto">
                <a:xfrm>
                  <a:off x="-8569682" y="7503107"/>
                  <a:ext cx="1095478" cy="1266650"/>
                </a:xfrm>
                <a:custGeom>
                  <a:avLst/>
                  <a:gdLst>
                    <a:gd name="T0" fmla="*/ 218 w 248"/>
                    <a:gd name="T1" fmla="*/ 40 h 287"/>
                    <a:gd name="T2" fmla="*/ 218 w 248"/>
                    <a:gd name="T3" fmla="*/ 24 h 287"/>
                    <a:gd name="T4" fmla="*/ 193 w 248"/>
                    <a:gd name="T5" fmla="*/ 0 h 287"/>
                    <a:gd name="T6" fmla="*/ 167 w 248"/>
                    <a:gd name="T7" fmla="*/ 24 h 287"/>
                    <a:gd name="T8" fmla="*/ 167 w 248"/>
                    <a:gd name="T9" fmla="*/ 40 h 287"/>
                    <a:gd name="T10" fmla="*/ 150 w 248"/>
                    <a:gd name="T11" fmla="*/ 40 h 287"/>
                    <a:gd name="T12" fmla="*/ 150 w 248"/>
                    <a:gd name="T13" fmla="*/ 24 h 287"/>
                    <a:gd name="T14" fmla="*/ 124 w 248"/>
                    <a:gd name="T15" fmla="*/ 0 h 287"/>
                    <a:gd name="T16" fmla="*/ 98 w 248"/>
                    <a:gd name="T17" fmla="*/ 24 h 287"/>
                    <a:gd name="T18" fmla="*/ 98 w 248"/>
                    <a:gd name="T19" fmla="*/ 40 h 287"/>
                    <a:gd name="T20" fmla="*/ 81 w 248"/>
                    <a:gd name="T21" fmla="*/ 40 h 287"/>
                    <a:gd name="T22" fmla="*/ 81 w 248"/>
                    <a:gd name="T23" fmla="*/ 24 h 287"/>
                    <a:gd name="T24" fmla="*/ 55 w 248"/>
                    <a:gd name="T25" fmla="*/ 0 h 287"/>
                    <a:gd name="T26" fmla="*/ 29 w 248"/>
                    <a:gd name="T27" fmla="*/ 24 h 287"/>
                    <a:gd name="T28" fmla="*/ 29 w 248"/>
                    <a:gd name="T29" fmla="*/ 40 h 287"/>
                    <a:gd name="T30" fmla="*/ 0 w 248"/>
                    <a:gd name="T31" fmla="*/ 40 h 287"/>
                    <a:gd name="T32" fmla="*/ 0 w 248"/>
                    <a:gd name="T33" fmla="*/ 287 h 287"/>
                    <a:gd name="T34" fmla="*/ 248 w 248"/>
                    <a:gd name="T35" fmla="*/ 287 h 287"/>
                    <a:gd name="T36" fmla="*/ 248 w 248"/>
                    <a:gd name="T37" fmla="*/ 40 h 287"/>
                    <a:gd name="T38" fmla="*/ 218 w 248"/>
                    <a:gd name="T39" fmla="*/ 40 h 287"/>
                    <a:gd name="T40" fmla="*/ 181 w 248"/>
                    <a:gd name="T41" fmla="*/ 24 h 287"/>
                    <a:gd name="T42" fmla="*/ 193 w 248"/>
                    <a:gd name="T43" fmla="*/ 14 h 287"/>
                    <a:gd name="T44" fmla="*/ 205 w 248"/>
                    <a:gd name="T45" fmla="*/ 24 h 287"/>
                    <a:gd name="T46" fmla="*/ 205 w 248"/>
                    <a:gd name="T47" fmla="*/ 66 h 287"/>
                    <a:gd name="T48" fmla="*/ 193 w 248"/>
                    <a:gd name="T49" fmla="*/ 76 h 287"/>
                    <a:gd name="T50" fmla="*/ 181 w 248"/>
                    <a:gd name="T51" fmla="*/ 66 h 287"/>
                    <a:gd name="T52" fmla="*/ 181 w 248"/>
                    <a:gd name="T53" fmla="*/ 24 h 287"/>
                    <a:gd name="T54" fmla="*/ 112 w 248"/>
                    <a:gd name="T55" fmla="*/ 24 h 287"/>
                    <a:gd name="T56" fmla="*/ 124 w 248"/>
                    <a:gd name="T57" fmla="*/ 14 h 287"/>
                    <a:gd name="T58" fmla="*/ 136 w 248"/>
                    <a:gd name="T59" fmla="*/ 24 h 287"/>
                    <a:gd name="T60" fmla="*/ 136 w 248"/>
                    <a:gd name="T61" fmla="*/ 66 h 287"/>
                    <a:gd name="T62" fmla="*/ 124 w 248"/>
                    <a:gd name="T63" fmla="*/ 76 h 287"/>
                    <a:gd name="T64" fmla="*/ 112 w 248"/>
                    <a:gd name="T65" fmla="*/ 66 h 287"/>
                    <a:gd name="T66" fmla="*/ 112 w 248"/>
                    <a:gd name="T67" fmla="*/ 24 h 287"/>
                    <a:gd name="T68" fmla="*/ 43 w 248"/>
                    <a:gd name="T69" fmla="*/ 24 h 287"/>
                    <a:gd name="T70" fmla="*/ 55 w 248"/>
                    <a:gd name="T71" fmla="*/ 14 h 287"/>
                    <a:gd name="T72" fmla="*/ 67 w 248"/>
                    <a:gd name="T73" fmla="*/ 24 h 287"/>
                    <a:gd name="T74" fmla="*/ 67 w 248"/>
                    <a:gd name="T75" fmla="*/ 66 h 287"/>
                    <a:gd name="T76" fmla="*/ 55 w 248"/>
                    <a:gd name="T77" fmla="*/ 76 h 287"/>
                    <a:gd name="T78" fmla="*/ 43 w 248"/>
                    <a:gd name="T79" fmla="*/ 66 h 287"/>
                    <a:gd name="T80" fmla="*/ 43 w 248"/>
                    <a:gd name="T81" fmla="*/ 24 h 287"/>
                    <a:gd name="T82" fmla="*/ 227 w 248"/>
                    <a:gd name="T83" fmla="*/ 267 h 287"/>
                    <a:gd name="T84" fmla="*/ 21 w 248"/>
                    <a:gd name="T85" fmla="*/ 267 h 287"/>
                    <a:gd name="T86" fmla="*/ 21 w 248"/>
                    <a:gd name="T87" fmla="*/ 95 h 287"/>
                    <a:gd name="T88" fmla="*/ 227 w 248"/>
                    <a:gd name="T89" fmla="*/ 95 h 287"/>
                    <a:gd name="T90" fmla="*/ 227 w 248"/>
                    <a:gd name="T91" fmla="*/ 26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8" h="287">
                      <a:moveTo>
                        <a:pt x="218" y="40"/>
                      </a:moveTo>
                      <a:cubicBezTo>
                        <a:pt x="218" y="24"/>
                        <a:pt x="218" y="24"/>
                        <a:pt x="218" y="24"/>
                      </a:cubicBezTo>
                      <a:cubicBezTo>
                        <a:pt x="218" y="9"/>
                        <a:pt x="209" y="0"/>
                        <a:pt x="193" y="0"/>
                      </a:cubicBezTo>
                      <a:cubicBezTo>
                        <a:pt x="177" y="0"/>
                        <a:pt x="167" y="9"/>
                        <a:pt x="167" y="24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cubicBezTo>
                        <a:pt x="150" y="40"/>
                        <a:pt x="150" y="40"/>
                        <a:pt x="150" y="40"/>
                      </a:cubicBezTo>
                      <a:cubicBezTo>
                        <a:pt x="150" y="24"/>
                        <a:pt x="150" y="24"/>
                        <a:pt x="150" y="24"/>
                      </a:cubicBezTo>
                      <a:cubicBezTo>
                        <a:pt x="150" y="9"/>
                        <a:pt x="140" y="0"/>
                        <a:pt x="124" y="0"/>
                      </a:cubicBezTo>
                      <a:cubicBezTo>
                        <a:pt x="108" y="0"/>
                        <a:pt x="98" y="9"/>
                        <a:pt x="98" y="24"/>
                      </a:cubicBezTo>
                      <a:cubicBezTo>
                        <a:pt x="98" y="40"/>
                        <a:pt x="98" y="40"/>
                        <a:pt x="98" y="40"/>
                      </a:cubicBezTo>
                      <a:cubicBezTo>
                        <a:pt x="81" y="40"/>
                        <a:pt x="81" y="40"/>
                        <a:pt x="81" y="40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9"/>
                        <a:pt x="71" y="0"/>
                        <a:pt x="55" y="0"/>
                      </a:cubicBezTo>
                      <a:cubicBezTo>
                        <a:pt x="39" y="0"/>
                        <a:pt x="29" y="9"/>
                        <a:pt x="29" y="24"/>
                      </a:cubicBezTo>
                      <a:cubicBezTo>
                        <a:pt x="29" y="40"/>
                        <a:pt x="29" y="40"/>
                        <a:pt x="29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287"/>
                        <a:pt x="0" y="287"/>
                        <a:pt x="0" y="287"/>
                      </a:cubicBezTo>
                      <a:cubicBezTo>
                        <a:pt x="248" y="287"/>
                        <a:pt x="248" y="287"/>
                        <a:pt x="248" y="287"/>
                      </a:cubicBezTo>
                      <a:cubicBezTo>
                        <a:pt x="248" y="40"/>
                        <a:pt x="248" y="40"/>
                        <a:pt x="248" y="40"/>
                      </a:cubicBezTo>
                      <a:lnTo>
                        <a:pt x="218" y="40"/>
                      </a:lnTo>
                      <a:close/>
                      <a:moveTo>
                        <a:pt x="181" y="24"/>
                      </a:moveTo>
                      <a:cubicBezTo>
                        <a:pt x="181" y="17"/>
                        <a:pt x="184" y="14"/>
                        <a:pt x="193" y="14"/>
                      </a:cubicBezTo>
                      <a:cubicBezTo>
                        <a:pt x="201" y="14"/>
                        <a:pt x="205" y="17"/>
                        <a:pt x="205" y="24"/>
                      </a:cubicBezTo>
                      <a:cubicBezTo>
                        <a:pt x="205" y="66"/>
                        <a:pt x="205" y="66"/>
                        <a:pt x="205" y="66"/>
                      </a:cubicBezTo>
                      <a:cubicBezTo>
                        <a:pt x="205" y="73"/>
                        <a:pt x="201" y="76"/>
                        <a:pt x="193" y="76"/>
                      </a:cubicBezTo>
                      <a:cubicBezTo>
                        <a:pt x="184" y="76"/>
                        <a:pt x="181" y="73"/>
                        <a:pt x="181" y="66"/>
                      </a:cubicBezTo>
                      <a:lnTo>
                        <a:pt x="181" y="24"/>
                      </a:lnTo>
                      <a:close/>
                      <a:moveTo>
                        <a:pt x="112" y="24"/>
                      </a:moveTo>
                      <a:cubicBezTo>
                        <a:pt x="112" y="17"/>
                        <a:pt x="115" y="14"/>
                        <a:pt x="124" y="14"/>
                      </a:cubicBezTo>
                      <a:cubicBezTo>
                        <a:pt x="132" y="14"/>
                        <a:pt x="136" y="17"/>
                        <a:pt x="136" y="24"/>
                      </a:cubicBezTo>
                      <a:cubicBezTo>
                        <a:pt x="136" y="66"/>
                        <a:pt x="136" y="66"/>
                        <a:pt x="136" y="66"/>
                      </a:cubicBezTo>
                      <a:cubicBezTo>
                        <a:pt x="136" y="73"/>
                        <a:pt x="132" y="76"/>
                        <a:pt x="124" y="76"/>
                      </a:cubicBezTo>
                      <a:cubicBezTo>
                        <a:pt x="115" y="76"/>
                        <a:pt x="112" y="73"/>
                        <a:pt x="112" y="66"/>
                      </a:cubicBezTo>
                      <a:lnTo>
                        <a:pt x="112" y="24"/>
                      </a:lnTo>
                      <a:close/>
                      <a:moveTo>
                        <a:pt x="43" y="24"/>
                      </a:moveTo>
                      <a:cubicBezTo>
                        <a:pt x="43" y="17"/>
                        <a:pt x="47" y="14"/>
                        <a:pt x="55" y="14"/>
                      </a:cubicBezTo>
                      <a:cubicBezTo>
                        <a:pt x="64" y="14"/>
                        <a:pt x="67" y="17"/>
                        <a:pt x="67" y="24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7" y="73"/>
                        <a:pt x="64" y="76"/>
                        <a:pt x="55" y="76"/>
                      </a:cubicBezTo>
                      <a:cubicBezTo>
                        <a:pt x="47" y="76"/>
                        <a:pt x="43" y="73"/>
                        <a:pt x="43" y="66"/>
                      </a:cubicBezTo>
                      <a:lnTo>
                        <a:pt x="43" y="24"/>
                      </a:lnTo>
                      <a:close/>
                      <a:moveTo>
                        <a:pt x="227" y="267"/>
                      </a:moveTo>
                      <a:cubicBezTo>
                        <a:pt x="21" y="267"/>
                        <a:pt x="21" y="267"/>
                        <a:pt x="21" y="267"/>
                      </a:cubicBezTo>
                      <a:cubicBezTo>
                        <a:pt x="21" y="95"/>
                        <a:pt x="21" y="95"/>
                        <a:pt x="21" y="95"/>
                      </a:cubicBezTo>
                      <a:cubicBezTo>
                        <a:pt x="227" y="95"/>
                        <a:pt x="227" y="95"/>
                        <a:pt x="227" y="95"/>
                      </a:cubicBezTo>
                      <a:lnTo>
                        <a:pt x="227" y="26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 432"/>
                <p:cNvSpPr/>
                <p:nvPr/>
              </p:nvSpPr>
              <p:spPr bwMode="auto">
                <a:xfrm>
                  <a:off x="-8318647" y="8101314"/>
                  <a:ext cx="296691" cy="456448"/>
                </a:xfrm>
                <a:custGeom>
                  <a:avLst/>
                  <a:gdLst>
                    <a:gd name="T0" fmla="*/ 66 w 66"/>
                    <a:gd name="T1" fmla="*/ 70 h 102"/>
                    <a:gd name="T2" fmla="*/ 42 w 66"/>
                    <a:gd name="T3" fmla="*/ 46 h 102"/>
                    <a:gd name="T4" fmla="*/ 42 w 66"/>
                    <a:gd name="T5" fmla="*/ 45 h 102"/>
                    <a:gd name="T6" fmla="*/ 64 w 66"/>
                    <a:gd name="T7" fmla="*/ 21 h 102"/>
                    <a:gd name="T8" fmla="*/ 31 w 66"/>
                    <a:gd name="T9" fmla="*/ 0 h 102"/>
                    <a:gd name="T10" fmla="*/ 3 w 66"/>
                    <a:gd name="T11" fmla="*/ 5 h 102"/>
                    <a:gd name="T12" fmla="*/ 5 w 66"/>
                    <a:gd name="T13" fmla="*/ 22 h 102"/>
                    <a:gd name="T14" fmla="*/ 26 w 66"/>
                    <a:gd name="T15" fmla="*/ 17 h 102"/>
                    <a:gd name="T16" fmla="*/ 40 w 66"/>
                    <a:gd name="T17" fmla="*/ 27 h 102"/>
                    <a:gd name="T18" fmla="*/ 19 w 66"/>
                    <a:gd name="T19" fmla="*/ 39 h 102"/>
                    <a:gd name="T20" fmla="*/ 19 w 66"/>
                    <a:gd name="T21" fmla="*/ 57 h 102"/>
                    <a:gd name="T22" fmla="*/ 44 w 66"/>
                    <a:gd name="T23" fmla="*/ 72 h 102"/>
                    <a:gd name="T24" fmla="*/ 27 w 66"/>
                    <a:gd name="T25" fmla="*/ 85 h 102"/>
                    <a:gd name="T26" fmla="*/ 3 w 66"/>
                    <a:gd name="T27" fmla="*/ 80 h 102"/>
                    <a:gd name="T28" fmla="*/ 0 w 66"/>
                    <a:gd name="T29" fmla="*/ 98 h 102"/>
                    <a:gd name="T30" fmla="*/ 25 w 66"/>
                    <a:gd name="T31" fmla="*/ 102 h 102"/>
                    <a:gd name="T32" fmla="*/ 66 w 66"/>
                    <a:gd name="T33" fmla="*/ 7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102">
                      <a:moveTo>
                        <a:pt x="66" y="70"/>
                      </a:moveTo>
                      <a:cubicBezTo>
                        <a:pt x="66" y="57"/>
                        <a:pt x="58" y="50"/>
                        <a:pt x="42" y="46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56" y="41"/>
                        <a:pt x="64" y="33"/>
                        <a:pt x="64" y="21"/>
                      </a:cubicBezTo>
                      <a:cubicBezTo>
                        <a:pt x="64" y="9"/>
                        <a:pt x="52" y="0"/>
                        <a:pt x="31" y="0"/>
                      </a:cubicBezTo>
                      <a:cubicBezTo>
                        <a:pt x="22" y="0"/>
                        <a:pt x="12" y="1"/>
                        <a:pt x="3" y="5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12" y="19"/>
                        <a:pt x="19" y="17"/>
                        <a:pt x="26" y="17"/>
                      </a:cubicBezTo>
                      <a:cubicBezTo>
                        <a:pt x="37" y="17"/>
                        <a:pt x="40" y="21"/>
                        <a:pt x="40" y="27"/>
                      </a:cubicBezTo>
                      <a:cubicBezTo>
                        <a:pt x="40" y="35"/>
                        <a:pt x="32" y="38"/>
                        <a:pt x="19" y="39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38" y="58"/>
                        <a:pt x="44" y="62"/>
                        <a:pt x="44" y="72"/>
                      </a:cubicBezTo>
                      <a:cubicBezTo>
                        <a:pt x="44" y="79"/>
                        <a:pt x="37" y="85"/>
                        <a:pt x="27" y="85"/>
                      </a:cubicBezTo>
                      <a:cubicBezTo>
                        <a:pt x="18" y="85"/>
                        <a:pt x="11" y="83"/>
                        <a:pt x="3" y="8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7" y="100"/>
                        <a:pt x="16" y="102"/>
                        <a:pt x="25" y="102"/>
                      </a:cubicBezTo>
                      <a:cubicBezTo>
                        <a:pt x="48" y="102"/>
                        <a:pt x="66" y="91"/>
                        <a:pt x="66" y="7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" name="Freeform 433"/>
                <p:cNvSpPr/>
                <p:nvPr/>
              </p:nvSpPr>
              <p:spPr bwMode="auto">
                <a:xfrm>
                  <a:off x="-7914802" y="8100591"/>
                  <a:ext cx="182580" cy="433628"/>
                </a:xfrm>
                <a:custGeom>
                  <a:avLst/>
                  <a:gdLst>
                    <a:gd name="T0" fmla="*/ 8 w 16"/>
                    <a:gd name="T1" fmla="*/ 10 h 38"/>
                    <a:gd name="T2" fmla="*/ 8 w 16"/>
                    <a:gd name="T3" fmla="*/ 38 h 38"/>
                    <a:gd name="T4" fmla="*/ 16 w 16"/>
                    <a:gd name="T5" fmla="*/ 38 h 38"/>
                    <a:gd name="T6" fmla="*/ 16 w 16"/>
                    <a:gd name="T7" fmla="*/ 0 h 38"/>
                    <a:gd name="T8" fmla="*/ 12 w 16"/>
                    <a:gd name="T9" fmla="*/ 0 h 38"/>
                    <a:gd name="T10" fmla="*/ 0 w 16"/>
                    <a:gd name="T11" fmla="*/ 6 h 38"/>
                    <a:gd name="T12" fmla="*/ 1 w 16"/>
                    <a:gd name="T13" fmla="*/ 13 h 38"/>
                    <a:gd name="T14" fmla="*/ 8 w 16"/>
                    <a:gd name="T15" fmla="*/ 1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38">
                      <a:moveTo>
                        <a:pt x="8" y="10"/>
                      </a:moveTo>
                      <a:lnTo>
                        <a:pt x="8" y="38"/>
                      </a:lnTo>
                      <a:lnTo>
                        <a:pt x="16" y="38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0" y="6"/>
                      </a:lnTo>
                      <a:lnTo>
                        <a:pt x="1" y="13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7" name="文本框 6"/>
            <p:cNvSpPr txBox="1"/>
            <p:nvPr/>
          </p:nvSpPr>
          <p:spPr>
            <a:xfrm>
              <a:off x="4789394" y="3797575"/>
              <a:ext cx="2267585" cy="544572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汇报人：王思远</a:t>
              </a:r>
              <a:endParaRPr lang="zh-CN" altLang="en-US" dirty="0">
                <a:solidFill>
                  <a:srgbClr val="8B0012"/>
                </a:solidFill>
                <a:latin typeface="方正中等线简体" panose="02000000000000000000" pitchFamily="2" charset="-122"/>
                <a:ea typeface="方正中等线简体" panose="02000000000000000000" pitchFamily="2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27799" y="4497345"/>
              <a:ext cx="4061460" cy="520836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汇报日期：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2026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年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XX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月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XX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日</a:t>
              </a:r>
              <a:endParaRPr lang="zh-CN" altLang="en-US" dirty="0">
                <a:solidFill>
                  <a:srgbClr val="8B0012"/>
                </a:solidFill>
                <a:latin typeface="方正中等线简体" panose="02000000000000000000" pitchFamily="2" charset="-122"/>
                <a:ea typeface="方正中等线简体" panose="020000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13267" y="2478963"/>
            <a:ext cx="2453293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solidFill>
                  <a:schemeClr val="bg1"/>
                </a:solidFill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10150" y="3400499"/>
            <a:ext cx="1659528" cy="1659528"/>
            <a:chOff x="1450268" y="3294624"/>
            <a:chExt cx="1659528" cy="16595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397" y="3474753"/>
              <a:ext cx="1299270" cy="1299270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>
            <a:xfrm>
              <a:off x="1450268" y="3294624"/>
              <a:ext cx="1659528" cy="165952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565541" y="1564996"/>
            <a:ext cx="2581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solidFill>
                  <a:schemeClr val="bg1"/>
                </a:solidFill>
                <a:latin typeface="方正正中黑简体" panose="02000500000000000000" pitchFamily="2" charset="-122"/>
                <a:ea typeface="方正正中黑简体" panose="02000500000000000000" pitchFamily="2" charset="-122"/>
              </a:rPr>
              <a:t>目  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正中黑简体" panose="02000500000000000000" pitchFamily="2" charset="-122"/>
              <a:ea typeface="方正正中黑简体" panose="02000500000000000000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4521805" y="1322617"/>
            <a:ext cx="4277807" cy="658704"/>
            <a:chOff x="4847481" y="1648293"/>
            <a:chExt cx="4277807" cy="658704"/>
          </a:xfrm>
        </p:grpSpPr>
        <p:grpSp>
          <p:nvGrpSpPr>
            <p:cNvPr id="20" name="组合 19"/>
            <p:cNvGrpSpPr/>
            <p:nvPr/>
          </p:nvGrpSpPr>
          <p:grpSpPr>
            <a:xfrm>
              <a:off x="5880960" y="1692640"/>
              <a:ext cx="3244328" cy="585594"/>
              <a:chOff x="6588037" y="2227220"/>
              <a:chExt cx="3244328" cy="585594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6588037" y="2227220"/>
                <a:ext cx="3244328" cy="585594"/>
                <a:chOff x="6588037" y="2227220"/>
                <a:chExt cx="3244328" cy="585594"/>
              </a:xfrm>
            </p:grpSpPr>
            <p:sp>
              <p:nvSpPr>
                <p:cNvPr id="8" name="文本框 7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思源黑体 CN Bold" panose="020B0800000000000000" pitchFamily="34" charset="-122"/>
                    </a:rPr>
                    <a:t>01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06224" y="2228039"/>
                  <a:ext cx="182614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方正正中黑简体" panose="02000500000000000000" pitchFamily="2" charset="-122"/>
                      <a:ea typeface="方正正中黑简体" panose="02000500000000000000" pitchFamily="2" charset="-122"/>
                    </a:rPr>
                    <a:t>研究背景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正中黑简体" panose="02000500000000000000" pitchFamily="2" charset="-122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18" name="直接连接符 1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/>
            <p:cNvSpPr/>
            <p:nvPr>
              <p:custDataLst>
                <p:tags r:id="rId7"/>
              </p:custDataLst>
            </p:nvPr>
          </p:nvSpPr>
          <p:spPr>
            <a:xfrm>
              <a:off x="4847481" y="164829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1669" y="1728773"/>
              <a:ext cx="504799" cy="504799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4736137" y="2699313"/>
            <a:ext cx="4252351" cy="659805"/>
            <a:chOff x="5036761" y="2699313"/>
            <a:chExt cx="4252351" cy="659805"/>
          </a:xfrm>
        </p:grpSpPr>
        <p:grpSp>
          <p:nvGrpSpPr>
            <p:cNvPr id="21" name="组合 20"/>
            <p:cNvGrpSpPr/>
            <p:nvPr/>
          </p:nvGrpSpPr>
          <p:grpSpPr>
            <a:xfrm>
              <a:off x="6054825" y="2699313"/>
              <a:ext cx="3234287" cy="596910"/>
              <a:chOff x="6588037" y="2227220"/>
              <a:chExt cx="3234287" cy="596910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6588037" y="2227220"/>
                <a:ext cx="3234287" cy="596910"/>
                <a:chOff x="6588037" y="2227220"/>
                <a:chExt cx="3234287" cy="596910"/>
              </a:xfrm>
            </p:grpSpPr>
            <p:sp>
              <p:nvSpPr>
                <p:cNvPr id="24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思源黑体 CN Bold" panose="020B0800000000000000" pitchFamily="34" charset="-122"/>
                    </a:rPr>
                    <a:t>02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006224" y="2240565"/>
                  <a:ext cx="1816100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方正正中黑简体" panose="02000500000000000000" pitchFamily="2" charset="-122"/>
                      <a:ea typeface="方正正中黑简体" panose="02000500000000000000" pitchFamily="2" charset="-122"/>
                    </a:rPr>
                    <a:t>核心设计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正中黑简体" panose="02000500000000000000" pitchFamily="2" charset="-122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3" name="直接连接符 2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椭圆 39"/>
            <p:cNvSpPr/>
            <p:nvPr>
              <p:custDataLst>
                <p:tags r:id="rId14"/>
              </p:custDataLst>
            </p:nvPr>
          </p:nvSpPr>
          <p:spPr>
            <a:xfrm>
              <a:off x="5036761" y="2700414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5641" y="2807999"/>
              <a:ext cx="504799" cy="50479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>
            <p:custDataLst>
              <p:tags r:id="rId16"/>
            </p:custDataLst>
          </p:nvPr>
        </p:nvGrpSpPr>
        <p:grpSpPr>
          <a:xfrm>
            <a:off x="4944318" y="3941011"/>
            <a:ext cx="4669418" cy="664752"/>
            <a:chOff x="5232416" y="3778173"/>
            <a:chExt cx="4669418" cy="664752"/>
          </a:xfrm>
        </p:grpSpPr>
        <p:grpSp>
          <p:nvGrpSpPr>
            <p:cNvPr id="26" name="组合 25"/>
            <p:cNvGrpSpPr/>
            <p:nvPr/>
          </p:nvGrpSpPr>
          <p:grpSpPr>
            <a:xfrm>
              <a:off x="6259242" y="3778173"/>
              <a:ext cx="3642592" cy="596910"/>
              <a:chOff x="6588037" y="2227220"/>
              <a:chExt cx="3642592" cy="596910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588037" y="2227220"/>
                <a:ext cx="3642592" cy="596910"/>
                <a:chOff x="6588037" y="2227220"/>
                <a:chExt cx="3642592" cy="596910"/>
              </a:xfrm>
            </p:grpSpPr>
            <p:sp>
              <p:nvSpPr>
                <p:cNvPr id="29" name="文本框 28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方正正中黑简体" panose="02000500000000000000" pitchFamily="2" charset="-122"/>
                    </a:rPr>
                    <a:t>03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006224" y="2240565"/>
                  <a:ext cx="222440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方正正中黑简体" panose="02000500000000000000" pitchFamily="2" charset="-122"/>
                      <a:ea typeface="方正正中黑简体" panose="02000500000000000000" pitchFamily="2" charset="-122"/>
                    </a:rPr>
                    <a:t>实验与测试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正中黑简体" panose="02000500000000000000" pitchFamily="2" charset="-122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8" name="直接连接符 27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/>
            <p:cNvSpPr/>
            <p:nvPr>
              <p:custDataLst>
                <p:tags r:id="rId20"/>
              </p:custDataLst>
            </p:nvPr>
          </p:nvSpPr>
          <p:spPr>
            <a:xfrm>
              <a:off x="5232416" y="3784221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6" name="图片 55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431" y="3876381"/>
              <a:ext cx="504799" cy="504799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>
            <p:custDataLst>
              <p:tags r:id="rId22"/>
            </p:custDataLst>
          </p:nvPr>
        </p:nvGrpSpPr>
        <p:grpSpPr>
          <a:xfrm>
            <a:off x="5149102" y="5251809"/>
            <a:ext cx="4286947" cy="658704"/>
            <a:chOff x="5399622" y="4800873"/>
            <a:chExt cx="4286947" cy="658704"/>
          </a:xfrm>
        </p:grpSpPr>
        <p:grpSp>
          <p:nvGrpSpPr>
            <p:cNvPr id="31" name="组合 30"/>
            <p:cNvGrpSpPr/>
            <p:nvPr/>
          </p:nvGrpSpPr>
          <p:grpSpPr>
            <a:xfrm>
              <a:off x="6452282" y="4846400"/>
              <a:ext cx="3234287" cy="596910"/>
              <a:chOff x="6588037" y="2227220"/>
              <a:chExt cx="3234287" cy="59691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588037" y="2227220"/>
                <a:ext cx="3234287" cy="596910"/>
                <a:chOff x="6588037" y="2227220"/>
                <a:chExt cx="3234287" cy="596910"/>
              </a:xfrm>
            </p:grpSpPr>
            <p:sp>
              <p:nvSpPr>
                <p:cNvPr id="34" name="文本框 3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方正正中黑简体" panose="02000500000000000000" pitchFamily="2" charset="-122"/>
                    </a:rPr>
                    <a:t>04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006224" y="2240565"/>
                  <a:ext cx="1816100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方正正中黑简体" panose="02000500000000000000" pitchFamily="2" charset="-122"/>
                      <a:ea typeface="方正正中黑简体" panose="02000500000000000000" pitchFamily="2" charset="-122"/>
                    </a:rPr>
                    <a:t>总结展望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方正正中黑简体" panose="02000500000000000000" pitchFamily="2" charset="-122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椭圆 41"/>
            <p:cNvSpPr/>
            <p:nvPr>
              <p:custDataLst>
                <p:tags r:id="rId26"/>
              </p:custDataLst>
            </p:nvPr>
          </p:nvSpPr>
          <p:spPr>
            <a:xfrm>
              <a:off x="5399622" y="480087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405" y="4897020"/>
              <a:ext cx="504799" cy="50479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PART ONE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55"/>
            <a:ext cx="274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研究背景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4390390" cy="521970"/>
            <a:chOff x="7480300" y="3140844"/>
            <a:chExt cx="4390390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410464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  <a:sym typeface="+mn-ea"/>
                </a:rPr>
                <a:t>项目背景与问题定义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  <a:sym typeface="+mn-ea"/>
                </a:rPr>
                <a:t> </a:t>
              </a:r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  <a:sym typeface="+mn-ea"/>
                </a:rPr>
                <a:t>总体目标与边界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buNone/>
              </a:pPr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  <a:sym typeface="+mn-ea"/>
                </a:rPr>
                <a:t>需求拆解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1.1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项目背景与问题定义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6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16636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7"/>
          <p:cNvSpPr/>
          <p:nvPr>
            <p:custDataLst>
              <p:tags r:id="rId3"/>
            </p:custDataLst>
          </p:nvPr>
        </p:nvSpPr>
        <p:spPr>
          <a:xfrm>
            <a:off x="932688" y="2148840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Linux ABI 兼容的生态要求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932688" y="2478024"/>
            <a:ext cx="4855464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Asterinas / RustOS 若要支撑真实开发者工具链，不能只运行普通程序，还必须支持 GDB、strace 等调试工具。</a:t>
            </a:r>
            <a:endParaRPr lang="en-US" sz="1400" dirty="0"/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6172200" y="2011680"/>
            <a:ext cx="516636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6327648" y="2148840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调试能力不是单一 syscall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6327648" y="2478024"/>
            <a:ext cx="4855464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进程调试涉及进程管理、信号、wait、地址空间、寄存器上下文、安全策略和 procfs，是一条完整数据/控制通路。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2"/>
          <p:cNvSpPr/>
          <p:nvPr>
            <p:custDataLst>
              <p:tags r:id="rId8"/>
            </p:custDataLst>
          </p:nvPr>
        </p:nvSpPr>
        <p:spPr>
          <a:xfrm>
            <a:off x="777240" y="3401568"/>
            <a:ext cx="516636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932688" y="3538728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核心问题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Text 14"/>
          <p:cNvSpPr/>
          <p:nvPr>
            <p:custDataLst>
              <p:tags r:id="rId10"/>
            </p:custDataLst>
          </p:nvPr>
        </p:nvSpPr>
        <p:spPr>
          <a:xfrm>
            <a:off x="932688" y="3867912"/>
            <a:ext cx="4855464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如何在此前没有 ptrace 设施的 RustOS 中，构建足够 Linux 兼容、足够安全、并能支撑真实调试器运行的进程调试子系统。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Shape 15"/>
          <p:cNvSpPr/>
          <p:nvPr>
            <p:custDataLst>
              <p:tags r:id="rId11"/>
            </p:custDataLst>
          </p:nvPr>
        </p:nvSpPr>
        <p:spPr>
          <a:xfrm>
            <a:off x="6172200" y="3401568"/>
            <a:ext cx="516636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6"/>
          <p:cNvSpPr/>
          <p:nvPr>
            <p:custDataLst>
              <p:tags r:id="rId12"/>
            </p:custDataLst>
          </p:nvPr>
        </p:nvSpPr>
        <p:spPr>
          <a:xfrm>
            <a:off x="6327648" y="3538728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内核视角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2" name="Text 17"/>
          <p:cNvSpPr/>
          <p:nvPr>
            <p:custDataLst>
              <p:tags r:id="rId13"/>
            </p:custDataLst>
          </p:nvPr>
        </p:nvSpPr>
        <p:spPr>
          <a:xfrm>
            <a:off x="6327648" y="3867912"/>
            <a:ext cx="4855464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需要补齐追踪关系管理、执行流停止/恢复、异常到信号转换、跨地址空间访问、wait 状态编码和架构寄存器 ABI。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965960" y="5102225"/>
            <a:ext cx="8321040" cy="49085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965960" y="5157470"/>
            <a:ext cx="8321040" cy="4356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7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目标：让真实 GDB / strace 能在 Asterinas 上原生运行并调试用户进程</a:t>
            </a:r>
            <a:endParaRPr lang="en-US" sz="17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1.2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总体目标与验收</a:t>
            </a: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标准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hape 6"/>
          <p:cNvSpPr/>
          <p:nvPr>
            <p:custDataLst>
              <p:tags r:id="rId2"/>
            </p:custDataLst>
          </p:nvPr>
        </p:nvSpPr>
        <p:spPr>
          <a:xfrm>
            <a:off x="777240" y="1938528"/>
            <a:ext cx="50109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932688" y="2075688"/>
            <a:ext cx="47000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 核心 ABI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6" name="Text 8"/>
          <p:cNvSpPr/>
          <p:nvPr>
            <p:custDataLst>
              <p:tags r:id="rId4"/>
            </p:custDataLst>
          </p:nvPr>
        </p:nvSpPr>
        <p:spPr>
          <a:xfrm>
            <a:off x="932815" y="2336800"/>
            <a:ext cx="4929505" cy="360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 GDB 的断点、停止、寄存器/内存读写、单步与继续；支持 strace 的 syscall entry/exit。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hape 9"/>
          <p:cNvSpPr/>
          <p:nvPr>
            <p:custDataLst>
              <p:tags r:id="rId5"/>
            </p:custDataLst>
          </p:nvPr>
        </p:nvSpPr>
        <p:spPr>
          <a:xfrm>
            <a:off x="777367" y="2988183"/>
            <a:ext cx="50109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10"/>
          <p:cNvSpPr/>
          <p:nvPr>
            <p:custDataLst>
              <p:tags r:id="rId6"/>
            </p:custDataLst>
          </p:nvPr>
        </p:nvSpPr>
        <p:spPr>
          <a:xfrm>
            <a:off x="932815" y="3127248"/>
            <a:ext cx="47000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procfs 调试接口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11"/>
          <p:cNvSpPr/>
          <p:nvPr>
            <p:custDataLst>
              <p:tags r:id="rId7"/>
            </p:custDataLst>
          </p:nvPr>
        </p:nvSpPr>
        <p:spPr>
          <a:xfrm>
            <a:off x="931545" y="3409442"/>
            <a:ext cx="4700016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提供 /proc/&lt;pid&gt;/maps、/proc/&lt;pid&gt;/mem、/proc/&lt;tid&gt;、/proc/&lt;pid&gt;/auxv 等接口。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Shape 12"/>
          <p:cNvSpPr/>
          <p:nvPr>
            <p:custDataLst>
              <p:tags r:id="rId8"/>
            </p:custDataLst>
          </p:nvPr>
        </p:nvSpPr>
        <p:spPr>
          <a:xfrm>
            <a:off x="777240" y="4020185"/>
            <a:ext cx="50109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13"/>
          <p:cNvSpPr/>
          <p:nvPr>
            <p:custDataLst>
              <p:tags r:id="rId9"/>
            </p:custDataLst>
          </p:nvPr>
        </p:nvSpPr>
        <p:spPr>
          <a:xfrm>
            <a:off x="932053" y="4085590"/>
            <a:ext cx="47000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安全边界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0" name="Text 14"/>
          <p:cNvSpPr/>
          <p:nvPr>
            <p:custDataLst>
              <p:tags r:id="rId10"/>
            </p:custDataLst>
          </p:nvPr>
        </p:nvSpPr>
        <p:spPr>
          <a:xfrm>
            <a:off x="932688" y="4442714"/>
            <a:ext cx="4700016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对齐 ptrace_may_access，并引入 Yama LSM 的 ptrace_scope 策略。</a:t>
            </a:r>
            <a:endParaRPr lang="en-US" sz="1200" dirty="0"/>
          </a:p>
        </p:txBody>
      </p:sp>
      <p:sp>
        <p:nvSpPr>
          <p:cNvPr id="31" name="Shape 15"/>
          <p:cNvSpPr/>
          <p:nvPr>
            <p:custDataLst>
              <p:tags r:id="rId11"/>
            </p:custDataLst>
          </p:nvPr>
        </p:nvSpPr>
        <p:spPr>
          <a:xfrm>
            <a:off x="777367" y="5087620"/>
            <a:ext cx="501091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16"/>
          <p:cNvSpPr/>
          <p:nvPr>
            <p:custDataLst>
              <p:tags r:id="rId12"/>
            </p:custDataLst>
          </p:nvPr>
        </p:nvSpPr>
        <p:spPr>
          <a:xfrm>
            <a:off x="932815" y="5171440"/>
            <a:ext cx="470001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真实工具链验证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Text 17"/>
          <p:cNvSpPr/>
          <p:nvPr>
            <p:custDataLst>
              <p:tags r:id="rId13"/>
            </p:custDataLst>
          </p:nvPr>
        </p:nvSpPr>
        <p:spPr>
          <a:xfrm>
            <a:off x="876935" y="5507355"/>
            <a:ext cx="4858385" cy="746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以真实 GDB、strace、gVisor ptrace 测试、回归测试和安全测试作为验收依据。</a:t>
            </a:r>
            <a:endParaRPr lang="en-US" sz="1200" dirty="0"/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/>
          <p:nvPr/>
        </p:nvGraphicFramePr>
        <p:xfrm>
          <a:off x="6006465" y="1826895"/>
          <a:ext cx="61214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验收标准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能启动并调试单线程用户程序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能设置软件断点，命中 </a:t>
                      </a:r>
                      <a:r>
                        <a:rPr lang="en-US" altLang="zh-CN"/>
                        <a:t>int3 </a:t>
                      </a:r>
                      <a:r>
                        <a:rPr lang="zh-CN" altLang="en-US"/>
                        <a:t>后进入 </a:t>
                      </a:r>
                      <a:r>
                        <a:rPr lang="en-US" altLang="zh-CN"/>
                        <a:t>stop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能读取/修改通用寄存器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能读取/修改用户进程内存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能单步执行并继续执行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strace </a:t>
                      </a:r>
                      <a:r>
                        <a:rPr lang="zh-CN" altLang="en-US"/>
                        <a:t>能看到系统调用 </a:t>
                      </a:r>
                      <a:r>
                        <a:rPr lang="en-US" altLang="zh-CN"/>
                        <a:t>entry/exit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/proc/&lt;pid&gt;/maps </a:t>
                      </a:r>
                      <a:r>
                        <a:rPr lang="zh-CN" altLang="en-US"/>
                        <a:t>输出可被 </a:t>
                      </a:r>
                      <a:r>
                        <a:rPr lang="en-US" altLang="zh-CN"/>
                        <a:t>GDB </a:t>
                      </a:r>
                      <a:r>
                        <a:rPr lang="zh-CN" altLang="en-US"/>
                        <a:t>解析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/proc/&lt;pid&gt;/mem </a:t>
                      </a:r>
                      <a:r>
                        <a:rPr lang="zh-CN" altLang="en-US"/>
                        <a:t>在权限允许时可读写目标进程地址空间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Yama ptrace_scope </a:t>
                      </a:r>
                      <a:r>
                        <a:rPr lang="zh-CN" altLang="en-US"/>
                        <a:t>能限制非亲缘或无权限访问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相关功能纳入 </a:t>
                      </a:r>
                      <a:r>
                        <a:rPr lang="en-US" altLang="zh-CN"/>
                        <a:t>CI </a:t>
                      </a:r>
                      <a:r>
                        <a:rPr lang="zh-CN" altLang="en-US"/>
                        <a:t>与回归测试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1.</a:t>
            </a:r>
            <a:r>
              <a:rPr lang="en-US" altLang="zh-CN" sz="2400" b="1" dirty="0">
                <a:solidFill>
                  <a:srgbClr val="8B0012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sym typeface="+mn-ea"/>
              </a:rPr>
              <a:t>3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需求拆解：从调试动作到内核能力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 22"/>
          <p:cNvSpPr/>
          <p:nvPr/>
        </p:nvSpPr>
        <p:spPr>
          <a:xfrm>
            <a:off x="11292840" y="6300216"/>
            <a:ext cx="3200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6"/>
          <p:cNvSpPr/>
          <p:nvPr/>
        </p:nvSpPr>
        <p:spPr>
          <a:xfrm>
            <a:off x="749808" y="1938528"/>
            <a:ext cx="2148840" cy="497205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86384" y="1975104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用户态调试动作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898648" y="1938528"/>
            <a:ext cx="3611880" cy="497205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35224" y="1975104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内核需要提供的能力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510528" y="1938528"/>
            <a:ext cx="4937760" cy="497205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47104" y="1975104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关键设计点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749808" y="2435733"/>
            <a:ext cx="21488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6384" y="2472309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启动并追踪进程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898648" y="2435733"/>
            <a:ext cx="361188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935224" y="2472309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PTRACE_TRACEME、父子追踪关系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510528" y="2435733"/>
            <a:ext cx="493776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47104" y="2472309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 tracer/tracee 关系；记录停止状态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49808" y="2932938"/>
            <a:ext cx="214884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6384" y="2969514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exec 后通知调试器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2898648" y="2932938"/>
            <a:ext cx="361188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21"/>
          <p:cNvSpPr/>
          <p:nvPr/>
        </p:nvSpPr>
        <p:spPr>
          <a:xfrm>
            <a:off x="2935224" y="2969514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exec event 或 SIGTRAP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6510528" y="2932938"/>
            <a:ext cx="493776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23"/>
          <p:cNvSpPr/>
          <p:nvPr/>
        </p:nvSpPr>
        <p:spPr>
          <a:xfrm>
            <a:off x="6547104" y="2969514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exec 路径与 ptrace-stop 整合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749808" y="3430143"/>
            <a:ext cx="21488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25"/>
          <p:cNvSpPr/>
          <p:nvPr/>
        </p:nvSpPr>
        <p:spPr>
          <a:xfrm>
            <a:off x="786384" y="3466719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设置/命中断点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2" name="Shape 26"/>
          <p:cNvSpPr/>
          <p:nvPr/>
        </p:nvSpPr>
        <p:spPr>
          <a:xfrm>
            <a:off x="2898648" y="3430143"/>
            <a:ext cx="361188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27"/>
          <p:cNvSpPr/>
          <p:nvPr/>
        </p:nvSpPr>
        <p:spPr>
          <a:xfrm>
            <a:off x="2935224" y="3466719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POKETEXT + #BP→SIGTRAP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6510528" y="3430143"/>
            <a:ext cx="493776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29"/>
          <p:cNvSpPr/>
          <p:nvPr/>
        </p:nvSpPr>
        <p:spPr>
          <a:xfrm>
            <a:off x="6547104" y="3466719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异常、信号、ptrace-stop 统一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6" name="Shape 30"/>
          <p:cNvSpPr/>
          <p:nvPr/>
        </p:nvSpPr>
        <p:spPr>
          <a:xfrm>
            <a:off x="749808" y="3927348"/>
            <a:ext cx="214884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31"/>
          <p:cNvSpPr/>
          <p:nvPr/>
        </p:nvSpPr>
        <p:spPr>
          <a:xfrm>
            <a:off x="786384" y="3963924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查看/修改寄存器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Shape 32"/>
          <p:cNvSpPr/>
          <p:nvPr/>
        </p:nvSpPr>
        <p:spPr>
          <a:xfrm>
            <a:off x="2898648" y="3927348"/>
            <a:ext cx="361188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33"/>
          <p:cNvSpPr/>
          <p:nvPr/>
        </p:nvSpPr>
        <p:spPr>
          <a:xfrm>
            <a:off x="2935224" y="3963924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GETREGS / SETREGS / USER area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0" name="Shape 34"/>
          <p:cNvSpPr/>
          <p:nvPr/>
        </p:nvSpPr>
        <p:spPr>
          <a:xfrm>
            <a:off x="6510528" y="3927348"/>
            <a:ext cx="493776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35"/>
          <p:cNvSpPr/>
          <p:nvPr/>
        </p:nvSpPr>
        <p:spPr>
          <a:xfrm>
            <a:off x="6547104" y="3963924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x86-64 user_regs_struct；字段级写入规则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2" name="Shape 36"/>
          <p:cNvSpPr/>
          <p:nvPr/>
        </p:nvSpPr>
        <p:spPr>
          <a:xfrm>
            <a:off x="749808" y="4424553"/>
            <a:ext cx="21488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37"/>
          <p:cNvSpPr/>
          <p:nvPr/>
        </p:nvSpPr>
        <p:spPr>
          <a:xfrm>
            <a:off x="786384" y="4461129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查看/修改内存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2898648" y="4424553"/>
            <a:ext cx="361188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39"/>
          <p:cNvSpPr/>
          <p:nvPr/>
        </p:nvSpPr>
        <p:spPr>
          <a:xfrm>
            <a:off x="2935224" y="4461129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PEEK/POKE、/proc/pid/mem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6" name="Shape 40"/>
          <p:cNvSpPr/>
          <p:nvPr/>
        </p:nvSpPr>
        <p:spPr>
          <a:xfrm>
            <a:off x="6510528" y="4424553"/>
            <a:ext cx="493776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41"/>
          <p:cNvSpPr/>
          <p:nvPr/>
        </p:nvSpPr>
        <p:spPr>
          <a:xfrm>
            <a:off x="6547104" y="4461129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跨进程 VMAR 访问、缺页处理、权限检查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8" name="Shape 42"/>
          <p:cNvSpPr/>
          <p:nvPr/>
        </p:nvSpPr>
        <p:spPr>
          <a:xfrm>
            <a:off x="749808" y="4921758"/>
            <a:ext cx="214884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43"/>
          <p:cNvSpPr/>
          <p:nvPr/>
        </p:nvSpPr>
        <p:spPr>
          <a:xfrm>
            <a:off x="786384" y="4958334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单步/继续/跟踪 syscall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0" name="Shape 44"/>
          <p:cNvSpPr/>
          <p:nvPr/>
        </p:nvSpPr>
        <p:spPr>
          <a:xfrm>
            <a:off x="2898648" y="4921758"/>
            <a:ext cx="361188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45"/>
          <p:cNvSpPr/>
          <p:nvPr/>
        </p:nvSpPr>
        <p:spPr>
          <a:xfrm>
            <a:off x="2935224" y="4958334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SINGLESTEP / CONT / SYSCALL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2" name="Shape 46"/>
          <p:cNvSpPr/>
          <p:nvPr/>
        </p:nvSpPr>
        <p:spPr>
          <a:xfrm>
            <a:off x="6510528" y="4921758"/>
            <a:ext cx="4937760" cy="49720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47"/>
          <p:cNvSpPr/>
          <p:nvPr/>
        </p:nvSpPr>
        <p:spPr>
          <a:xfrm>
            <a:off x="6547104" y="4958334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TF 单步；entry/exit stop；TRACESYSGOOD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4" name="Shape 48"/>
          <p:cNvSpPr/>
          <p:nvPr/>
        </p:nvSpPr>
        <p:spPr>
          <a:xfrm>
            <a:off x="749808" y="5418963"/>
            <a:ext cx="21488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49"/>
          <p:cNvSpPr/>
          <p:nvPr/>
        </p:nvSpPr>
        <p:spPr>
          <a:xfrm>
            <a:off x="786384" y="5455539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等待状态变化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6" name="Shape 50"/>
          <p:cNvSpPr/>
          <p:nvPr/>
        </p:nvSpPr>
        <p:spPr>
          <a:xfrm>
            <a:off x="2898648" y="5418963"/>
            <a:ext cx="361188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51"/>
          <p:cNvSpPr/>
          <p:nvPr/>
        </p:nvSpPr>
        <p:spPr>
          <a:xfrm>
            <a:off x="2935224" y="5455539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wait/waitpid/wait4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8" name="Shape 52"/>
          <p:cNvSpPr/>
          <p:nvPr/>
        </p:nvSpPr>
        <p:spPr>
          <a:xfrm>
            <a:off x="6510528" y="5418963"/>
            <a:ext cx="493776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53"/>
          <p:cNvSpPr/>
          <p:nvPr/>
        </p:nvSpPr>
        <p:spPr>
          <a:xfrm>
            <a:off x="6547104" y="5455539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ptrace-stop 编码为 wait status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Shape 48"/>
          <p:cNvSpPr/>
          <p:nvPr/>
        </p:nvSpPr>
        <p:spPr>
          <a:xfrm>
            <a:off x="749173" y="5879338"/>
            <a:ext cx="21488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49"/>
          <p:cNvSpPr/>
          <p:nvPr/>
        </p:nvSpPr>
        <p:spPr>
          <a:xfrm>
            <a:off x="785749" y="5915914"/>
            <a:ext cx="207568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限制非法调试</a:t>
            </a:r>
            <a:endParaRPr lang="zh-CN" alt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5" name="Shape 50"/>
          <p:cNvSpPr/>
          <p:nvPr/>
        </p:nvSpPr>
        <p:spPr>
          <a:xfrm>
            <a:off x="2898013" y="5879338"/>
            <a:ext cx="361188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51"/>
          <p:cNvSpPr/>
          <p:nvPr/>
        </p:nvSpPr>
        <p:spPr>
          <a:xfrm>
            <a:off x="2934589" y="5915914"/>
            <a:ext cx="353872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access </a:t>
            </a:r>
            <a:r>
              <a:rPr lang="en-US" altLang="zh-CN" sz="1400" dirty="0"/>
              <a:t>check + LSM</a:t>
            </a:r>
            <a:endParaRPr lang="en-US" sz="1400" dirty="0"/>
          </a:p>
        </p:txBody>
      </p:sp>
      <p:sp>
        <p:nvSpPr>
          <p:cNvPr id="97" name="Shape 52"/>
          <p:cNvSpPr/>
          <p:nvPr/>
        </p:nvSpPr>
        <p:spPr>
          <a:xfrm>
            <a:off x="6509893" y="5879338"/>
            <a:ext cx="493776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 algn="ctr"/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8" name="Text 53"/>
          <p:cNvSpPr/>
          <p:nvPr/>
        </p:nvSpPr>
        <p:spPr>
          <a:xfrm>
            <a:off x="6546469" y="5915914"/>
            <a:ext cx="4864608" cy="424053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UID/GID/CAP_SYS_PTRACE/Yama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PART two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55"/>
            <a:ext cx="2743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核心设计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"/>
            </p:custDataLst>
          </p:nvPr>
        </p:nvGrpSpPr>
        <p:grpSpPr>
          <a:xfrm>
            <a:off x="6962772" y="2816074"/>
            <a:ext cx="3133728" cy="521970"/>
            <a:chOff x="7480300" y="3140844"/>
            <a:chExt cx="3133728" cy="521970"/>
          </a:xfrm>
        </p:grpSpPr>
        <p:sp>
          <p:nvSpPr>
            <p:cNvPr id="76" name="矩形 75"/>
            <p:cNvSpPr/>
            <p:nvPr>
              <p:custDataLst>
                <p:tags r:id="rId3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>
              <p:custDataLst>
                <p:tags r:id="rId4"/>
              </p:custDataLst>
            </p:nvPr>
          </p:nvSpPr>
          <p:spPr>
            <a:xfrm>
              <a:off x="7766044" y="3140844"/>
              <a:ext cx="28479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总体架构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>
              <p:custDataLst>
                <p:tags r:id="rId6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>
              <p:custDataLst>
                <p:tags r:id="rId7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核心机制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8"/>
            </p:custDataLst>
          </p:nvPr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>
              <p:custDataLst>
                <p:tags r:id="rId9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>
              <p:custDataLst>
                <p:tags r:id="rId10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安全模型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2.1</a:t>
            </a:r>
            <a:r>
              <a:rPr lang="en-US" altLang="zh-CN" sz="2400" b="1" dirty="0">
                <a:solidFill>
                  <a:srgbClr val="8B0012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总体架构：七层调试能力通路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" name="Image 1" descr="/mnt/data/ptrace_svg_assets/svg_1_f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95" y="1913890"/>
            <a:ext cx="9548495" cy="477456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2.2 关键设计取舍：复用内核既有语义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hape 6"/>
          <p:cNvSpPr/>
          <p:nvPr>
            <p:custDataLst>
              <p:tags r:id="rId2"/>
            </p:custDataLst>
          </p:nvPr>
        </p:nvSpPr>
        <p:spPr>
          <a:xfrm>
            <a:off x="838835" y="2247392"/>
            <a:ext cx="4892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94283" y="2384552"/>
            <a:ext cx="458114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停止收敛点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94283" y="2713736"/>
            <a:ext cx="4581144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以信号投递点作为 ptrace-stop 统一入口，断点、单步、普通信号和 event 共享同一停止路径。</a:t>
            </a:r>
            <a:endParaRPr lang="en-US" sz="14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188075" y="2247392"/>
            <a:ext cx="4892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6343523" y="2384552"/>
            <a:ext cx="458114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关系维护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343523" y="2713736"/>
            <a:ext cx="4581144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使用 Weak 引用维护 tracer↔tracee，并通过 tracees map 与固定锁序避免循环引用和死锁。</a:t>
            </a:r>
            <a:endParaRPr lang="en-US" sz="1400" dirty="0"/>
          </a:p>
        </p:txBody>
      </p:sp>
      <p:sp>
        <p:nvSpPr>
          <p:cNvPr id="15" name="Shape 12"/>
          <p:cNvSpPr/>
          <p:nvPr>
            <p:custDataLst>
              <p:tags r:id="rId8"/>
            </p:custDataLst>
          </p:nvPr>
        </p:nvSpPr>
        <p:spPr>
          <a:xfrm>
            <a:off x="838835" y="3600704"/>
            <a:ext cx="4892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994283" y="3737864"/>
            <a:ext cx="458114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资源访问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994283" y="4067048"/>
            <a:ext cx="4581144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通过 VMAR alien access 访问目标地址空间，统一支撑 ptrace PEEK/POKE 与 /proc/pid/mem。</a:t>
            </a:r>
            <a:endParaRPr lang="en-US" sz="1400" dirty="0"/>
          </a:p>
        </p:txBody>
      </p:sp>
      <p:sp>
        <p:nvSpPr>
          <p:cNvPr id="18" name="Shape 15"/>
          <p:cNvSpPr/>
          <p:nvPr>
            <p:custDataLst>
              <p:tags r:id="rId11"/>
            </p:custDataLst>
          </p:nvPr>
        </p:nvSpPr>
        <p:spPr>
          <a:xfrm>
            <a:off x="6188075" y="3600704"/>
            <a:ext cx="4892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6343523" y="3737864"/>
            <a:ext cx="458114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架构解耦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6343523" y="4067048"/>
            <a:ext cx="4581144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x86-64 user_regs_struct、RFLAGS.TF、USER area 等 ABI 细节下沉至 arch/x86/ptrace.rs。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28800" y="5074920"/>
            <a:ext cx="8503920" cy="58610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44040" y="5288534"/>
            <a:ext cx="8503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设计原则：把高风险调试能力收束为显式状态机、显式访问原语和显式安全检查</a:t>
            </a:r>
            <a:endParaRPr lang="en-US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2.3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ptrace 系统调用入口：从 Linux request 到内核对象方法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Shape 11"/>
          <p:cNvSpPr/>
          <p:nvPr/>
        </p:nvSpPr>
        <p:spPr>
          <a:xfrm>
            <a:off x="777240" y="2020570"/>
            <a:ext cx="2528316" cy="713232"/>
          </a:xfrm>
          <a:prstGeom prst="roundRect">
            <a:avLst>
              <a:gd name="adj" fmla="val 10256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7" name="Text 12"/>
          <p:cNvSpPr/>
          <p:nvPr/>
        </p:nvSpPr>
        <p:spPr>
          <a:xfrm>
            <a:off x="850392" y="2148586"/>
            <a:ext cx="2382012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request 编号解析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" name="Shape 13"/>
          <p:cNvSpPr/>
          <p:nvPr/>
        </p:nvSpPr>
        <p:spPr>
          <a:xfrm rot="5400000">
            <a:off x="3342132" y="23040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9" name="Shape 14"/>
          <p:cNvSpPr/>
          <p:nvPr/>
        </p:nvSpPr>
        <p:spPr>
          <a:xfrm>
            <a:off x="3470148" y="2020570"/>
            <a:ext cx="252831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148586"/>
            <a:ext cx="2382012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定位 tracee</a:t>
            </a:r>
            <a:endParaRPr 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Shape 16"/>
          <p:cNvSpPr/>
          <p:nvPr/>
        </p:nvSpPr>
        <p:spPr>
          <a:xfrm rot="5400000">
            <a:off x="6035040" y="23040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163056" y="2020570"/>
            <a:ext cx="252831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6236208" y="2148586"/>
            <a:ext cx="2382012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处理用户指针</a:t>
            </a:r>
            <a:endParaRPr 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Shape 19"/>
          <p:cNvSpPr/>
          <p:nvPr/>
        </p:nvSpPr>
        <p:spPr>
          <a:xfrm rot="5400000">
            <a:off x="8727948" y="23040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855964" y="2020570"/>
            <a:ext cx="252831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8929116" y="2148586"/>
            <a:ext cx="2382012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委托 ptrace 核心层</a:t>
            </a:r>
            <a:endParaRPr 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868680" y="302641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1033272" y="3172714"/>
            <a:ext cx="4837176" cy="1755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sys_ptrace(request, pid, addr, data)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PTRACE_TRACEME / CONT / GETREGS / 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current.tracees[tid] → tracee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copy_from_user / copy_to_user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└── PosixThread::ptrace_xxx(...)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446520" y="2934970"/>
            <a:ext cx="4800600" cy="210248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611112" y="3081274"/>
            <a:ext cx="44714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关键取舍</a:t>
            </a:r>
            <a:endParaRPr lang="en-US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6647815" y="3492500"/>
            <a:ext cx="4398010" cy="143573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避免 sys_ptrace 同时理解 wait、信号、寄存器与地址空间细节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Linux ABI 语义被翻译为内核对象操作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PEEK 返回值、POKE 数据参数、GET/SET 用户指针分别处理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3657600" y="5686425"/>
            <a:ext cx="4892040" cy="521970"/>
          </a:xfrm>
          <a:prstGeom prst="roundRect">
            <a:avLst>
              <a:gd name="adj" fmla="val 26316"/>
            </a:avLst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657600" y="5855970"/>
            <a:ext cx="4892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核心不变量：入口薄，状态机厚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2.4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tracer / tracee 关系：Weak 引用、tracees map 与锁序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777240" y="2085975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232279"/>
            <a:ext cx="4151376" cy="3035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PosixThread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tracee_status: Once&lt;TraceeStatus&gt;,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tracees: Once&lt;Mutex&lt;BTreeMap&lt;Tid, Arc&lt;Thread&gt;&gt;&gt;&gt;,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TraceeStatus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is_stopped: AtomicBool,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state: Mutex&lt;TraceeState&gt;,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>
            <p:custDataLst>
              <p:tags r:id="rId2"/>
            </p:custDataLst>
          </p:nvPr>
        </p:nvSpPr>
        <p:spPr>
          <a:xfrm>
            <a:off x="5669280" y="2131695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5833872" y="2277999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tracee_status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4"/>
            </p:custDataLst>
          </p:nvPr>
        </p:nvSpPr>
        <p:spPr>
          <a:xfrm>
            <a:off x="5870575" y="2607310"/>
            <a:ext cx="2352040" cy="175577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记录“我是否被追踪”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保存停止原因与寄存器快照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供 resume / wait / exit 协同</a:t>
            </a: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5"/>
            </p:custDataLst>
          </p:nvPr>
        </p:nvSpPr>
        <p:spPr>
          <a:xfrm>
            <a:off x="8732520" y="2131695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8897112" y="2277999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tracees map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7"/>
            </p:custDataLst>
          </p:nvPr>
        </p:nvSpPr>
        <p:spPr>
          <a:xfrm>
            <a:off x="8933688" y="2607183"/>
            <a:ext cx="2249424" cy="175564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记录“我追踪哪些线程”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 遍历可报告 tracee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 Weak 避免循环强引用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4783455"/>
            <a:ext cx="5715000" cy="1325880"/>
          </a:xfrm>
          <a:prstGeom prst="roundRect">
            <a:avLst>
              <a:gd name="adj" fmla="val 5517"/>
            </a:avLst>
          </a:prstGeom>
          <a:solidFill>
            <a:srgbClr val="FFF7F6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929759"/>
            <a:ext cx="5385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锁序约束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" name="Text 21"/>
          <p:cNvSpPr/>
          <p:nvPr/>
        </p:nvSpPr>
        <p:spPr>
          <a:xfrm>
            <a:off x="5870448" y="5277231"/>
            <a:ext cx="531266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固定为 tracer.tracees → tracee.tracee_status。wait、resume、detach、exit 清理均按同一方向访问，避免 tracer 遍历与 tracee 停止/退出之间的交叉等待。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2.5 ptrace-stop 主状态机: 保存现场、通知 tracer、阻塞 tracee、恢复现场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" name="Image 1" descr="/mnt/data/ptrace_svg_assets/svg_2_f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" y="2053590"/>
            <a:ext cx="7646035" cy="2005965"/>
          </a:xfrm>
          <a:prstGeom prst="rect">
            <a:avLst/>
          </a:prstGeom>
        </p:spPr>
      </p:pic>
      <p:sp>
        <p:nvSpPr>
          <p:cNvPr id="7" name="Shape 6"/>
          <p:cNvSpPr/>
          <p:nvPr/>
        </p:nvSpPr>
        <p:spPr>
          <a:xfrm>
            <a:off x="7818120" y="1920240"/>
            <a:ext cx="33375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973568" y="2057400"/>
            <a:ext cx="30266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do_ptrace_stop() 顺序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7973695" y="2386330"/>
            <a:ext cx="3182620" cy="19202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保存寄存器现场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记录停止信号/事件与 wait status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向 tracer 投递 SIGCHLD(CLD_TRAPPED)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tracee 以 StopByPtrace 阻塞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 resume 后回写寄存器并返回执行路径</a:t>
            </a:r>
            <a:endParaRPr lang="en-US" sz="1400" dirty="0"/>
          </a:p>
        </p:txBody>
      </p:sp>
      <p:sp>
        <p:nvSpPr>
          <p:cNvPr id="24" name="Shape 9"/>
          <p:cNvSpPr/>
          <p:nvPr/>
        </p:nvSpPr>
        <p:spPr>
          <a:xfrm>
            <a:off x="914400" y="4645025"/>
            <a:ext cx="10241280" cy="107759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10"/>
          <p:cNvSpPr/>
          <p:nvPr/>
        </p:nvSpPr>
        <p:spPr>
          <a:xfrm>
            <a:off x="1069848" y="4877562"/>
            <a:ext cx="99303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核心价值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069848" y="5255006"/>
            <a:ext cx="9930384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ptrace-stop 不另造独立调度语义，而是复用 signal 与 wait。这样 GDB/strace 看到的就是 Linux 风格的 wait4 状态字。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2.6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resume 语义：CONT、SINGLESTEP、SYSCALL 的统一恢复接口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822960" y="2394585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540889"/>
            <a:ext cx="3922776" cy="12984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PtraceContRequest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Continue(Option&lt;SigNum&gt;),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SingleStep(Option&lt;SigNum&gt;),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Syscall(Option&lt;SigNum&gt;),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07660" y="2891790"/>
            <a:ext cx="1685925" cy="56007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3700" y="2937510"/>
            <a:ext cx="1564640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恢复 request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93585" y="2891790"/>
            <a:ext cx="1155344" cy="56007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8449" y="293751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信号处理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48929" y="2891790"/>
            <a:ext cx="1033729" cy="56007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3793" y="2937510"/>
            <a:ext cx="924001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x86 TF 位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82659" y="2891790"/>
            <a:ext cx="1216152" cy="56007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7523" y="2937510"/>
            <a:ext cx="1106424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syscall tracing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Shape 21"/>
          <p:cNvSpPr/>
          <p:nvPr/>
        </p:nvSpPr>
        <p:spPr>
          <a:xfrm>
            <a:off x="10498811" y="2891790"/>
            <a:ext cx="1155344" cy="56007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" name="Text 22"/>
          <p:cNvSpPr/>
          <p:nvPr/>
        </p:nvSpPr>
        <p:spPr>
          <a:xfrm>
            <a:off x="10553675" y="293751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用途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Shape 23"/>
          <p:cNvSpPr/>
          <p:nvPr/>
        </p:nvSpPr>
        <p:spPr>
          <a:xfrm>
            <a:off x="5407660" y="3451860"/>
            <a:ext cx="1685925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1" name="Text 24"/>
          <p:cNvSpPr/>
          <p:nvPr/>
        </p:nvSpPr>
        <p:spPr>
          <a:xfrm>
            <a:off x="5473700" y="3497580"/>
            <a:ext cx="1564640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PTRACE_CONT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Shape 25"/>
          <p:cNvSpPr/>
          <p:nvPr/>
        </p:nvSpPr>
        <p:spPr>
          <a:xfrm>
            <a:off x="7093585" y="3451860"/>
            <a:ext cx="115534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8449" y="349758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注入/抑制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48929" y="3451860"/>
            <a:ext cx="1033729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3793" y="3497580"/>
            <a:ext cx="924001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清除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282659" y="3451860"/>
            <a:ext cx="1216152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37523" y="3497580"/>
            <a:ext cx="1106424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关闭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498811" y="3451860"/>
            <a:ext cx="115534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53675" y="349758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普通继续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07660" y="4011930"/>
            <a:ext cx="1685925" cy="56007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3700" y="4057650"/>
            <a:ext cx="1564640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PTRACE_SINGLESTEP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93585" y="4011930"/>
            <a:ext cx="1155344" cy="56007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8449" y="405765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注入/抑制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48929" y="4011930"/>
            <a:ext cx="1033729" cy="56007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3793" y="4057650"/>
            <a:ext cx="924001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设置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282659" y="4011930"/>
            <a:ext cx="1216152" cy="56007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37523" y="4057650"/>
            <a:ext cx="1106424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关闭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498811" y="4011930"/>
            <a:ext cx="1155344" cy="56007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53675" y="405765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GDB 单步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07660" y="4572000"/>
            <a:ext cx="1685925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73700" y="4617720"/>
            <a:ext cx="1564640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PTRACE_SYSCALL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093585" y="4572000"/>
            <a:ext cx="115534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48449" y="461772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注入/抑制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48929" y="4572000"/>
            <a:ext cx="1033729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3793" y="4617720"/>
            <a:ext cx="924001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清除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282659" y="4572000"/>
            <a:ext cx="1216152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37523" y="4617720"/>
            <a:ext cx="1106424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开启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498811" y="4572000"/>
            <a:ext cx="115534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53675" y="4617720"/>
            <a:ext cx="1045616" cy="46863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strace 跟踪</a:t>
            </a:r>
            <a:endParaRPr 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22960" y="4596765"/>
            <a:ext cx="4252595" cy="1766570"/>
          </a:xfrm>
          <a:prstGeom prst="roundRect">
            <a:avLst>
              <a:gd name="adj" fmla="val 5926"/>
            </a:avLst>
          </a:prstGeom>
          <a:solidFill>
            <a:srgbClr val="FFF7F6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" y="4743069"/>
            <a:ext cx="10415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resume() 核心动作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4128" y="5072253"/>
            <a:ext cx="10341864" cy="70408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替换或清空 StopDeliverySignal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设置/清除 RFLAGS.TF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打开/关闭 is_tracing_syscall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清除 is_stopped 并唤醒 tracee</a:t>
            </a:r>
            <a:endParaRPr lang="en-US" sz="13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2.7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StopDeliverySignal：区分 Pending、Consumed、Injected、Empty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11"/>
          <p:cNvSpPr/>
          <p:nvPr/>
        </p:nvSpPr>
        <p:spPr>
          <a:xfrm>
            <a:off x="777240" y="2112010"/>
            <a:ext cx="2516886" cy="960120"/>
          </a:xfrm>
          <a:prstGeom prst="roundRect">
            <a:avLst>
              <a:gd name="adj" fmla="val 7619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8" name="Text 12"/>
          <p:cNvSpPr/>
          <p:nvPr/>
        </p:nvSpPr>
        <p:spPr>
          <a:xfrm>
            <a:off x="850392" y="2240026"/>
            <a:ext cx="237058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Pending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等待 wait 观察</a:t>
            </a:r>
            <a:endParaRPr lang="en-US" sz="1600" dirty="0"/>
          </a:p>
        </p:txBody>
      </p:sp>
      <p:sp>
        <p:nvSpPr>
          <p:cNvPr id="9" name="Shape 13"/>
          <p:cNvSpPr/>
          <p:nvPr/>
        </p:nvSpPr>
        <p:spPr>
          <a:xfrm rot="5400000">
            <a:off x="3330702" y="2518918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3458718" y="2112010"/>
            <a:ext cx="251688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3531870" y="2240026"/>
            <a:ext cx="237058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Consumed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 已报告</a:t>
            </a:r>
            <a:endParaRPr lang="en-US" sz="1600" dirty="0"/>
          </a:p>
        </p:txBody>
      </p:sp>
      <p:sp>
        <p:nvSpPr>
          <p:cNvPr id="26" name="Shape 16"/>
          <p:cNvSpPr/>
          <p:nvPr/>
        </p:nvSpPr>
        <p:spPr>
          <a:xfrm rot="5400000">
            <a:off x="6012180" y="2518918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6140196" y="2112010"/>
            <a:ext cx="251688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58" name="Text 18"/>
          <p:cNvSpPr/>
          <p:nvPr/>
        </p:nvSpPr>
        <p:spPr>
          <a:xfrm>
            <a:off x="6213348" y="2240026"/>
            <a:ext cx="237058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Injected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resume 注入新信号</a:t>
            </a:r>
            <a:endParaRPr lang="en-US" sz="1600" dirty="0"/>
          </a:p>
        </p:txBody>
      </p:sp>
      <p:sp>
        <p:nvSpPr>
          <p:cNvPr id="59" name="Shape 19"/>
          <p:cNvSpPr/>
          <p:nvPr/>
        </p:nvSpPr>
        <p:spPr>
          <a:xfrm rot="5400000">
            <a:off x="8693658" y="2518918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60" name="Shape 20"/>
          <p:cNvSpPr/>
          <p:nvPr/>
        </p:nvSpPr>
        <p:spPr>
          <a:xfrm>
            <a:off x="8821674" y="2112010"/>
            <a:ext cx="251688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61" name="Text 21"/>
          <p:cNvSpPr/>
          <p:nvPr/>
        </p:nvSpPr>
        <p:spPr>
          <a:xfrm>
            <a:off x="8894826" y="2240026"/>
            <a:ext cx="237058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Empty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信号被抑制/清理</a:t>
            </a:r>
            <a:endParaRPr lang="en-US" sz="1600" dirty="0"/>
          </a:p>
        </p:txBody>
      </p:sp>
      <p:sp>
        <p:nvSpPr>
          <p:cNvPr id="62" name="Shape 22"/>
          <p:cNvSpPr/>
          <p:nvPr/>
        </p:nvSpPr>
        <p:spPr>
          <a:xfrm>
            <a:off x="868680" y="366649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1033272" y="3812794"/>
            <a:ext cx="4791456" cy="1481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StopDeliverySignal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Pending(DequeuedSignal, PtraceWaitStatus),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Consumed(DequeuedSignal),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Injected(DequeuedSignal),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Empty,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64" name="Shape 24"/>
          <p:cNvSpPr/>
          <p:nvPr/>
        </p:nvSpPr>
        <p:spPr>
          <a:xfrm>
            <a:off x="6400800" y="357505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65" name="Text 25"/>
          <p:cNvSpPr/>
          <p:nvPr/>
        </p:nvSpPr>
        <p:spPr>
          <a:xfrm>
            <a:off x="6565392" y="3721354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为什么需要四态</a:t>
            </a:r>
            <a:r>
              <a:rPr lang="en-US" sz="145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？</a:t>
            </a:r>
            <a:endParaRPr lang="en-US" sz="1450" dirty="0"/>
          </a:p>
        </p:txBody>
      </p:sp>
      <p:sp>
        <p:nvSpPr>
          <p:cNvPr id="69" name="Text 26"/>
          <p:cNvSpPr/>
          <p:nvPr/>
        </p:nvSpPr>
        <p:spPr>
          <a:xfrm>
            <a:off x="6601968" y="4050538"/>
            <a:ext cx="4581144" cy="129844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 ptrace-stop 不能被 wait 重复报告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 返回后信号不能立刻丢弃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tracer 仍可在 PTRACE_CONT(pid, 0, sig) 时替换、注入或抑制信号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2.8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信号投递停：在 signal delivery 之前给 tracer 裁决机会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777240" y="2084070"/>
            <a:ext cx="1998878" cy="804672"/>
          </a:xfrm>
          <a:prstGeom prst="roundRect">
            <a:avLst>
              <a:gd name="adj" fmla="val 9091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212086"/>
            <a:ext cx="1852574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pending signal 出队</a:t>
            </a:r>
            <a:endParaRPr lang="en-US" sz="14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 rot="5400000">
            <a:off x="2812694" y="241325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0710" y="2084070"/>
            <a:ext cx="199887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3862" y="2212086"/>
            <a:ext cx="1852574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非 SIGKILL 且被追踪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 rot="5400000">
            <a:off x="4976165" y="241325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4181" y="2084070"/>
            <a:ext cx="199887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7333" y="2212086"/>
            <a:ext cx="1852574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ptrace_stop()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 rot="5400000">
            <a:off x="7139635" y="241325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7651" y="2084070"/>
            <a:ext cx="199887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0803" y="2212086"/>
            <a:ext cx="1852574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tracer wait/resume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 rot="5400000">
            <a:off x="9303106" y="241325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31122" y="2084070"/>
            <a:ext cx="199887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4274" y="2212086"/>
            <a:ext cx="1852574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投递 / 替换 / 抑制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14400" y="3455670"/>
            <a:ext cx="2583180" cy="484632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3501390"/>
            <a:ext cx="247345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PtraceStopResult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7580" y="3455670"/>
            <a:ext cx="3513125" cy="484632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2444" y="3501390"/>
            <a:ext cx="340339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含义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10705" y="3455670"/>
            <a:ext cx="4236415" cy="484632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5569" y="3501390"/>
            <a:ext cx="412668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信号管线动作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3940302"/>
            <a:ext cx="2583180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3986022"/>
            <a:ext cx="247345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Continued(Some)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497580" y="3940302"/>
            <a:ext cx="351312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2444" y="3986022"/>
            <a:ext cx="340339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允许或替换信号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10705" y="3940302"/>
            <a:ext cx="423641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5569" y="3986022"/>
            <a:ext cx="412668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 action 并投递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14400" y="4424934"/>
            <a:ext cx="2583180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4470654"/>
            <a:ext cx="247345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Continued(None)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497580" y="4424934"/>
            <a:ext cx="3513125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52444" y="4470654"/>
            <a:ext cx="340339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抑制信号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10705" y="4424934"/>
            <a:ext cx="4236415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5569" y="4470654"/>
            <a:ext cx="412668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直接返回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14400" y="4909566"/>
            <a:ext cx="2583180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" y="4955286"/>
            <a:ext cx="247345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Interrupted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497580" y="4909566"/>
            <a:ext cx="351312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52444" y="4955286"/>
            <a:ext cx="340339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被 SIGKILL 打断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010705" y="4909566"/>
            <a:ext cx="423641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5569" y="4955286"/>
            <a:ext cx="412668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重新处理 SIGKILL / 退出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14400" y="5394198"/>
            <a:ext cx="2583180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" y="5439918"/>
            <a:ext cx="247345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NotTraced(Some)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497580" y="5394198"/>
            <a:ext cx="3513125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52444" y="5439918"/>
            <a:ext cx="340339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未被追踪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010705" y="5394198"/>
            <a:ext cx="4236415" cy="484632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65569" y="5439918"/>
            <a:ext cx="4126687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普通信号路径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2.9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系统调用停：在 task 主循环中布置 entry / exit 双检查点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777240" y="2052320"/>
            <a:ext cx="5806440" cy="201168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198624"/>
            <a:ext cx="5477256" cy="1755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ReturnReason::UserSyscall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orig_syscall_ret = user_ctx.syscall_ret()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ptrace_may_stop_on_syscall()   // entry-stop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├── handle_syscall()               // 真正执行 syscall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└── ptrace_may_stop_on_syscall()   // exit-stop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5160" y="2052320"/>
            <a:ext cx="4343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2198624"/>
            <a:ext cx="40142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TRACESYSGOOD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96328" y="2527808"/>
            <a:ext cx="3941064" cy="1481328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普通 syscall-stop 使用 SIGTRAP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开启 PTRACE_O_TRACESYSGOOD 后编码为 SIGTRAP | 0x80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strace 可据此区分 syscall-stop 与断点 SIGTRAP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521200"/>
            <a:ext cx="10469880" cy="1051560"/>
          </a:xfrm>
          <a:prstGeom prst="roundRect">
            <a:avLst>
              <a:gd name="adj" fmla="val 6957"/>
            </a:avLst>
          </a:prstGeom>
          <a:solidFill>
            <a:srgbClr val="FFF7F6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667504"/>
            <a:ext cx="10140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关键细节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848" y="5014976"/>
            <a:ext cx="10067544" cy="4480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若 entry-stop 被 SIGKILL 打断，则不继续执行系统调用；否则先执行 syscall，再做 exit-stop。orig_syscall_ret 保存 syscall 入口快照，支撑 x86-64 orig_rax ABI。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2.10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event-stop：以 PtraceOptions 控制 exec / exit 等事件是否报告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868680" y="2020570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89150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PTRACE_O_TRACEEXEC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0" y="2020570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89150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PTRACE_O_TRACEEXIT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46520" y="2020570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89150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PTRACE_O_TRACEFORK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5440" y="2020570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089150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PTRACE_O_TRACEVFORK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2587498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65607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PTRACE_O_TRACECLONE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0" y="2587498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65607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PTRACE_O_TRACEVFORKDONE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46520" y="2587498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65607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PTRACE_O_EXITKILL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35440" y="2587498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656078"/>
            <a:ext cx="2423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PTRACE_O_TRACESYSGOOD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8680" y="3575050"/>
            <a:ext cx="1962302" cy="804672"/>
          </a:xfrm>
          <a:prstGeom prst="roundRect">
            <a:avLst>
              <a:gd name="adj" fmla="val 9091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703066"/>
            <a:ext cx="1815998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 有 tracer?</a:t>
            </a:r>
            <a:endParaRPr lang="en-US" sz="14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 rot="5400000">
            <a:off x="2867558" y="39042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5574" y="3575050"/>
            <a:ext cx="196230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8726" y="3703066"/>
            <a:ext cx="1815998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option 已开启?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 rot="5400000">
            <a:off x="4994453" y="39042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2469" y="3575050"/>
            <a:ext cx="196230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5621" y="3703066"/>
            <a:ext cx="1815998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构造 event + siginfo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 rot="5400000">
            <a:off x="7121347" y="39042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49363" y="3575050"/>
            <a:ext cx="196230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22515" y="3703066"/>
            <a:ext cx="1815998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进入 do_ptrace_stop()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 rot="5400000">
            <a:off x="9248242" y="39042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76258" y="3575050"/>
            <a:ext cx="196230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9410" y="3703066"/>
            <a:ext cx="1815998" cy="6035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GETEVENTMSG 读取 message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485521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" y="5001514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exec 兼容语义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9848" y="5348986"/>
            <a:ext cx="45811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即使未开启 TRACEEXEC，成功 execve 后也应发送普通 SIGTRAP，让调试器在新程序开始执行前接管。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55080" y="485521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5001514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56248" y="5348986"/>
            <a:ext cx="45811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已支持 EXEC / EXIT；fork / vfork / clone family 的 event-stop 仍属于后续扩展范围</a:t>
            </a:r>
            <a:r>
              <a:rPr lang="en-US" sz="133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en-US" sz="133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2.11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wait / waitpid 整合：tracee stop 优先于普通 child stop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777240" y="2004695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150999"/>
            <a:ext cx="4837176" cy="20756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WaitStatus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Zombie(...), Stop(...), Continue(...),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TraceeExit(Arc&lt;Thread&gt;),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TraceeStop(Arc&lt;Thread&gt;, PtraceWaitStatus),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do_wait(): try_wait_tracees() → try_wait_children()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004695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265" y="2324735"/>
            <a:ext cx="4563110" cy="81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设计要点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3985" y="2686685"/>
            <a:ext cx="4694555" cy="15951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 状态先以 ptrace 语义报告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普通 child wait 跳过 is_traced()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ptrace-stop 不要求 WSTOPPED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main thread 退出但进程未 zombie 时延迟报告，避免重复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839335"/>
            <a:ext cx="10424160" cy="1097280"/>
          </a:xfrm>
          <a:prstGeom prst="roundRect">
            <a:avLst>
              <a:gd name="adj" fmla="val 6667"/>
            </a:avLst>
          </a:prstGeom>
          <a:solidFill>
            <a:srgbClr val="FFF7F6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985639"/>
            <a:ext cx="10094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 status 编码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848" y="5333111"/>
            <a:ext cx="10021824" cy="4937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PtraceWaitStatus 最终编码为 wait4 status = (si_status &lt;&lt; 8) | 0x7f；si_status 可为普通信号、SIGTRAP|0x80，或带 event code 的高位编码。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2.12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跨进程内存访问：VMAR alien access，而不是切换页表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" name="Image 1" descr="/mnt/data/ptrace_svg_assets/svg_3_f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510" y="2115820"/>
            <a:ext cx="8749030" cy="2610485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8458200" y="2057400"/>
            <a:ext cx="26609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统一访问原语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" name="Text 8"/>
          <p:cNvSpPr/>
          <p:nvPr/>
        </p:nvSpPr>
        <p:spPr>
          <a:xfrm>
            <a:off x="8378825" y="2386330"/>
            <a:ext cx="3271520" cy="56705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read_alien / write_alien / fill_zeros_alien 被抽象为 access_alien()，统一处理地址校验、缺页和竞态。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8302625" y="3246120"/>
            <a:ext cx="3638550" cy="139763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10"/>
          <p:cNvSpPr/>
          <p:nvPr/>
        </p:nvSpPr>
        <p:spPr>
          <a:xfrm>
            <a:off x="8458200" y="3383280"/>
            <a:ext cx="266090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接口复用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8458200" y="3712210"/>
            <a:ext cx="3482340" cy="56705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PTRACE_PEEK/POKE_TEXT/DATA 与 /proc/&lt;pid&gt;/mem 共享 alien access；/proc/&lt;pid&gt;/maps 遍历 VMAR 输出映射。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914400" y="5437505"/>
            <a:ext cx="10332720" cy="10229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13"/>
          <p:cNvSpPr/>
          <p:nvPr/>
        </p:nvSpPr>
        <p:spPr>
          <a:xfrm>
            <a:off x="1069848" y="5574792"/>
            <a:ext cx="1002182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工程意义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1069848" y="5980176"/>
            <a:ext cx="10021824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无需临时切换目标页表；跨进程内存读写被封装在 VMReader / VMWriter 与权限检查边界内。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2.13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/proc/&lt;pid&gt;/maps 与 /proc/&lt;pid&gt;/mem：提供 Linux 式进程视图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685800" y="2099945"/>
            <a:ext cx="3033979" cy="50292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14566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接口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19779" y="2099945"/>
            <a:ext cx="3033979" cy="50292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4643" y="214566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访问对象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53758" y="2099945"/>
            <a:ext cx="1950415" cy="50292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8622" y="2145665"/>
            <a:ext cx="1840687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访问强度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04174" y="2099945"/>
            <a:ext cx="2817266" cy="502920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038" y="2145665"/>
            <a:ext cx="2707538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典型语义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2602865"/>
            <a:ext cx="3033979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64858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/proc/&lt;pid&gt;/maps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19779" y="2602865"/>
            <a:ext cx="3033979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4643" y="264858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地址空间布局元数据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53758" y="2602865"/>
            <a:ext cx="1950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8622" y="2648585"/>
            <a:ext cx="1840687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Read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04174" y="2602865"/>
            <a:ext cx="2817266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9038" y="2648585"/>
            <a:ext cx="2707538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FsCreds + Read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5800" y="3105785"/>
            <a:ext cx="3033979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15150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/proc/&lt;pid&gt;/mem read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19779" y="3105785"/>
            <a:ext cx="3033979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74643" y="315150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用户虚拟内存内容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53758" y="3105785"/>
            <a:ext cx="1950415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8622" y="3151505"/>
            <a:ext cx="1840687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Attach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04174" y="3105785"/>
            <a:ext cx="2817266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9038" y="3151505"/>
            <a:ext cx="2707538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FsCreds + Attach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5800" y="3608705"/>
            <a:ext cx="3033979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365442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/proc/&lt;pid&gt;/mem write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19779" y="3608705"/>
            <a:ext cx="3033979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4643" y="365442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用户虚拟内存修改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53758" y="3608705"/>
            <a:ext cx="1950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8622" y="3654425"/>
            <a:ext cx="1840687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Attach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704174" y="3608705"/>
            <a:ext cx="2817266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59038" y="3654425"/>
            <a:ext cx="2707538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force write 支撑断点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800" y="4111625"/>
            <a:ext cx="3033979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415734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 PEEK/POKE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719779" y="4111625"/>
            <a:ext cx="3033979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74643" y="4157345"/>
            <a:ext cx="2924251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stopped tracee 的一个 word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753758" y="4111625"/>
            <a:ext cx="1950415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08622" y="4157345"/>
            <a:ext cx="1840687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调试关系授权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704174" y="4111625"/>
            <a:ext cx="2817266" cy="502920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59038" y="4157345"/>
            <a:ext cx="2707538" cy="4114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RealCreds / 已建立追踪关系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68680" y="4980305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" y="5126609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maps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69848" y="5474081"/>
            <a:ext cx="4581144" cy="4480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遍历目标 VMAR 输出可执行文件、共享库、栈、堆、匿名映射等布局，帮助 GDB 定位代码和数据。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55080" y="4980305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5126609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mem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556248" y="5474081"/>
            <a:ext cx="4581144" cy="4480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 seek/read/write 文件接口暴露目标地址空间，并在权限满足时允许 force-write 只读代码映射中的 int3。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2.14 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x86-64 寄存器 ABI：CUserRegsStruct、USER area 与字段级写策略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844550" y="2056130"/>
            <a:ext cx="3033979" cy="450669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3" name="Text 12"/>
          <p:cNvSpPr/>
          <p:nvPr/>
        </p:nvSpPr>
        <p:spPr>
          <a:xfrm>
            <a:off x="899414" y="2101850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字段类别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78529" y="2056130"/>
            <a:ext cx="3033979" cy="450669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4" name="Text 14"/>
          <p:cNvSpPr/>
          <p:nvPr/>
        </p:nvSpPr>
        <p:spPr>
          <a:xfrm>
            <a:off x="3933393" y="2101850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策略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12508" y="2056130"/>
            <a:ext cx="4767682" cy="450669"/>
          </a:xfrm>
          <a:prstGeom prst="rect">
            <a:avLst/>
          </a:prstGeom>
          <a:solidFill>
            <a:srgbClr val="A8101B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" name="Text 16"/>
          <p:cNvSpPr/>
          <p:nvPr/>
        </p:nvSpPr>
        <p:spPr>
          <a:xfrm>
            <a:off x="6967372" y="2101850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设计理由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Shape 17"/>
          <p:cNvSpPr/>
          <p:nvPr/>
        </p:nvSpPr>
        <p:spPr>
          <a:xfrm>
            <a:off x="844550" y="2506799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" name="Text 18"/>
          <p:cNvSpPr/>
          <p:nvPr/>
        </p:nvSpPr>
        <p:spPr>
          <a:xfrm>
            <a:off x="899414" y="2552519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通用寄存器 rax..r15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" name="Shape 19"/>
          <p:cNvSpPr/>
          <p:nvPr/>
        </p:nvSpPr>
        <p:spPr>
          <a:xfrm>
            <a:off x="3878529" y="2506799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0" name="Text 20"/>
          <p:cNvSpPr/>
          <p:nvPr/>
        </p:nvSpPr>
        <p:spPr>
          <a:xfrm>
            <a:off x="3933393" y="2552519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Shape 21"/>
          <p:cNvSpPr/>
          <p:nvPr/>
        </p:nvSpPr>
        <p:spPr>
          <a:xfrm>
            <a:off x="6912508" y="2506799"/>
            <a:ext cx="4767682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12" name="Text 22"/>
          <p:cNvSpPr/>
          <p:nvPr/>
        </p:nvSpPr>
        <p:spPr>
          <a:xfrm>
            <a:off x="6967372" y="2552519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调试器可自由修改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844550" y="2957467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59" name="Text 24"/>
          <p:cNvSpPr/>
          <p:nvPr/>
        </p:nvSpPr>
        <p:spPr>
          <a:xfrm>
            <a:off x="899414" y="3003187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rip / rsp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0" name="Shape 25"/>
          <p:cNvSpPr/>
          <p:nvPr/>
        </p:nvSpPr>
        <p:spPr>
          <a:xfrm>
            <a:off x="3878529" y="2957467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61" name="Text 26"/>
          <p:cNvSpPr/>
          <p:nvPr/>
        </p:nvSpPr>
        <p:spPr>
          <a:xfrm>
            <a:off x="3933393" y="3003187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SetIf(user_addr)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2" name="Shape 27"/>
          <p:cNvSpPr/>
          <p:nvPr/>
        </p:nvSpPr>
        <p:spPr>
          <a:xfrm>
            <a:off x="6912508" y="2957467"/>
            <a:ext cx="4767682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63" name="Text 28"/>
          <p:cNvSpPr/>
          <p:nvPr/>
        </p:nvSpPr>
        <p:spPr>
          <a:xfrm>
            <a:off x="6967372" y="3003187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防止跳到内核地址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844550" y="3408136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65" name="Text 30"/>
          <p:cNvSpPr/>
          <p:nvPr/>
        </p:nvSpPr>
        <p:spPr>
          <a:xfrm>
            <a:off x="899414" y="3453856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fsbase / gsbase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9" name="Shape 31"/>
          <p:cNvSpPr/>
          <p:nvPr/>
        </p:nvSpPr>
        <p:spPr>
          <a:xfrm>
            <a:off x="3878529" y="3408136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70" name="Text 32"/>
          <p:cNvSpPr/>
          <p:nvPr/>
        </p:nvSpPr>
        <p:spPr>
          <a:xfrm>
            <a:off x="3933393" y="3453856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单独校验 user_addr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1" name="Shape 33"/>
          <p:cNvSpPr/>
          <p:nvPr/>
        </p:nvSpPr>
        <p:spPr>
          <a:xfrm>
            <a:off x="6912508" y="3408136"/>
            <a:ext cx="4767682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72" name="Text 34"/>
          <p:cNvSpPr/>
          <p:nvPr/>
        </p:nvSpPr>
        <p:spPr>
          <a:xfrm>
            <a:off x="6967372" y="3453856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TLS 基址不可指向内核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3" name="Shape 35"/>
          <p:cNvSpPr/>
          <p:nvPr/>
        </p:nvSpPr>
        <p:spPr>
          <a:xfrm>
            <a:off x="844550" y="3858804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74" name="Text 36"/>
          <p:cNvSpPr/>
          <p:nvPr/>
        </p:nvSpPr>
        <p:spPr>
          <a:xfrm>
            <a:off x="899414" y="3904524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rflags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5" name="Shape 37"/>
          <p:cNvSpPr/>
          <p:nvPr/>
        </p:nvSpPr>
        <p:spPr>
          <a:xfrm>
            <a:off x="3878529" y="3858804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76" name="Text 38"/>
          <p:cNvSpPr/>
          <p:nvPr/>
        </p:nvSpPr>
        <p:spPr>
          <a:xfrm>
            <a:off x="3933393" y="3904524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SetBitsTruncate(mask)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7" name="Shape 39"/>
          <p:cNvSpPr/>
          <p:nvPr/>
        </p:nvSpPr>
        <p:spPr>
          <a:xfrm>
            <a:off x="6912508" y="3858804"/>
            <a:ext cx="4767682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78" name="Text 40"/>
          <p:cNvSpPr/>
          <p:nvPr/>
        </p:nvSpPr>
        <p:spPr>
          <a:xfrm>
            <a:off x="6967372" y="3904524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只允许用户态可控位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9" name="Shape 41"/>
          <p:cNvSpPr/>
          <p:nvPr/>
        </p:nvSpPr>
        <p:spPr>
          <a:xfrm>
            <a:off x="844550" y="4309473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0" name="Text 42"/>
          <p:cNvSpPr/>
          <p:nvPr/>
        </p:nvSpPr>
        <p:spPr>
          <a:xfrm>
            <a:off x="899414" y="4355193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cs/ss/ds/es/fs/gs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1" name="Shape 43"/>
          <p:cNvSpPr/>
          <p:nvPr/>
        </p:nvSpPr>
        <p:spPr>
          <a:xfrm>
            <a:off x="3878529" y="4309473"/>
            <a:ext cx="3033979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2" name="Text 44"/>
          <p:cNvSpPr/>
          <p:nvPr/>
        </p:nvSpPr>
        <p:spPr>
          <a:xfrm>
            <a:off x="3933393" y="4355193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Fixed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3" name="Shape 45"/>
          <p:cNvSpPr/>
          <p:nvPr/>
        </p:nvSpPr>
        <p:spPr>
          <a:xfrm>
            <a:off x="6912508" y="4309473"/>
            <a:ext cx="4767682" cy="450669"/>
          </a:xfrm>
          <a:prstGeom prst="rect">
            <a:avLst/>
          </a:prstGeom>
          <a:solidFill>
            <a:srgbClr val="FFFFFF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4" name="Text 46"/>
          <p:cNvSpPr/>
          <p:nvPr/>
        </p:nvSpPr>
        <p:spPr>
          <a:xfrm>
            <a:off x="6967372" y="4355193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匹配 Linux ABI，保持段不变量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5" name="Shape 47"/>
          <p:cNvSpPr/>
          <p:nvPr/>
        </p:nvSpPr>
        <p:spPr>
          <a:xfrm>
            <a:off x="844550" y="4760141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6" name="Text 48"/>
          <p:cNvSpPr/>
          <p:nvPr/>
        </p:nvSpPr>
        <p:spPr>
          <a:xfrm>
            <a:off x="899414" y="4805861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debug registers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7" name="Shape 49"/>
          <p:cNvSpPr/>
          <p:nvPr/>
        </p:nvSpPr>
        <p:spPr>
          <a:xfrm>
            <a:off x="3878529" y="4760141"/>
            <a:ext cx="3033979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88" name="Text 50"/>
          <p:cNvSpPr/>
          <p:nvPr/>
        </p:nvSpPr>
        <p:spPr>
          <a:xfrm>
            <a:off x="3933393" y="4805861"/>
            <a:ext cx="2924251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读默认值；写 EOPNOTSUPP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9" name="Shape 51"/>
          <p:cNvSpPr/>
          <p:nvPr/>
        </p:nvSpPr>
        <p:spPr>
          <a:xfrm>
            <a:off x="6912508" y="4760141"/>
            <a:ext cx="4767682" cy="450669"/>
          </a:xfrm>
          <a:prstGeom prst="rect">
            <a:avLst/>
          </a:prstGeom>
          <a:solidFill>
            <a:srgbClr val="FFF7F6"/>
          </a:solidFill>
          <a:ln w="7620">
            <a:solidFill>
              <a:srgbClr val="D9C6C2"/>
            </a:solidFill>
            <a:prstDash val="solid"/>
          </a:ln>
        </p:spPr>
      </p:sp>
      <p:sp>
        <p:nvSpPr>
          <p:cNvPr id="90" name="Text 52"/>
          <p:cNvSpPr/>
          <p:nvPr/>
        </p:nvSpPr>
        <p:spPr>
          <a:xfrm>
            <a:off x="6967372" y="4805861"/>
            <a:ext cx="4657954" cy="359229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满足 GDB 探测，不支持硬件断点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1" name="Shape 53"/>
          <p:cNvSpPr/>
          <p:nvPr/>
        </p:nvSpPr>
        <p:spPr>
          <a:xfrm>
            <a:off x="1027430" y="5530850"/>
            <a:ext cx="10424160" cy="1114425"/>
          </a:xfrm>
          <a:prstGeom prst="roundRect">
            <a:avLst>
              <a:gd name="adj" fmla="val 8421"/>
            </a:avLst>
          </a:prstGeom>
          <a:solidFill>
            <a:srgbClr val="FFF7F6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92" name="Text 54"/>
          <p:cNvSpPr/>
          <p:nvPr/>
        </p:nvSpPr>
        <p:spPr>
          <a:xfrm>
            <a:off x="1192022" y="5677154"/>
            <a:ext cx="10094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单步与 USER area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3" name="Text 55"/>
          <p:cNvSpPr/>
          <p:nvPr/>
        </p:nvSpPr>
        <p:spPr>
          <a:xfrm>
            <a:off x="1228598" y="6024626"/>
            <a:ext cx="10021824" cy="2651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PTRACE_SINGLESTEP 设置 RFLAGS.TF；一条指令后 #DB → SIGTRAP(TRAP_TRACE) → ptrace-stop。PEEKUSER/POKEUSER 通过 offset 访问 CUserRegsStruct，并额外处理 orig_rax、fsbase/gsbase 与 debug registers。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2.15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 断点闭环：从 GDB 写 int3 到恢复原指令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" name="Shape 11"/>
          <p:cNvSpPr/>
          <p:nvPr/>
        </p:nvSpPr>
        <p:spPr>
          <a:xfrm>
            <a:off x="499745" y="2084070"/>
            <a:ext cx="1786255" cy="713105"/>
          </a:xfrm>
          <a:prstGeom prst="roundRect">
            <a:avLst>
              <a:gd name="adj" fmla="val 10256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57" name="Text 12"/>
          <p:cNvSpPr/>
          <p:nvPr/>
        </p:nvSpPr>
        <p:spPr>
          <a:xfrm>
            <a:off x="594995" y="2212340"/>
            <a:ext cx="1617980" cy="51181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maps 定位代码映射</a:t>
            </a:r>
            <a:endParaRPr lang="en-US" sz="14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Shape 13"/>
          <p:cNvSpPr/>
          <p:nvPr/>
        </p:nvSpPr>
        <p:spPr>
          <a:xfrm rot="5400000">
            <a:off x="2322576" y="23675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59" name="Shape 14"/>
          <p:cNvSpPr/>
          <p:nvPr/>
        </p:nvSpPr>
        <p:spPr>
          <a:xfrm>
            <a:off x="2450592" y="20840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60" name="Text 15"/>
          <p:cNvSpPr/>
          <p:nvPr/>
        </p:nvSpPr>
        <p:spPr>
          <a:xfrm>
            <a:off x="2523744" y="22120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PEEKTEXT 读取原指令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1" name="Shape 16"/>
          <p:cNvSpPr/>
          <p:nvPr/>
        </p:nvSpPr>
        <p:spPr>
          <a:xfrm rot="5400000">
            <a:off x="4178808" y="23675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62" name="Shape 17"/>
          <p:cNvSpPr/>
          <p:nvPr/>
        </p:nvSpPr>
        <p:spPr>
          <a:xfrm>
            <a:off x="4306824" y="20840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63" name="Text 18"/>
          <p:cNvSpPr/>
          <p:nvPr/>
        </p:nvSpPr>
        <p:spPr>
          <a:xfrm>
            <a:off x="4379976" y="22120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POKETEXT 写 int3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4" name="Shape 19"/>
          <p:cNvSpPr/>
          <p:nvPr/>
        </p:nvSpPr>
        <p:spPr>
          <a:xfrm rot="5400000">
            <a:off x="6035040" y="23675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65" name="Shape 20"/>
          <p:cNvSpPr/>
          <p:nvPr/>
        </p:nvSpPr>
        <p:spPr>
          <a:xfrm>
            <a:off x="6163056" y="20840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69" name="Text 21"/>
          <p:cNvSpPr/>
          <p:nvPr/>
        </p:nvSpPr>
        <p:spPr>
          <a:xfrm>
            <a:off x="6236208" y="22120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#BP → SIGTRAP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0" name="Shape 22"/>
          <p:cNvSpPr/>
          <p:nvPr/>
        </p:nvSpPr>
        <p:spPr>
          <a:xfrm rot="5400000">
            <a:off x="7891272" y="23675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71" name="Shape 23"/>
          <p:cNvSpPr/>
          <p:nvPr/>
        </p:nvSpPr>
        <p:spPr>
          <a:xfrm>
            <a:off x="8019288" y="20840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72" name="Text 24"/>
          <p:cNvSpPr/>
          <p:nvPr/>
        </p:nvSpPr>
        <p:spPr>
          <a:xfrm>
            <a:off x="8092440" y="22120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ptrace_stop 保存现场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3" name="Shape 25"/>
          <p:cNvSpPr/>
          <p:nvPr/>
        </p:nvSpPr>
        <p:spPr>
          <a:xfrm rot="5400000">
            <a:off x="9747504" y="23675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74" name="Shape 26"/>
          <p:cNvSpPr/>
          <p:nvPr/>
        </p:nvSpPr>
        <p:spPr>
          <a:xfrm>
            <a:off x="9875520" y="20840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75" name="Text 27"/>
          <p:cNvSpPr/>
          <p:nvPr/>
        </p:nvSpPr>
        <p:spPr>
          <a:xfrm>
            <a:off x="9948672" y="22120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wait 返回 SIGTRAP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6" name="Shape 28"/>
          <p:cNvSpPr/>
          <p:nvPr/>
        </p:nvSpPr>
        <p:spPr>
          <a:xfrm>
            <a:off x="499745" y="3455670"/>
            <a:ext cx="1786255" cy="713105"/>
          </a:xfrm>
          <a:prstGeom prst="roundRect">
            <a:avLst>
              <a:gd name="adj" fmla="val 10256"/>
            </a:avLst>
          </a:prstGeom>
          <a:solidFill>
            <a:srgbClr val="FFF7F6"/>
          </a:solidFill>
          <a:ln w="15240">
            <a:solidFill>
              <a:srgbClr val="A8101B"/>
            </a:solidFill>
            <a:prstDash val="solid"/>
          </a:ln>
        </p:spPr>
      </p:sp>
      <p:sp>
        <p:nvSpPr>
          <p:cNvPr id="77" name="Text 29"/>
          <p:cNvSpPr/>
          <p:nvPr/>
        </p:nvSpPr>
        <p:spPr>
          <a:xfrm>
            <a:off x="594995" y="3583940"/>
            <a:ext cx="1617980" cy="51181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GDB 读/改寄存器</a:t>
            </a:r>
            <a:endParaRPr lang="en-US" sz="14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8" name="Shape 30"/>
          <p:cNvSpPr/>
          <p:nvPr/>
        </p:nvSpPr>
        <p:spPr>
          <a:xfrm rot="5400000">
            <a:off x="2322576" y="37391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79" name="Shape 31"/>
          <p:cNvSpPr/>
          <p:nvPr/>
        </p:nvSpPr>
        <p:spPr>
          <a:xfrm>
            <a:off x="2450592" y="34556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80" name="Text 32"/>
          <p:cNvSpPr/>
          <p:nvPr/>
        </p:nvSpPr>
        <p:spPr>
          <a:xfrm>
            <a:off x="2523744" y="35836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修正 RIP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1" name="Shape 33"/>
          <p:cNvSpPr/>
          <p:nvPr/>
        </p:nvSpPr>
        <p:spPr>
          <a:xfrm rot="5400000">
            <a:off x="4178808" y="37391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82" name="Shape 34"/>
          <p:cNvSpPr/>
          <p:nvPr/>
        </p:nvSpPr>
        <p:spPr>
          <a:xfrm>
            <a:off x="4306824" y="34556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83" name="Text 35"/>
          <p:cNvSpPr/>
          <p:nvPr/>
        </p:nvSpPr>
        <p:spPr>
          <a:xfrm>
            <a:off x="4379976" y="35836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恢复原指令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4" name="Shape 36"/>
          <p:cNvSpPr/>
          <p:nvPr/>
        </p:nvSpPr>
        <p:spPr>
          <a:xfrm rot="5400000">
            <a:off x="6035040" y="37391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85" name="Shape 37"/>
          <p:cNvSpPr/>
          <p:nvPr/>
        </p:nvSpPr>
        <p:spPr>
          <a:xfrm>
            <a:off x="6163056" y="34556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86" name="Text 38"/>
          <p:cNvSpPr/>
          <p:nvPr/>
        </p:nvSpPr>
        <p:spPr>
          <a:xfrm>
            <a:off x="6236208" y="35836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SINGLESTEP 执行一次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7" name="Shape 39"/>
          <p:cNvSpPr/>
          <p:nvPr/>
        </p:nvSpPr>
        <p:spPr>
          <a:xfrm rot="5400000">
            <a:off x="7891272" y="37391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88" name="Shape 40"/>
          <p:cNvSpPr/>
          <p:nvPr/>
        </p:nvSpPr>
        <p:spPr>
          <a:xfrm>
            <a:off x="8019288" y="34556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89" name="Text 41"/>
          <p:cNvSpPr/>
          <p:nvPr/>
        </p:nvSpPr>
        <p:spPr>
          <a:xfrm>
            <a:off x="8092440" y="35836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重新插入 int3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0" name="Shape 42"/>
          <p:cNvSpPr/>
          <p:nvPr/>
        </p:nvSpPr>
        <p:spPr>
          <a:xfrm rot="5400000">
            <a:off x="9747504" y="3739134"/>
            <a:ext cx="109728" cy="146304"/>
          </a:xfrm>
          <a:prstGeom prst="triangle">
            <a:avLst/>
          </a:prstGeom>
          <a:solidFill>
            <a:srgbClr val="A8101B"/>
          </a:solidFill>
          <a:ln w="12700">
            <a:solidFill>
              <a:srgbClr val="A8101B"/>
            </a:solidFill>
            <a:prstDash val="solid"/>
          </a:ln>
        </p:spPr>
      </p:sp>
      <p:sp>
        <p:nvSpPr>
          <p:cNvPr id="91" name="Shape 43"/>
          <p:cNvSpPr/>
          <p:nvPr/>
        </p:nvSpPr>
        <p:spPr>
          <a:xfrm>
            <a:off x="9875520" y="345567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A8101B"/>
            </a:solidFill>
            <a:prstDash val="solid"/>
          </a:ln>
        </p:spPr>
      </p:sp>
      <p:sp>
        <p:nvSpPr>
          <p:cNvPr id="92" name="Text 44"/>
          <p:cNvSpPr/>
          <p:nvPr/>
        </p:nvSpPr>
        <p:spPr>
          <a:xfrm>
            <a:off x="9948672" y="3583686"/>
            <a:ext cx="1545336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 继续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3" name="Shape 45"/>
          <p:cNvSpPr/>
          <p:nvPr/>
        </p:nvSpPr>
        <p:spPr>
          <a:xfrm>
            <a:off x="868680" y="4827270"/>
            <a:ext cx="4983480" cy="13525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94" name="Text 46"/>
          <p:cNvSpPr/>
          <p:nvPr/>
        </p:nvSpPr>
        <p:spPr>
          <a:xfrm>
            <a:off x="1033272" y="4973574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不是单独模块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5" name="Text 47"/>
          <p:cNvSpPr/>
          <p:nvPr/>
        </p:nvSpPr>
        <p:spPr>
          <a:xfrm>
            <a:off x="1069975" y="5321300"/>
            <a:ext cx="4580890" cy="96964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软件断点依赖 POKE 写代码页、异常到 SIGTRAP、ptrace-stop、wait 编码、GET/SETREGS 与 SINGLESTEP 的组合。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6" name="Shape 48"/>
          <p:cNvSpPr/>
          <p:nvPr/>
        </p:nvSpPr>
        <p:spPr>
          <a:xfrm>
            <a:off x="6355080" y="4827270"/>
            <a:ext cx="4983480" cy="13538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C6C2"/>
            </a:solidFill>
            <a:prstDash val="solid"/>
          </a:ln>
        </p:spPr>
      </p:sp>
      <p:sp>
        <p:nvSpPr>
          <p:cNvPr id="97" name="Text 49"/>
          <p:cNvSpPr/>
          <p:nvPr/>
        </p:nvSpPr>
        <p:spPr>
          <a:xfrm>
            <a:off x="6519672" y="4973574"/>
            <a:ext cx="4654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10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为什么需要单步</a:t>
            </a:r>
            <a:endParaRPr lang="en-US" sz="1600" b="1" dirty="0">
              <a:solidFill>
                <a:srgbClr val="A810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8" name="Text 50"/>
          <p:cNvSpPr/>
          <p:nvPr/>
        </p:nvSpPr>
        <p:spPr>
          <a:xfrm>
            <a:off x="6556375" y="5321300"/>
            <a:ext cx="4580890" cy="85915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恢复原指令后必须执行一次真实指令，再重新插入 int3；否则同一地址会反复命中断点。</a:t>
            </a:r>
            <a:endParaRPr lang="en-US" sz="14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2.1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6 与 Rust 安全模型的关系：把危险能力收束在显式边界上</a:t>
            </a:r>
            <a:endParaRPr lang="en-US" sz="24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49808" y="1938528"/>
            <a:ext cx="13441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寄存器机制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167128" y="1938528"/>
            <a:ext cx="22585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实现要点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498848" y="1938528"/>
            <a:ext cx="166420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安全约束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13232" y="2355494"/>
            <a:ext cx="141732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935" y="2392045"/>
            <a:ext cx="1344295" cy="453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CUserRegsStruct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130552" y="2355494"/>
            <a:ext cx="233172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67128" y="2392070"/>
            <a:ext cx="22585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镜像 Linux x86-64 user_regs_struct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462272" y="2355494"/>
            <a:ext cx="173736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8975" y="2392045"/>
            <a:ext cx="1815465" cy="38036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 GDB info registers 的 ABI 基础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13105" y="2809240"/>
            <a:ext cx="1417320" cy="45339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2845613"/>
            <a:ext cx="13441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REG_RULES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" name="Shape 20"/>
          <p:cNvSpPr/>
          <p:nvPr/>
        </p:nvSpPr>
        <p:spPr>
          <a:xfrm>
            <a:off x="2130552" y="2809037"/>
            <a:ext cx="2331720" cy="45354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21"/>
          <p:cNvSpPr/>
          <p:nvPr/>
        </p:nvSpPr>
        <p:spPr>
          <a:xfrm>
            <a:off x="2167128" y="2845613"/>
            <a:ext cx="22585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 / SetIf / SetBitsTruncate / Fixed 字段策略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22"/>
          <p:cNvSpPr/>
          <p:nvPr/>
        </p:nvSpPr>
        <p:spPr>
          <a:xfrm>
            <a:off x="4462272" y="2809037"/>
            <a:ext cx="1737360" cy="45354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62145" y="2845435"/>
            <a:ext cx="1737360" cy="38036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限制非法 RIP/FS/GS/RFLAGS 写入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713232" y="3262579"/>
            <a:ext cx="141732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49808" y="3299155"/>
            <a:ext cx="13441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USER area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2130552" y="3262579"/>
            <a:ext cx="233172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167128" y="3299155"/>
            <a:ext cx="22585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PEEKUSER / POKEUSER 按偏移读写；debug registers 读默认值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4462272" y="3262579"/>
            <a:ext cx="1737360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498848" y="3299155"/>
            <a:ext cx="166420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DR0–DR7 写入暂返回 EOPNOTSUPP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713232" y="3716122"/>
            <a:ext cx="1417320" cy="45354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9808" y="3752698"/>
            <a:ext cx="13441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SINGLESTEP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2130552" y="3716122"/>
            <a:ext cx="2331720" cy="45354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167128" y="3752698"/>
            <a:ext cx="225856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设置 RFLAGS.TF；#DB 转 SIGTRAP(TRAP_TRACE)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4462272" y="3716122"/>
            <a:ext cx="1737360" cy="45354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498848" y="3752698"/>
            <a:ext cx="1664208" cy="38039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单步后再次进入 ptrace-stop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41" name="Image 1" descr="/mnt/data/ptrace_svg_assets/svg_4_f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840" y="1874520"/>
            <a:ext cx="8168005" cy="2955925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637020" y="5216525"/>
            <a:ext cx="1536700" cy="228600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673850" y="5253355"/>
            <a:ext cx="145224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Yama scope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4" name="Shape 38"/>
          <p:cNvSpPr/>
          <p:nvPr/>
        </p:nvSpPr>
        <p:spPr>
          <a:xfrm>
            <a:off x="7962900" y="5216525"/>
            <a:ext cx="3869055" cy="228600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999730" y="5253355"/>
            <a:ext cx="378396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语义</a:t>
            </a: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6" name="Shape 40"/>
          <p:cNvSpPr/>
          <p:nvPr/>
        </p:nvSpPr>
        <p:spPr>
          <a:xfrm>
            <a:off x="6637020" y="5445125"/>
            <a:ext cx="15367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673850" y="5481955"/>
            <a:ext cx="145224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 Disabled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7962900" y="5445125"/>
            <a:ext cx="3869055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999730" y="5481955"/>
            <a:ext cx="378396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不附加额外限制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0" name="Shape 44"/>
          <p:cNvSpPr/>
          <p:nvPr/>
        </p:nvSpPr>
        <p:spPr>
          <a:xfrm>
            <a:off x="6637020" y="5673725"/>
            <a:ext cx="153670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673850" y="5710555"/>
            <a:ext cx="145224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Relational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2" name="Shape 46"/>
          <p:cNvSpPr/>
          <p:nvPr/>
        </p:nvSpPr>
        <p:spPr>
          <a:xfrm>
            <a:off x="7962900" y="5673725"/>
            <a:ext cx="3869055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999730" y="5710555"/>
            <a:ext cx="378396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默认；仅祖先进程或 CAP_SYS_PTRACE 可 attach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6637020" y="5902325"/>
            <a:ext cx="15367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673850" y="5939155"/>
            <a:ext cx="145224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Capability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7962900" y="5902325"/>
            <a:ext cx="3869055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7999730" y="5939155"/>
            <a:ext cx="3783965" cy="15557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仅 CAP_SYS_PTRACE 可 attach</a:t>
            </a:r>
            <a:endParaRPr lang="en-US" sz="12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876935" y="4699635"/>
            <a:ext cx="4866005" cy="172085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ptrace_may_access：同进程放行 → UID/GID 检查 → CAP_SYS_PTRACE → LSM hook</a:t>
            </a:r>
            <a:endParaRPr lang="en-US" sz="14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不同入口区分 Read/Attach 与 FsCreds/RealCreds，降低 procfs 绕过风险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PART </a:t>
            </a:r>
            <a:r>
              <a:rPr lang="en-US" altLang="zh-CN" sz="4800" b="1" noProof="0" dirty="0" err="1">
                <a:ln w="381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hree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45"/>
            <a:ext cx="36950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实现与测试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2203456" cy="521970"/>
            <a:chOff x="7480300" y="3140844"/>
            <a:chExt cx="2203456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44" y="3140844"/>
              <a:ext cx="191771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实现进度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request</a:t>
              </a:r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支持矩阵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测试验证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ageCurlDoubl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1 实现进度与设计模块映射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Shape 6"/>
          <p:cNvSpPr/>
          <p:nvPr/>
        </p:nvSpPr>
        <p:spPr>
          <a:xfrm>
            <a:off x="621792" y="1874520"/>
            <a:ext cx="914400" cy="572153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7"/>
          <p:cNvSpPr/>
          <p:nvPr/>
        </p:nvSpPr>
        <p:spPr>
          <a:xfrm>
            <a:off x="658368" y="1911096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时间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1536192" y="1874520"/>
            <a:ext cx="5715000" cy="572153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9"/>
          <p:cNvSpPr/>
          <p:nvPr/>
        </p:nvSpPr>
        <p:spPr>
          <a:xfrm>
            <a:off x="1572768" y="1911096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已合入能力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7251192" y="1874520"/>
            <a:ext cx="4343400" cy="572153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11"/>
          <p:cNvSpPr/>
          <p:nvPr/>
        </p:nvSpPr>
        <p:spPr>
          <a:xfrm>
            <a:off x="7287768" y="1911096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设计意义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621792" y="2446673"/>
            <a:ext cx="914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13"/>
          <p:cNvSpPr/>
          <p:nvPr/>
        </p:nvSpPr>
        <p:spPr>
          <a:xfrm>
            <a:off x="658368" y="2483249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04.23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1536192" y="2446673"/>
            <a:ext cx="57150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15"/>
          <p:cNvSpPr/>
          <p:nvPr/>
        </p:nvSpPr>
        <p:spPr>
          <a:xfrm>
            <a:off x="1572768" y="2483249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/proc/pid/maps、/proc/pid/mem、force-write、access check、Yama、auxv、/proc/tid、tkill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7251192" y="2446673"/>
            <a:ext cx="4343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17"/>
          <p:cNvSpPr/>
          <p:nvPr/>
        </p:nvSpPr>
        <p:spPr>
          <a:xfrm>
            <a:off x="7287768" y="2483249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 GDB 进程视图、跨进程内存读写与安全边界打基础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621792" y="3018826"/>
            <a:ext cx="914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19"/>
          <p:cNvSpPr/>
          <p:nvPr/>
        </p:nvSpPr>
        <p:spPr>
          <a:xfrm>
            <a:off x="658368" y="3055402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04.26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1536192" y="3018826"/>
            <a:ext cx="57150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21"/>
          <p:cNvSpPr/>
          <p:nvPr/>
        </p:nvSpPr>
        <p:spPr>
          <a:xfrm>
            <a:off x="1572768" y="3055402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 syscall 框架、TRACEME、CONT、ptrace-stop、wait 整合、exec SIGTRAP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7251192" y="3018826"/>
            <a:ext cx="4343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23"/>
          <p:cNvSpPr/>
          <p:nvPr/>
        </p:nvSpPr>
        <p:spPr>
          <a:xfrm>
            <a:off x="7287768" y="3055402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形成 stop/wait/resume 最小闭环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621792" y="3590979"/>
            <a:ext cx="914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25"/>
          <p:cNvSpPr/>
          <p:nvPr/>
        </p:nvSpPr>
        <p:spPr>
          <a:xfrm>
            <a:off x="658368" y="3627555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05.14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1536192" y="3590979"/>
            <a:ext cx="57150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27"/>
          <p:cNvSpPr/>
          <p:nvPr/>
        </p:nvSpPr>
        <p:spPr>
          <a:xfrm>
            <a:off x="1572768" y="3627555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GETREGS/SETREGS、PEEKUSER/POKEUSER、SINGLESTEP、断点、GETSIGINFO/KILL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7251192" y="3590979"/>
            <a:ext cx="4343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29"/>
          <p:cNvSpPr/>
          <p:nvPr/>
        </p:nvSpPr>
        <p:spPr>
          <a:xfrm>
            <a:off x="7287768" y="3627555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支持最小调试器寄存器与单步能力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6" name="Shape 30"/>
          <p:cNvSpPr/>
          <p:nvPr/>
        </p:nvSpPr>
        <p:spPr>
          <a:xfrm>
            <a:off x="621792" y="4163133"/>
            <a:ext cx="914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31"/>
          <p:cNvSpPr/>
          <p:nvPr/>
        </p:nvSpPr>
        <p:spPr>
          <a:xfrm>
            <a:off x="658368" y="4199709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05.18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8" name="Shape 32"/>
          <p:cNvSpPr/>
          <p:nvPr/>
        </p:nvSpPr>
        <p:spPr>
          <a:xfrm>
            <a:off x="1536192" y="4163133"/>
            <a:ext cx="57150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33"/>
          <p:cNvSpPr/>
          <p:nvPr/>
        </p:nvSpPr>
        <p:spPr>
          <a:xfrm>
            <a:off x="1572768" y="4199709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SETOPTIONS、GETEVENTMSG、EXEC/EXIT event、EXITKILL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0" name="Shape 34"/>
          <p:cNvSpPr/>
          <p:nvPr/>
        </p:nvSpPr>
        <p:spPr>
          <a:xfrm>
            <a:off x="7251192" y="4163133"/>
            <a:ext cx="4343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35"/>
          <p:cNvSpPr/>
          <p:nvPr/>
        </p:nvSpPr>
        <p:spPr>
          <a:xfrm>
            <a:off x="7287768" y="4199709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 GDB 常用 options 与 event-stop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2" name="Shape 36"/>
          <p:cNvSpPr/>
          <p:nvPr/>
        </p:nvSpPr>
        <p:spPr>
          <a:xfrm>
            <a:off x="621792" y="4735286"/>
            <a:ext cx="914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37"/>
          <p:cNvSpPr/>
          <p:nvPr/>
        </p:nvSpPr>
        <p:spPr>
          <a:xfrm>
            <a:off x="658368" y="4771862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05.21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4" name="Shape 38"/>
          <p:cNvSpPr/>
          <p:nvPr/>
        </p:nvSpPr>
        <p:spPr>
          <a:xfrm>
            <a:off x="1536192" y="4735286"/>
            <a:ext cx="57150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39"/>
          <p:cNvSpPr/>
          <p:nvPr/>
        </p:nvSpPr>
        <p:spPr>
          <a:xfrm>
            <a:off x="1572768" y="4771862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USER_CS/USER_SS 对齐、debug registers 默认读仿真、personality、GDB docs/CI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6" name="Shape 40"/>
          <p:cNvSpPr/>
          <p:nvPr/>
        </p:nvSpPr>
        <p:spPr>
          <a:xfrm>
            <a:off x="7251192" y="4735286"/>
            <a:ext cx="4343400" cy="57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41"/>
          <p:cNvSpPr/>
          <p:nvPr/>
        </p:nvSpPr>
        <p:spPr>
          <a:xfrm>
            <a:off x="7287768" y="4771862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消除 ABI 细节警告，将兼容逻辑迁移到内核侧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Shape 42"/>
          <p:cNvSpPr/>
          <p:nvPr/>
        </p:nvSpPr>
        <p:spPr>
          <a:xfrm>
            <a:off x="621792" y="5307439"/>
            <a:ext cx="914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43"/>
          <p:cNvSpPr/>
          <p:nvPr/>
        </p:nvSpPr>
        <p:spPr>
          <a:xfrm>
            <a:off x="658368" y="5344015"/>
            <a:ext cx="841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05.28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0" name="Shape 44"/>
          <p:cNvSpPr/>
          <p:nvPr/>
        </p:nvSpPr>
        <p:spPr>
          <a:xfrm>
            <a:off x="1536192" y="5307439"/>
            <a:ext cx="57150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45"/>
          <p:cNvSpPr/>
          <p:nvPr/>
        </p:nvSpPr>
        <p:spPr>
          <a:xfrm>
            <a:off x="1572768" y="5344015"/>
            <a:ext cx="56418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PTRACE_SYSCALL、TRACESYSGOOD、PEEK/POKE_TEXT/DATA、strace docs/CI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2" name="Shape 46"/>
          <p:cNvSpPr/>
          <p:nvPr/>
        </p:nvSpPr>
        <p:spPr>
          <a:xfrm>
            <a:off x="7251192" y="5307439"/>
            <a:ext cx="4343400" cy="572153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47"/>
          <p:cNvSpPr/>
          <p:nvPr/>
        </p:nvSpPr>
        <p:spPr>
          <a:xfrm>
            <a:off x="7287768" y="5344015"/>
            <a:ext cx="4270248" cy="499001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支撑 strace 与直接读写 tracee 内存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2 ptrace request 支持矩阵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" name="Shape 6"/>
          <p:cNvSpPr/>
          <p:nvPr/>
        </p:nvSpPr>
        <p:spPr>
          <a:xfrm>
            <a:off x="713232" y="1874520"/>
            <a:ext cx="1371600" cy="574766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7"/>
          <p:cNvSpPr/>
          <p:nvPr/>
        </p:nvSpPr>
        <p:spPr>
          <a:xfrm>
            <a:off x="749808" y="1911096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2084832" y="1874520"/>
            <a:ext cx="5303520" cy="574766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"/>
          <p:cNvSpPr/>
          <p:nvPr/>
        </p:nvSpPr>
        <p:spPr>
          <a:xfrm>
            <a:off x="2121408" y="1911096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已支持 request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7388352" y="1874520"/>
            <a:ext cx="4206240" cy="574766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11"/>
          <p:cNvSpPr/>
          <p:nvPr/>
        </p:nvSpPr>
        <p:spPr>
          <a:xfrm>
            <a:off x="7424928" y="1911096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当前边界 / 后续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713232" y="2449286"/>
            <a:ext cx="137160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13"/>
          <p:cNvSpPr/>
          <p:nvPr/>
        </p:nvSpPr>
        <p:spPr>
          <a:xfrm>
            <a:off x="749808" y="2485862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追踪与恢复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2084832" y="2449286"/>
            <a:ext cx="530352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15"/>
          <p:cNvSpPr/>
          <p:nvPr/>
        </p:nvSpPr>
        <p:spPr>
          <a:xfrm>
            <a:off x="2121408" y="2485862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TRACEME、CONT、SINGLESTEP、SYSCALL、KILL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7388352" y="2449286"/>
            <a:ext cx="420624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7"/>
          <p:cNvSpPr/>
          <p:nvPr/>
        </p:nvSpPr>
        <p:spPr>
          <a:xfrm>
            <a:off x="7424928" y="2485862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ATTACH / DETACH 后续补齐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713232" y="3024051"/>
            <a:ext cx="137160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9"/>
          <p:cNvSpPr/>
          <p:nvPr/>
        </p:nvSpPr>
        <p:spPr>
          <a:xfrm>
            <a:off x="749808" y="3060627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寄存器访问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5" name="Shape 20"/>
          <p:cNvSpPr/>
          <p:nvPr/>
        </p:nvSpPr>
        <p:spPr>
          <a:xfrm>
            <a:off x="2084832" y="3024051"/>
            <a:ext cx="530352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6" name="Text 21"/>
          <p:cNvSpPr/>
          <p:nvPr/>
        </p:nvSpPr>
        <p:spPr>
          <a:xfrm>
            <a:off x="2121408" y="3060627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GETREGS、SETREGS、PEEKUSER、POKEUSER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7388352" y="3024051"/>
            <a:ext cx="420624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8" name="Text 23"/>
          <p:cNvSpPr/>
          <p:nvPr/>
        </p:nvSpPr>
        <p:spPr>
          <a:xfrm>
            <a:off x="7424928" y="3060627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GETFPREGS / GETREGSET 暂未完整支持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9" name="Shape 24"/>
          <p:cNvSpPr/>
          <p:nvPr/>
        </p:nvSpPr>
        <p:spPr>
          <a:xfrm>
            <a:off x="713232" y="3598817"/>
            <a:ext cx="137160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25"/>
          <p:cNvSpPr/>
          <p:nvPr/>
        </p:nvSpPr>
        <p:spPr>
          <a:xfrm>
            <a:off x="749808" y="3635393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内存访问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1" name="Shape 26"/>
          <p:cNvSpPr/>
          <p:nvPr/>
        </p:nvSpPr>
        <p:spPr>
          <a:xfrm>
            <a:off x="2084832" y="3598817"/>
            <a:ext cx="530352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Text 27"/>
          <p:cNvSpPr/>
          <p:nvPr/>
        </p:nvSpPr>
        <p:spPr>
          <a:xfrm>
            <a:off x="2121408" y="3635393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PEEKTEXT/PEEKDATA、POKETEXT/POKEDATA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3" name="Shape 28"/>
          <p:cNvSpPr/>
          <p:nvPr/>
        </p:nvSpPr>
        <p:spPr>
          <a:xfrm>
            <a:off x="7388352" y="3598817"/>
            <a:ext cx="420624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4" name="Text 29"/>
          <p:cNvSpPr/>
          <p:nvPr/>
        </p:nvSpPr>
        <p:spPr>
          <a:xfrm>
            <a:off x="7424928" y="3635393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依赖 tracee stop 与 alien access 权限检查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5" name="Shape 30"/>
          <p:cNvSpPr/>
          <p:nvPr/>
        </p:nvSpPr>
        <p:spPr>
          <a:xfrm>
            <a:off x="713232" y="4173583"/>
            <a:ext cx="137160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6" name="Text 31"/>
          <p:cNvSpPr/>
          <p:nvPr/>
        </p:nvSpPr>
        <p:spPr>
          <a:xfrm>
            <a:off x="749808" y="4210159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事件选项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7" name="Shape 32"/>
          <p:cNvSpPr/>
          <p:nvPr/>
        </p:nvSpPr>
        <p:spPr>
          <a:xfrm>
            <a:off x="2084832" y="4173583"/>
            <a:ext cx="530352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8" name="Text 33"/>
          <p:cNvSpPr/>
          <p:nvPr/>
        </p:nvSpPr>
        <p:spPr>
          <a:xfrm>
            <a:off x="2121408" y="4210159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SETOPTIONS、GETEVENTMSG、EXEC、EXIT、EXITKILL、TRACESYSGOOD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9" name="Shape 34"/>
          <p:cNvSpPr/>
          <p:nvPr/>
        </p:nvSpPr>
        <p:spPr>
          <a:xfrm>
            <a:off x="7388352" y="4173583"/>
            <a:ext cx="420624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0" name="Text 35"/>
          <p:cNvSpPr/>
          <p:nvPr/>
        </p:nvSpPr>
        <p:spPr>
          <a:xfrm>
            <a:off x="7424928" y="4210159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fork/vfork/clone event-stop 后续完善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1" name="Shape 36"/>
          <p:cNvSpPr/>
          <p:nvPr/>
        </p:nvSpPr>
        <p:spPr>
          <a:xfrm>
            <a:off x="713232" y="4748349"/>
            <a:ext cx="137160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Text 37"/>
          <p:cNvSpPr/>
          <p:nvPr/>
        </p:nvSpPr>
        <p:spPr>
          <a:xfrm>
            <a:off x="749808" y="4784925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信号信息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3" name="Shape 38"/>
          <p:cNvSpPr/>
          <p:nvPr/>
        </p:nvSpPr>
        <p:spPr>
          <a:xfrm>
            <a:off x="2084832" y="4748349"/>
            <a:ext cx="530352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4" name="Text 39"/>
          <p:cNvSpPr/>
          <p:nvPr/>
        </p:nvSpPr>
        <p:spPr>
          <a:xfrm>
            <a:off x="2121408" y="4784925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GETSIGINFO、信号注入/抑制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5" name="Shape 40"/>
          <p:cNvSpPr/>
          <p:nvPr/>
        </p:nvSpPr>
        <p:spPr>
          <a:xfrm>
            <a:off x="7388352" y="4748349"/>
            <a:ext cx="420624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6" name="Text 41"/>
          <p:cNvSpPr/>
          <p:nvPr/>
        </p:nvSpPr>
        <p:spPr>
          <a:xfrm>
            <a:off x="7424928" y="4784925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更完整 signal info 细节可持续对齐 Linux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7" name="Shape 42"/>
          <p:cNvSpPr/>
          <p:nvPr/>
        </p:nvSpPr>
        <p:spPr>
          <a:xfrm>
            <a:off x="713232" y="5323114"/>
            <a:ext cx="137160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43"/>
          <p:cNvSpPr/>
          <p:nvPr/>
        </p:nvSpPr>
        <p:spPr>
          <a:xfrm>
            <a:off x="749808" y="5359690"/>
            <a:ext cx="129844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硬件断点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9" name="Shape 44"/>
          <p:cNvSpPr/>
          <p:nvPr/>
        </p:nvSpPr>
        <p:spPr>
          <a:xfrm>
            <a:off x="2084832" y="5323114"/>
            <a:ext cx="530352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0" name="Text 45"/>
          <p:cNvSpPr/>
          <p:nvPr/>
        </p:nvSpPr>
        <p:spPr>
          <a:xfrm>
            <a:off x="2121408" y="5359690"/>
            <a:ext cx="523036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debug registers 读默认值仿真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1" name="Shape 46"/>
          <p:cNvSpPr/>
          <p:nvPr/>
        </p:nvSpPr>
        <p:spPr>
          <a:xfrm>
            <a:off x="7388352" y="5323114"/>
            <a:ext cx="4206240" cy="57476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Text 47"/>
          <p:cNvSpPr/>
          <p:nvPr/>
        </p:nvSpPr>
        <p:spPr>
          <a:xfrm>
            <a:off x="7424928" y="5359690"/>
            <a:ext cx="4133088" cy="50161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DR0–DR7 真实语义后续补齐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3.3 测试与验证方案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Shape 12"/>
          <p:cNvSpPr/>
          <p:nvPr>
            <p:custDataLst>
              <p:tags r:id="rId2"/>
            </p:custDataLst>
          </p:nvPr>
        </p:nvSpPr>
        <p:spPr>
          <a:xfrm>
            <a:off x="822960" y="205740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78408" y="2103120"/>
            <a:ext cx="46451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单元与回归测试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" name="Shape 12"/>
          <p:cNvSpPr/>
          <p:nvPr>
            <p:custDataLst>
              <p:tags r:id="rId4"/>
            </p:custDataLst>
          </p:nvPr>
        </p:nvSpPr>
        <p:spPr>
          <a:xfrm>
            <a:off x="6172200" y="205740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78535" y="2377440"/>
            <a:ext cx="4718050" cy="53022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ptrace.c、read_write_regs.c、set_options.c、debugger/debuggee、/proc/pid/mem、/proc/pid/maps、Yama、PTRACE_SYSCALL。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6327648" y="2103120"/>
            <a:ext cx="46451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 GDB 测试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327775" y="2377440"/>
            <a:ext cx="4717415" cy="47561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gdb_sample.c + gdb_commands.gdb：断点、backtrace、print、修改变量、内存查看/写入、单步、删除断点、继续执行。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8"/>
            </p:custDataLst>
          </p:nvPr>
        </p:nvSpPr>
        <p:spPr>
          <a:xfrm>
            <a:off x="822960" y="333756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978408" y="3474720"/>
            <a:ext cx="46451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strace 与 syscall-stop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978408" y="3803904"/>
            <a:ext cx="464515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验证系统调用 entry/exit 均可报告，stop signal 与 TRACESYSGOOD 编码可被 strace 正确解析。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1"/>
            </p:custDataLst>
          </p:nvPr>
        </p:nvSpPr>
        <p:spPr>
          <a:xfrm>
            <a:off x="6172200" y="3337560"/>
            <a:ext cx="495604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6327648" y="3474720"/>
            <a:ext cx="46451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兼容性测试原则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6327648" y="3803904"/>
            <a:ext cx="464515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引入 gVisor ptrace_test；以 ABI 行为为准，以真实工具为准，安全测试和功能测试同等重要。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920240" y="5074920"/>
            <a:ext cx="8412480" cy="56070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89760" y="5256149"/>
            <a:ext cx="8412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验收标准：真实 GDB / strace 能在 Asterinas 上原生运行并完成核心调试流程</a:t>
            </a:r>
            <a:endParaRPr lang="en-US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  <a:ea typeface="EB Garamond ExtraBold" pitchFamily="2" charset="0"/>
                <a:cs typeface="EB Garamond ExtraBold" pitchFamily="2" charset="0"/>
              </a:rPr>
              <a:t>PART four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55"/>
            <a:ext cx="2743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总结展望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4224655" cy="521970"/>
            <a:chOff x="7480300" y="3140844"/>
            <a:chExt cx="422465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9389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风险分析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后续路线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方正小标宋简体" panose="03000509000000000000" pitchFamily="2" charset="-122"/>
                  <a:ea typeface="方正小标宋简体" panose="03000509000000000000" pitchFamily="2" charset="-122"/>
                </a:rPr>
                <a:t>总结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ageCurlDouble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10146616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4.1 风险分析与后续路线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Shape 6"/>
          <p:cNvSpPr/>
          <p:nvPr/>
        </p:nvSpPr>
        <p:spPr>
          <a:xfrm>
            <a:off x="731520" y="1901952"/>
            <a:ext cx="1874520" cy="617220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7"/>
          <p:cNvSpPr/>
          <p:nvPr/>
        </p:nvSpPr>
        <p:spPr>
          <a:xfrm>
            <a:off x="768096" y="193852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主要风险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2606040" y="1901952"/>
            <a:ext cx="4572000" cy="617220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9"/>
          <p:cNvSpPr/>
          <p:nvPr/>
        </p:nvSpPr>
        <p:spPr>
          <a:xfrm>
            <a:off x="2642616" y="193852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具体表现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7178040" y="1901952"/>
            <a:ext cx="4297680" cy="617220"/>
          </a:xfrm>
          <a:prstGeom prst="rect">
            <a:avLst/>
          </a:prstGeom>
          <a:solidFill>
            <a:srgbClr val="A0001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7214616" y="193852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后续路线</a:t>
            </a:r>
            <a:endParaRPr lang="en-US" sz="1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731520" y="2519172"/>
            <a:ext cx="18745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768096" y="255574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stop/resume 竞态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2606040" y="2519172"/>
            <a:ext cx="457200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2642616" y="255574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 停止、tracer wait、resume、exit 之间可能竞态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7178040" y="2519172"/>
            <a:ext cx="4297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7214616" y="255574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并发压力测试与不变量梳理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731520" y="3136392"/>
            <a:ext cx="187452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768096" y="317296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锁序风险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2606040" y="3136392"/>
            <a:ext cx="457200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2642616" y="317296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tracees map、tracee_status、信号队列、wait queue 锁交错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7178040" y="3136392"/>
            <a:ext cx="429768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7214616" y="317296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固定锁序与路径审计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731520" y="3753612"/>
            <a:ext cx="18745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768096" y="379018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ABI 细节风险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2606040" y="3753612"/>
            <a:ext cx="457200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2642616" y="379018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GDB 对寄存器布局、段选择子、debug registers、personality 敏感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7178040" y="3753612"/>
            <a:ext cx="4297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214616" y="379018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补齐 regset、FP/SIMD、DR0–DR7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731520" y="4370832"/>
            <a:ext cx="187452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768096" y="440740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安全绕过风险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2606040" y="4370832"/>
            <a:ext cx="457200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2642616" y="440740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ptrace 与 procfs 若检查不统一可能出现绕过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7178040" y="4370832"/>
            <a:ext cx="4297680" cy="6172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7214616" y="440740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 access mode；补 dumpable、PR_SET_PTRACER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731520" y="4988052"/>
            <a:ext cx="18745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768096" y="5024628"/>
            <a:ext cx="180136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多线程/架构扩展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2606040" y="4988052"/>
            <a:ext cx="457200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2642616" y="5024628"/>
            <a:ext cx="449884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clone event-stop 与非 x86 寄存器 ABI 尚不完整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1" name="Shape 40"/>
          <p:cNvSpPr/>
          <p:nvPr/>
        </p:nvSpPr>
        <p:spPr>
          <a:xfrm>
            <a:off x="7178040" y="4988052"/>
            <a:ext cx="4297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214616" y="5024628"/>
            <a:ext cx="4224528" cy="5440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 fork/vfork/clone；推广到 riscv64/loongarch64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10146616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4.2 总结：从能跑 GDB 到调试能力骨架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研究背景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核心设计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实现与测试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方正中等线简体" panose="02000000000000000000" pitchFamily="2" charset="-122"/>
                          <a:ea typeface="方正中等线简体" panose="02000000000000000000" pitchFamily="2" charset="-122"/>
                        </a:rPr>
                        <a:t>总结展望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2229612"/>
            <a:ext cx="10469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" y="2366772"/>
            <a:ext cx="101589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设计核心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6696" y="2695956"/>
            <a:ext cx="10158984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 ptrace-stop 状态机为中心，把信号、异常、系统调用、wait、寄存器、跨进程内存访问和安全策略统一到一条 Linux ABI 兼容的调试路径中。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" name="Shape 9"/>
          <p:cNvSpPr/>
          <p:nvPr/>
        </p:nvSpPr>
        <p:spPr>
          <a:xfrm>
            <a:off x="841248" y="3454908"/>
            <a:ext cx="10469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696" y="3592068"/>
            <a:ext cx="101589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实现路径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96696" y="3921252"/>
            <a:ext cx="10158984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先落地 /proc/pid/maps 和 /proc/pid/mem，再实现 alien access 与安全检查；随后建立 ptrace syscall、stop/wait/resume 闭环，并补齐寄存器、单步、断点、options、event-stop、syscall-stop。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" name="Shape 12"/>
          <p:cNvSpPr/>
          <p:nvPr/>
        </p:nvSpPr>
        <p:spPr>
          <a:xfrm>
            <a:off x="841248" y="4689348"/>
            <a:ext cx="10469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" y="4826508"/>
            <a:ext cx="101589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项目价值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" name="Text 14"/>
          <p:cNvSpPr/>
          <p:nvPr/>
        </p:nvSpPr>
        <p:spPr>
          <a:xfrm>
            <a:off x="996696" y="5155692"/>
            <a:ext cx="10158984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不仅是“能跑 GDB”，更为 RustOS 建立了跨越多个内核子系统的调试能力骨架，也成为检验进程、内存、信号和安全模型正确性的综合压力测试入口。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425731" y="3589418"/>
            <a:ext cx="4732401" cy="1366387"/>
            <a:chOff x="4056604" y="3756300"/>
            <a:chExt cx="4732401" cy="1366387"/>
          </a:xfrm>
        </p:grpSpPr>
        <p:grpSp>
          <p:nvGrpSpPr>
            <p:cNvPr id="5" name="组合 4"/>
            <p:cNvGrpSpPr>
              <a:grpSpLocks noChangeAspect="1"/>
            </p:cNvGrpSpPr>
            <p:nvPr/>
          </p:nvGrpSpPr>
          <p:grpSpPr>
            <a:xfrm>
              <a:off x="4056604" y="3756300"/>
              <a:ext cx="576000" cy="576000"/>
              <a:chOff x="5312576" y="3233246"/>
              <a:chExt cx="1561578" cy="1561578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312576" y="3233246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8" name="椭圆 11"/>
              <p:cNvSpPr/>
              <p:nvPr/>
            </p:nvSpPr>
            <p:spPr>
              <a:xfrm>
                <a:off x="5736406" y="3597442"/>
                <a:ext cx="740329" cy="830424"/>
              </a:xfrm>
              <a:custGeom>
                <a:avLst/>
                <a:gdLst>
                  <a:gd name="connsiteX0" fmla="*/ 199932 w 300038"/>
                  <a:gd name="connsiteY0" fmla="*/ 273051 h 336551"/>
                  <a:gd name="connsiteX1" fmla="*/ 192088 w 300038"/>
                  <a:gd name="connsiteY1" fmla="*/ 280989 h 336551"/>
                  <a:gd name="connsiteX2" fmla="*/ 192088 w 300038"/>
                  <a:gd name="connsiteY2" fmla="*/ 306124 h 336551"/>
                  <a:gd name="connsiteX3" fmla="*/ 199932 w 300038"/>
                  <a:gd name="connsiteY3" fmla="*/ 312739 h 336551"/>
                  <a:gd name="connsiteX4" fmla="*/ 250919 w 300038"/>
                  <a:gd name="connsiteY4" fmla="*/ 312739 h 336551"/>
                  <a:gd name="connsiteX5" fmla="*/ 258763 w 300038"/>
                  <a:gd name="connsiteY5" fmla="*/ 306124 h 336551"/>
                  <a:gd name="connsiteX6" fmla="*/ 258763 w 300038"/>
                  <a:gd name="connsiteY6" fmla="*/ 280989 h 336551"/>
                  <a:gd name="connsiteX7" fmla="*/ 250919 w 300038"/>
                  <a:gd name="connsiteY7" fmla="*/ 273051 h 336551"/>
                  <a:gd name="connsiteX8" fmla="*/ 199932 w 300038"/>
                  <a:gd name="connsiteY8" fmla="*/ 273051 h 336551"/>
                  <a:gd name="connsiteX9" fmla="*/ 101328 w 300038"/>
                  <a:gd name="connsiteY9" fmla="*/ 196851 h 336551"/>
                  <a:gd name="connsiteX10" fmla="*/ 107908 w 300038"/>
                  <a:gd name="connsiteY10" fmla="*/ 196851 h 336551"/>
                  <a:gd name="connsiteX11" fmla="*/ 111856 w 300038"/>
                  <a:gd name="connsiteY11" fmla="*/ 202123 h 336551"/>
                  <a:gd name="connsiteX12" fmla="*/ 128964 w 300038"/>
                  <a:gd name="connsiteY12" fmla="*/ 248250 h 336551"/>
                  <a:gd name="connsiteX13" fmla="*/ 131595 w 300038"/>
                  <a:gd name="connsiteY13" fmla="*/ 239025 h 336551"/>
                  <a:gd name="connsiteX14" fmla="*/ 126332 w 300038"/>
                  <a:gd name="connsiteY14" fmla="*/ 225845 h 336551"/>
                  <a:gd name="connsiteX15" fmla="*/ 127648 w 300038"/>
                  <a:gd name="connsiteY15" fmla="*/ 217938 h 336551"/>
                  <a:gd name="connsiteX16" fmla="*/ 132911 w 300038"/>
                  <a:gd name="connsiteY16" fmla="*/ 215302 h 336551"/>
                  <a:gd name="connsiteX17" fmla="*/ 167126 w 300038"/>
                  <a:gd name="connsiteY17" fmla="*/ 215302 h 336551"/>
                  <a:gd name="connsiteX18" fmla="*/ 172390 w 300038"/>
                  <a:gd name="connsiteY18" fmla="*/ 217938 h 336551"/>
                  <a:gd name="connsiteX19" fmla="*/ 173706 w 300038"/>
                  <a:gd name="connsiteY19" fmla="*/ 225845 h 336551"/>
                  <a:gd name="connsiteX20" fmla="*/ 168442 w 300038"/>
                  <a:gd name="connsiteY20" fmla="*/ 239025 h 336551"/>
                  <a:gd name="connsiteX21" fmla="*/ 171074 w 300038"/>
                  <a:gd name="connsiteY21" fmla="*/ 248250 h 336551"/>
                  <a:gd name="connsiteX22" fmla="*/ 188182 w 300038"/>
                  <a:gd name="connsiteY22" fmla="*/ 202123 h 336551"/>
                  <a:gd name="connsiteX23" fmla="*/ 192130 w 300038"/>
                  <a:gd name="connsiteY23" fmla="*/ 196851 h 336551"/>
                  <a:gd name="connsiteX24" fmla="*/ 198710 w 300038"/>
                  <a:gd name="connsiteY24" fmla="*/ 196851 h 336551"/>
                  <a:gd name="connsiteX25" fmla="*/ 265823 w 300038"/>
                  <a:gd name="connsiteY25" fmla="*/ 224527 h 336551"/>
                  <a:gd name="connsiteX26" fmla="*/ 300038 w 300038"/>
                  <a:gd name="connsiteY26" fmla="*/ 274609 h 336551"/>
                  <a:gd name="connsiteX27" fmla="*/ 300038 w 300038"/>
                  <a:gd name="connsiteY27" fmla="*/ 328643 h 336551"/>
                  <a:gd name="connsiteX28" fmla="*/ 292142 w 300038"/>
                  <a:gd name="connsiteY28" fmla="*/ 336551 h 336551"/>
                  <a:gd name="connsiteX29" fmla="*/ 7896 w 300038"/>
                  <a:gd name="connsiteY29" fmla="*/ 336551 h 336551"/>
                  <a:gd name="connsiteX30" fmla="*/ 0 w 300038"/>
                  <a:gd name="connsiteY30" fmla="*/ 328643 h 336551"/>
                  <a:gd name="connsiteX31" fmla="*/ 0 w 300038"/>
                  <a:gd name="connsiteY31" fmla="*/ 274609 h 336551"/>
                  <a:gd name="connsiteX32" fmla="*/ 34215 w 300038"/>
                  <a:gd name="connsiteY32" fmla="*/ 224527 h 336551"/>
                  <a:gd name="connsiteX33" fmla="*/ 101328 w 300038"/>
                  <a:gd name="connsiteY33" fmla="*/ 196851 h 336551"/>
                  <a:gd name="connsiteX34" fmla="*/ 155328 w 300038"/>
                  <a:gd name="connsiteY34" fmla="*/ 0 h 336551"/>
                  <a:gd name="connsiteX35" fmla="*/ 201775 w 300038"/>
                  <a:gd name="connsiteY35" fmla="*/ 15854 h 336551"/>
                  <a:gd name="connsiteX36" fmla="*/ 223008 w 300038"/>
                  <a:gd name="connsiteY36" fmla="*/ 79268 h 336551"/>
                  <a:gd name="connsiteX37" fmla="*/ 224335 w 300038"/>
                  <a:gd name="connsiteY37" fmla="*/ 93801 h 336551"/>
                  <a:gd name="connsiteX38" fmla="*/ 229643 w 300038"/>
                  <a:gd name="connsiteY38" fmla="*/ 100407 h 336551"/>
                  <a:gd name="connsiteX39" fmla="*/ 232297 w 300038"/>
                  <a:gd name="connsiteY39" fmla="*/ 125508 h 336551"/>
                  <a:gd name="connsiteX40" fmla="*/ 208410 w 300038"/>
                  <a:gd name="connsiteY40" fmla="*/ 151931 h 336551"/>
                  <a:gd name="connsiteX41" fmla="*/ 185850 w 300038"/>
                  <a:gd name="connsiteY41" fmla="*/ 183639 h 336551"/>
                  <a:gd name="connsiteX42" fmla="*/ 172579 w 300038"/>
                  <a:gd name="connsiteY42" fmla="*/ 192887 h 336551"/>
                  <a:gd name="connsiteX43" fmla="*/ 150019 w 300038"/>
                  <a:gd name="connsiteY43" fmla="*/ 196850 h 336551"/>
                  <a:gd name="connsiteX44" fmla="*/ 127459 w 300038"/>
                  <a:gd name="connsiteY44" fmla="*/ 192887 h 336551"/>
                  <a:gd name="connsiteX45" fmla="*/ 114189 w 300038"/>
                  <a:gd name="connsiteY45" fmla="*/ 183639 h 336551"/>
                  <a:gd name="connsiteX46" fmla="*/ 91629 w 300038"/>
                  <a:gd name="connsiteY46" fmla="*/ 151931 h 336551"/>
                  <a:gd name="connsiteX47" fmla="*/ 67742 w 300038"/>
                  <a:gd name="connsiteY47" fmla="*/ 125508 h 336551"/>
                  <a:gd name="connsiteX48" fmla="*/ 70396 w 300038"/>
                  <a:gd name="connsiteY48" fmla="*/ 100407 h 336551"/>
                  <a:gd name="connsiteX49" fmla="*/ 75704 w 300038"/>
                  <a:gd name="connsiteY49" fmla="*/ 93801 h 336551"/>
                  <a:gd name="connsiteX50" fmla="*/ 77031 w 300038"/>
                  <a:gd name="connsiteY50" fmla="*/ 85874 h 336551"/>
                  <a:gd name="connsiteX51" fmla="*/ 74377 w 300038"/>
                  <a:gd name="connsiteY51" fmla="*/ 50203 h 336551"/>
                  <a:gd name="connsiteX52" fmla="*/ 103572 w 300038"/>
                  <a:gd name="connsiteY52" fmla="*/ 27744 h 336551"/>
                  <a:gd name="connsiteX53" fmla="*/ 119497 w 300038"/>
                  <a:gd name="connsiteY53" fmla="*/ 10569 h 336551"/>
                  <a:gd name="connsiteX54" fmla="*/ 155328 w 300038"/>
                  <a:gd name="connsiteY54" fmla="*/ 0 h 33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00038" h="336551">
                    <a:moveTo>
                      <a:pt x="199932" y="273051"/>
                    </a:moveTo>
                    <a:cubicBezTo>
                      <a:pt x="194703" y="273051"/>
                      <a:pt x="192088" y="277020"/>
                      <a:pt x="192088" y="280989"/>
                    </a:cubicBezTo>
                    <a:cubicBezTo>
                      <a:pt x="192088" y="306124"/>
                      <a:pt x="192088" y="306124"/>
                      <a:pt x="192088" y="306124"/>
                    </a:cubicBezTo>
                    <a:cubicBezTo>
                      <a:pt x="192088" y="310093"/>
                      <a:pt x="194703" y="312739"/>
                      <a:pt x="199932" y="312739"/>
                    </a:cubicBezTo>
                    <a:cubicBezTo>
                      <a:pt x="250919" y="312739"/>
                      <a:pt x="250919" y="312739"/>
                      <a:pt x="250919" y="312739"/>
                    </a:cubicBezTo>
                    <a:cubicBezTo>
                      <a:pt x="254841" y="312739"/>
                      <a:pt x="258763" y="310093"/>
                      <a:pt x="258763" y="306124"/>
                    </a:cubicBezTo>
                    <a:lnTo>
                      <a:pt x="258763" y="280989"/>
                    </a:lnTo>
                    <a:cubicBezTo>
                      <a:pt x="258763" y="277020"/>
                      <a:pt x="254841" y="273051"/>
                      <a:pt x="250919" y="273051"/>
                    </a:cubicBezTo>
                    <a:cubicBezTo>
                      <a:pt x="199932" y="273051"/>
                      <a:pt x="199932" y="273051"/>
                      <a:pt x="199932" y="273051"/>
                    </a:cubicBezTo>
                    <a:close/>
                    <a:moveTo>
                      <a:pt x="101328" y="196851"/>
                    </a:moveTo>
                    <a:cubicBezTo>
                      <a:pt x="103960" y="196851"/>
                      <a:pt x="105276" y="196851"/>
                      <a:pt x="107908" y="196851"/>
                    </a:cubicBezTo>
                    <a:cubicBezTo>
                      <a:pt x="109224" y="198169"/>
                      <a:pt x="110540" y="199487"/>
                      <a:pt x="111856" y="202123"/>
                    </a:cubicBezTo>
                    <a:cubicBezTo>
                      <a:pt x="128964" y="248250"/>
                      <a:pt x="128964" y="248250"/>
                      <a:pt x="128964" y="248250"/>
                    </a:cubicBezTo>
                    <a:cubicBezTo>
                      <a:pt x="131595" y="239025"/>
                      <a:pt x="131595" y="239025"/>
                      <a:pt x="131595" y="239025"/>
                    </a:cubicBezTo>
                    <a:cubicBezTo>
                      <a:pt x="126332" y="225845"/>
                      <a:pt x="126332" y="225845"/>
                      <a:pt x="126332" y="225845"/>
                    </a:cubicBezTo>
                    <a:cubicBezTo>
                      <a:pt x="125016" y="223209"/>
                      <a:pt x="126332" y="220574"/>
                      <a:pt x="127648" y="217938"/>
                    </a:cubicBezTo>
                    <a:cubicBezTo>
                      <a:pt x="128964" y="216620"/>
                      <a:pt x="131595" y="215302"/>
                      <a:pt x="132911" y="215302"/>
                    </a:cubicBezTo>
                    <a:cubicBezTo>
                      <a:pt x="167126" y="215302"/>
                      <a:pt x="167126" y="215302"/>
                      <a:pt x="167126" y="215302"/>
                    </a:cubicBezTo>
                    <a:cubicBezTo>
                      <a:pt x="168442" y="215302"/>
                      <a:pt x="171074" y="216620"/>
                      <a:pt x="172390" y="217938"/>
                    </a:cubicBezTo>
                    <a:cubicBezTo>
                      <a:pt x="173706" y="220574"/>
                      <a:pt x="175022" y="223209"/>
                      <a:pt x="173706" y="225845"/>
                    </a:cubicBezTo>
                    <a:cubicBezTo>
                      <a:pt x="168442" y="239025"/>
                      <a:pt x="168442" y="239025"/>
                      <a:pt x="168442" y="239025"/>
                    </a:cubicBezTo>
                    <a:cubicBezTo>
                      <a:pt x="171074" y="248250"/>
                      <a:pt x="171074" y="248250"/>
                      <a:pt x="171074" y="248250"/>
                    </a:cubicBezTo>
                    <a:cubicBezTo>
                      <a:pt x="188182" y="202123"/>
                      <a:pt x="188182" y="202123"/>
                      <a:pt x="188182" y="202123"/>
                    </a:cubicBezTo>
                    <a:cubicBezTo>
                      <a:pt x="189498" y="199487"/>
                      <a:pt x="190814" y="198169"/>
                      <a:pt x="192130" y="196851"/>
                    </a:cubicBezTo>
                    <a:cubicBezTo>
                      <a:pt x="194762" y="196851"/>
                      <a:pt x="196078" y="196851"/>
                      <a:pt x="198710" y="196851"/>
                    </a:cubicBezTo>
                    <a:cubicBezTo>
                      <a:pt x="265823" y="224527"/>
                      <a:pt x="265823" y="224527"/>
                      <a:pt x="265823" y="224527"/>
                    </a:cubicBezTo>
                    <a:cubicBezTo>
                      <a:pt x="286879" y="232435"/>
                      <a:pt x="300038" y="252204"/>
                      <a:pt x="300038" y="274609"/>
                    </a:cubicBezTo>
                    <a:cubicBezTo>
                      <a:pt x="300038" y="328643"/>
                      <a:pt x="300038" y="328643"/>
                      <a:pt x="300038" y="328643"/>
                    </a:cubicBezTo>
                    <a:cubicBezTo>
                      <a:pt x="300038" y="332597"/>
                      <a:pt x="296090" y="336551"/>
                      <a:pt x="292142" y="336551"/>
                    </a:cubicBezTo>
                    <a:cubicBezTo>
                      <a:pt x="7896" y="336551"/>
                      <a:pt x="7896" y="336551"/>
                      <a:pt x="7896" y="336551"/>
                    </a:cubicBezTo>
                    <a:cubicBezTo>
                      <a:pt x="3948" y="336551"/>
                      <a:pt x="0" y="332597"/>
                      <a:pt x="0" y="328643"/>
                    </a:cubicBezTo>
                    <a:cubicBezTo>
                      <a:pt x="0" y="274609"/>
                      <a:pt x="0" y="274609"/>
                      <a:pt x="0" y="274609"/>
                    </a:cubicBezTo>
                    <a:cubicBezTo>
                      <a:pt x="0" y="252204"/>
                      <a:pt x="13159" y="232435"/>
                      <a:pt x="34215" y="224527"/>
                    </a:cubicBezTo>
                    <a:cubicBezTo>
                      <a:pt x="101328" y="196851"/>
                      <a:pt x="101328" y="196851"/>
                      <a:pt x="101328" y="196851"/>
                    </a:cubicBezTo>
                    <a:close/>
                    <a:moveTo>
                      <a:pt x="155328" y="0"/>
                    </a:moveTo>
                    <a:cubicBezTo>
                      <a:pt x="171252" y="0"/>
                      <a:pt x="187177" y="5285"/>
                      <a:pt x="201775" y="15854"/>
                    </a:cubicBezTo>
                    <a:cubicBezTo>
                      <a:pt x="225662" y="34350"/>
                      <a:pt x="223008" y="72663"/>
                      <a:pt x="223008" y="79268"/>
                    </a:cubicBezTo>
                    <a:cubicBezTo>
                      <a:pt x="223008" y="84553"/>
                      <a:pt x="224335" y="89838"/>
                      <a:pt x="224335" y="93801"/>
                    </a:cubicBezTo>
                    <a:cubicBezTo>
                      <a:pt x="225662" y="95122"/>
                      <a:pt x="228316" y="96443"/>
                      <a:pt x="229643" y="100407"/>
                    </a:cubicBezTo>
                    <a:cubicBezTo>
                      <a:pt x="234951" y="107012"/>
                      <a:pt x="234951" y="114939"/>
                      <a:pt x="232297" y="125508"/>
                    </a:cubicBezTo>
                    <a:cubicBezTo>
                      <a:pt x="226989" y="146647"/>
                      <a:pt x="215045" y="150610"/>
                      <a:pt x="208410" y="151931"/>
                    </a:cubicBezTo>
                    <a:cubicBezTo>
                      <a:pt x="204429" y="159858"/>
                      <a:pt x="195139" y="175712"/>
                      <a:pt x="185850" y="183639"/>
                    </a:cubicBezTo>
                    <a:cubicBezTo>
                      <a:pt x="183196" y="187602"/>
                      <a:pt x="177888" y="190244"/>
                      <a:pt x="172579" y="192887"/>
                    </a:cubicBezTo>
                    <a:cubicBezTo>
                      <a:pt x="164617" y="195529"/>
                      <a:pt x="157982" y="196850"/>
                      <a:pt x="150019" y="196850"/>
                    </a:cubicBezTo>
                    <a:cubicBezTo>
                      <a:pt x="142057" y="196850"/>
                      <a:pt x="135422" y="195529"/>
                      <a:pt x="127459" y="192887"/>
                    </a:cubicBezTo>
                    <a:cubicBezTo>
                      <a:pt x="122151" y="190244"/>
                      <a:pt x="116843" y="187602"/>
                      <a:pt x="114189" y="183639"/>
                    </a:cubicBezTo>
                    <a:cubicBezTo>
                      <a:pt x="104900" y="175712"/>
                      <a:pt x="95610" y="159858"/>
                      <a:pt x="91629" y="151931"/>
                    </a:cubicBezTo>
                    <a:cubicBezTo>
                      <a:pt x="84994" y="150610"/>
                      <a:pt x="73050" y="146647"/>
                      <a:pt x="67742" y="125508"/>
                    </a:cubicBezTo>
                    <a:cubicBezTo>
                      <a:pt x="65088" y="114939"/>
                      <a:pt x="65088" y="107012"/>
                      <a:pt x="70396" y="100407"/>
                    </a:cubicBezTo>
                    <a:cubicBezTo>
                      <a:pt x="71723" y="96443"/>
                      <a:pt x="74377" y="95122"/>
                      <a:pt x="75704" y="93801"/>
                    </a:cubicBezTo>
                    <a:cubicBezTo>
                      <a:pt x="75704" y="91159"/>
                      <a:pt x="75704" y="88516"/>
                      <a:pt x="77031" y="85874"/>
                    </a:cubicBezTo>
                    <a:cubicBezTo>
                      <a:pt x="73050" y="80590"/>
                      <a:pt x="67742" y="68699"/>
                      <a:pt x="74377" y="50203"/>
                    </a:cubicBezTo>
                    <a:cubicBezTo>
                      <a:pt x="81013" y="30386"/>
                      <a:pt x="95610" y="27744"/>
                      <a:pt x="103572" y="27744"/>
                    </a:cubicBezTo>
                    <a:cubicBezTo>
                      <a:pt x="106227" y="22459"/>
                      <a:pt x="111535" y="17175"/>
                      <a:pt x="119497" y="10569"/>
                    </a:cubicBezTo>
                    <a:cubicBezTo>
                      <a:pt x="128786" y="3963"/>
                      <a:pt x="142057" y="0"/>
                      <a:pt x="155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4056604" y="4546687"/>
              <a:ext cx="576000" cy="576000"/>
              <a:chOff x="312256" y="5505217"/>
              <a:chExt cx="1561578" cy="156157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12256" y="5505217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grpSp>
            <p:nvGrpSpPr>
              <p:cNvPr id="11" name="组合 10"/>
              <p:cNvGrpSpPr>
                <a:grpSpLocks noChangeAspect="1"/>
              </p:cNvGrpSpPr>
              <p:nvPr/>
            </p:nvGrpSpPr>
            <p:grpSpPr>
              <a:xfrm>
                <a:off x="655432" y="5793810"/>
                <a:ext cx="875247" cy="1012007"/>
                <a:chOff x="-8569682" y="7503107"/>
                <a:chExt cx="1095478" cy="1266650"/>
              </a:xfrm>
            </p:grpSpPr>
            <p:sp>
              <p:nvSpPr>
                <p:cNvPr id="13" name="Freeform 431"/>
                <p:cNvSpPr>
                  <a:spLocks noEditPoints="1"/>
                </p:cNvSpPr>
                <p:nvPr/>
              </p:nvSpPr>
              <p:spPr bwMode="auto">
                <a:xfrm>
                  <a:off x="-8569682" y="7503107"/>
                  <a:ext cx="1095478" cy="1266650"/>
                </a:xfrm>
                <a:custGeom>
                  <a:avLst/>
                  <a:gdLst>
                    <a:gd name="T0" fmla="*/ 218 w 248"/>
                    <a:gd name="T1" fmla="*/ 40 h 287"/>
                    <a:gd name="T2" fmla="*/ 218 w 248"/>
                    <a:gd name="T3" fmla="*/ 24 h 287"/>
                    <a:gd name="T4" fmla="*/ 193 w 248"/>
                    <a:gd name="T5" fmla="*/ 0 h 287"/>
                    <a:gd name="T6" fmla="*/ 167 w 248"/>
                    <a:gd name="T7" fmla="*/ 24 h 287"/>
                    <a:gd name="T8" fmla="*/ 167 w 248"/>
                    <a:gd name="T9" fmla="*/ 40 h 287"/>
                    <a:gd name="T10" fmla="*/ 150 w 248"/>
                    <a:gd name="T11" fmla="*/ 40 h 287"/>
                    <a:gd name="T12" fmla="*/ 150 w 248"/>
                    <a:gd name="T13" fmla="*/ 24 h 287"/>
                    <a:gd name="T14" fmla="*/ 124 w 248"/>
                    <a:gd name="T15" fmla="*/ 0 h 287"/>
                    <a:gd name="T16" fmla="*/ 98 w 248"/>
                    <a:gd name="T17" fmla="*/ 24 h 287"/>
                    <a:gd name="T18" fmla="*/ 98 w 248"/>
                    <a:gd name="T19" fmla="*/ 40 h 287"/>
                    <a:gd name="T20" fmla="*/ 81 w 248"/>
                    <a:gd name="T21" fmla="*/ 40 h 287"/>
                    <a:gd name="T22" fmla="*/ 81 w 248"/>
                    <a:gd name="T23" fmla="*/ 24 h 287"/>
                    <a:gd name="T24" fmla="*/ 55 w 248"/>
                    <a:gd name="T25" fmla="*/ 0 h 287"/>
                    <a:gd name="T26" fmla="*/ 29 w 248"/>
                    <a:gd name="T27" fmla="*/ 24 h 287"/>
                    <a:gd name="T28" fmla="*/ 29 w 248"/>
                    <a:gd name="T29" fmla="*/ 40 h 287"/>
                    <a:gd name="T30" fmla="*/ 0 w 248"/>
                    <a:gd name="T31" fmla="*/ 40 h 287"/>
                    <a:gd name="T32" fmla="*/ 0 w 248"/>
                    <a:gd name="T33" fmla="*/ 287 h 287"/>
                    <a:gd name="T34" fmla="*/ 248 w 248"/>
                    <a:gd name="T35" fmla="*/ 287 h 287"/>
                    <a:gd name="T36" fmla="*/ 248 w 248"/>
                    <a:gd name="T37" fmla="*/ 40 h 287"/>
                    <a:gd name="T38" fmla="*/ 218 w 248"/>
                    <a:gd name="T39" fmla="*/ 40 h 287"/>
                    <a:gd name="T40" fmla="*/ 181 w 248"/>
                    <a:gd name="T41" fmla="*/ 24 h 287"/>
                    <a:gd name="T42" fmla="*/ 193 w 248"/>
                    <a:gd name="T43" fmla="*/ 14 h 287"/>
                    <a:gd name="T44" fmla="*/ 205 w 248"/>
                    <a:gd name="T45" fmla="*/ 24 h 287"/>
                    <a:gd name="T46" fmla="*/ 205 w 248"/>
                    <a:gd name="T47" fmla="*/ 66 h 287"/>
                    <a:gd name="T48" fmla="*/ 193 w 248"/>
                    <a:gd name="T49" fmla="*/ 76 h 287"/>
                    <a:gd name="T50" fmla="*/ 181 w 248"/>
                    <a:gd name="T51" fmla="*/ 66 h 287"/>
                    <a:gd name="T52" fmla="*/ 181 w 248"/>
                    <a:gd name="T53" fmla="*/ 24 h 287"/>
                    <a:gd name="T54" fmla="*/ 112 w 248"/>
                    <a:gd name="T55" fmla="*/ 24 h 287"/>
                    <a:gd name="T56" fmla="*/ 124 w 248"/>
                    <a:gd name="T57" fmla="*/ 14 h 287"/>
                    <a:gd name="T58" fmla="*/ 136 w 248"/>
                    <a:gd name="T59" fmla="*/ 24 h 287"/>
                    <a:gd name="T60" fmla="*/ 136 w 248"/>
                    <a:gd name="T61" fmla="*/ 66 h 287"/>
                    <a:gd name="T62" fmla="*/ 124 w 248"/>
                    <a:gd name="T63" fmla="*/ 76 h 287"/>
                    <a:gd name="T64" fmla="*/ 112 w 248"/>
                    <a:gd name="T65" fmla="*/ 66 h 287"/>
                    <a:gd name="T66" fmla="*/ 112 w 248"/>
                    <a:gd name="T67" fmla="*/ 24 h 287"/>
                    <a:gd name="T68" fmla="*/ 43 w 248"/>
                    <a:gd name="T69" fmla="*/ 24 h 287"/>
                    <a:gd name="T70" fmla="*/ 55 w 248"/>
                    <a:gd name="T71" fmla="*/ 14 h 287"/>
                    <a:gd name="T72" fmla="*/ 67 w 248"/>
                    <a:gd name="T73" fmla="*/ 24 h 287"/>
                    <a:gd name="T74" fmla="*/ 67 w 248"/>
                    <a:gd name="T75" fmla="*/ 66 h 287"/>
                    <a:gd name="T76" fmla="*/ 55 w 248"/>
                    <a:gd name="T77" fmla="*/ 76 h 287"/>
                    <a:gd name="T78" fmla="*/ 43 w 248"/>
                    <a:gd name="T79" fmla="*/ 66 h 287"/>
                    <a:gd name="T80" fmla="*/ 43 w 248"/>
                    <a:gd name="T81" fmla="*/ 24 h 287"/>
                    <a:gd name="T82" fmla="*/ 227 w 248"/>
                    <a:gd name="T83" fmla="*/ 267 h 287"/>
                    <a:gd name="T84" fmla="*/ 21 w 248"/>
                    <a:gd name="T85" fmla="*/ 267 h 287"/>
                    <a:gd name="T86" fmla="*/ 21 w 248"/>
                    <a:gd name="T87" fmla="*/ 95 h 287"/>
                    <a:gd name="T88" fmla="*/ 227 w 248"/>
                    <a:gd name="T89" fmla="*/ 95 h 287"/>
                    <a:gd name="T90" fmla="*/ 227 w 248"/>
                    <a:gd name="T91" fmla="*/ 26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8" h="287">
                      <a:moveTo>
                        <a:pt x="218" y="40"/>
                      </a:moveTo>
                      <a:cubicBezTo>
                        <a:pt x="218" y="24"/>
                        <a:pt x="218" y="24"/>
                        <a:pt x="218" y="24"/>
                      </a:cubicBezTo>
                      <a:cubicBezTo>
                        <a:pt x="218" y="9"/>
                        <a:pt x="209" y="0"/>
                        <a:pt x="193" y="0"/>
                      </a:cubicBezTo>
                      <a:cubicBezTo>
                        <a:pt x="177" y="0"/>
                        <a:pt x="167" y="9"/>
                        <a:pt x="167" y="24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cubicBezTo>
                        <a:pt x="150" y="40"/>
                        <a:pt x="150" y="40"/>
                        <a:pt x="150" y="40"/>
                      </a:cubicBezTo>
                      <a:cubicBezTo>
                        <a:pt x="150" y="24"/>
                        <a:pt x="150" y="24"/>
                        <a:pt x="150" y="24"/>
                      </a:cubicBezTo>
                      <a:cubicBezTo>
                        <a:pt x="150" y="9"/>
                        <a:pt x="140" y="0"/>
                        <a:pt x="124" y="0"/>
                      </a:cubicBezTo>
                      <a:cubicBezTo>
                        <a:pt x="108" y="0"/>
                        <a:pt x="98" y="9"/>
                        <a:pt x="98" y="24"/>
                      </a:cubicBezTo>
                      <a:cubicBezTo>
                        <a:pt x="98" y="40"/>
                        <a:pt x="98" y="40"/>
                        <a:pt x="98" y="40"/>
                      </a:cubicBezTo>
                      <a:cubicBezTo>
                        <a:pt x="81" y="40"/>
                        <a:pt x="81" y="40"/>
                        <a:pt x="81" y="40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9"/>
                        <a:pt x="71" y="0"/>
                        <a:pt x="55" y="0"/>
                      </a:cubicBezTo>
                      <a:cubicBezTo>
                        <a:pt x="39" y="0"/>
                        <a:pt x="29" y="9"/>
                        <a:pt x="29" y="24"/>
                      </a:cubicBezTo>
                      <a:cubicBezTo>
                        <a:pt x="29" y="40"/>
                        <a:pt x="29" y="40"/>
                        <a:pt x="29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287"/>
                        <a:pt x="0" y="287"/>
                        <a:pt x="0" y="287"/>
                      </a:cubicBezTo>
                      <a:cubicBezTo>
                        <a:pt x="248" y="287"/>
                        <a:pt x="248" y="287"/>
                        <a:pt x="248" y="287"/>
                      </a:cubicBezTo>
                      <a:cubicBezTo>
                        <a:pt x="248" y="40"/>
                        <a:pt x="248" y="40"/>
                        <a:pt x="248" y="40"/>
                      </a:cubicBezTo>
                      <a:lnTo>
                        <a:pt x="218" y="40"/>
                      </a:lnTo>
                      <a:close/>
                      <a:moveTo>
                        <a:pt x="181" y="24"/>
                      </a:moveTo>
                      <a:cubicBezTo>
                        <a:pt x="181" y="17"/>
                        <a:pt x="184" y="14"/>
                        <a:pt x="193" y="14"/>
                      </a:cubicBezTo>
                      <a:cubicBezTo>
                        <a:pt x="201" y="14"/>
                        <a:pt x="205" y="17"/>
                        <a:pt x="205" y="24"/>
                      </a:cubicBezTo>
                      <a:cubicBezTo>
                        <a:pt x="205" y="66"/>
                        <a:pt x="205" y="66"/>
                        <a:pt x="205" y="66"/>
                      </a:cubicBezTo>
                      <a:cubicBezTo>
                        <a:pt x="205" y="73"/>
                        <a:pt x="201" y="76"/>
                        <a:pt x="193" y="76"/>
                      </a:cubicBezTo>
                      <a:cubicBezTo>
                        <a:pt x="184" y="76"/>
                        <a:pt x="181" y="73"/>
                        <a:pt x="181" y="66"/>
                      </a:cubicBezTo>
                      <a:lnTo>
                        <a:pt x="181" y="24"/>
                      </a:lnTo>
                      <a:close/>
                      <a:moveTo>
                        <a:pt x="112" y="24"/>
                      </a:moveTo>
                      <a:cubicBezTo>
                        <a:pt x="112" y="17"/>
                        <a:pt x="115" y="14"/>
                        <a:pt x="124" y="14"/>
                      </a:cubicBezTo>
                      <a:cubicBezTo>
                        <a:pt x="132" y="14"/>
                        <a:pt x="136" y="17"/>
                        <a:pt x="136" y="24"/>
                      </a:cubicBezTo>
                      <a:cubicBezTo>
                        <a:pt x="136" y="66"/>
                        <a:pt x="136" y="66"/>
                        <a:pt x="136" y="66"/>
                      </a:cubicBezTo>
                      <a:cubicBezTo>
                        <a:pt x="136" y="73"/>
                        <a:pt x="132" y="76"/>
                        <a:pt x="124" y="76"/>
                      </a:cubicBezTo>
                      <a:cubicBezTo>
                        <a:pt x="115" y="76"/>
                        <a:pt x="112" y="73"/>
                        <a:pt x="112" y="66"/>
                      </a:cubicBezTo>
                      <a:lnTo>
                        <a:pt x="112" y="24"/>
                      </a:lnTo>
                      <a:close/>
                      <a:moveTo>
                        <a:pt x="43" y="24"/>
                      </a:moveTo>
                      <a:cubicBezTo>
                        <a:pt x="43" y="17"/>
                        <a:pt x="47" y="14"/>
                        <a:pt x="55" y="14"/>
                      </a:cubicBezTo>
                      <a:cubicBezTo>
                        <a:pt x="64" y="14"/>
                        <a:pt x="67" y="17"/>
                        <a:pt x="67" y="24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7" y="73"/>
                        <a:pt x="64" y="76"/>
                        <a:pt x="55" y="76"/>
                      </a:cubicBezTo>
                      <a:cubicBezTo>
                        <a:pt x="47" y="76"/>
                        <a:pt x="43" y="73"/>
                        <a:pt x="43" y="66"/>
                      </a:cubicBezTo>
                      <a:lnTo>
                        <a:pt x="43" y="24"/>
                      </a:lnTo>
                      <a:close/>
                      <a:moveTo>
                        <a:pt x="227" y="267"/>
                      </a:moveTo>
                      <a:cubicBezTo>
                        <a:pt x="21" y="267"/>
                        <a:pt x="21" y="267"/>
                        <a:pt x="21" y="267"/>
                      </a:cubicBezTo>
                      <a:cubicBezTo>
                        <a:pt x="21" y="95"/>
                        <a:pt x="21" y="95"/>
                        <a:pt x="21" y="95"/>
                      </a:cubicBezTo>
                      <a:cubicBezTo>
                        <a:pt x="227" y="95"/>
                        <a:pt x="227" y="95"/>
                        <a:pt x="227" y="95"/>
                      </a:cubicBezTo>
                      <a:lnTo>
                        <a:pt x="227" y="26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 432"/>
                <p:cNvSpPr/>
                <p:nvPr/>
              </p:nvSpPr>
              <p:spPr bwMode="auto">
                <a:xfrm>
                  <a:off x="-8318647" y="8101314"/>
                  <a:ext cx="296691" cy="456448"/>
                </a:xfrm>
                <a:custGeom>
                  <a:avLst/>
                  <a:gdLst>
                    <a:gd name="T0" fmla="*/ 66 w 66"/>
                    <a:gd name="T1" fmla="*/ 70 h 102"/>
                    <a:gd name="T2" fmla="*/ 42 w 66"/>
                    <a:gd name="T3" fmla="*/ 46 h 102"/>
                    <a:gd name="T4" fmla="*/ 42 w 66"/>
                    <a:gd name="T5" fmla="*/ 45 h 102"/>
                    <a:gd name="T6" fmla="*/ 64 w 66"/>
                    <a:gd name="T7" fmla="*/ 21 h 102"/>
                    <a:gd name="T8" fmla="*/ 31 w 66"/>
                    <a:gd name="T9" fmla="*/ 0 h 102"/>
                    <a:gd name="T10" fmla="*/ 3 w 66"/>
                    <a:gd name="T11" fmla="*/ 5 h 102"/>
                    <a:gd name="T12" fmla="*/ 5 w 66"/>
                    <a:gd name="T13" fmla="*/ 22 h 102"/>
                    <a:gd name="T14" fmla="*/ 26 w 66"/>
                    <a:gd name="T15" fmla="*/ 17 h 102"/>
                    <a:gd name="T16" fmla="*/ 40 w 66"/>
                    <a:gd name="T17" fmla="*/ 27 h 102"/>
                    <a:gd name="T18" fmla="*/ 19 w 66"/>
                    <a:gd name="T19" fmla="*/ 39 h 102"/>
                    <a:gd name="T20" fmla="*/ 19 w 66"/>
                    <a:gd name="T21" fmla="*/ 57 h 102"/>
                    <a:gd name="T22" fmla="*/ 44 w 66"/>
                    <a:gd name="T23" fmla="*/ 72 h 102"/>
                    <a:gd name="T24" fmla="*/ 27 w 66"/>
                    <a:gd name="T25" fmla="*/ 85 h 102"/>
                    <a:gd name="T26" fmla="*/ 3 w 66"/>
                    <a:gd name="T27" fmla="*/ 80 h 102"/>
                    <a:gd name="T28" fmla="*/ 0 w 66"/>
                    <a:gd name="T29" fmla="*/ 98 h 102"/>
                    <a:gd name="T30" fmla="*/ 25 w 66"/>
                    <a:gd name="T31" fmla="*/ 102 h 102"/>
                    <a:gd name="T32" fmla="*/ 66 w 66"/>
                    <a:gd name="T33" fmla="*/ 7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102">
                      <a:moveTo>
                        <a:pt x="66" y="70"/>
                      </a:moveTo>
                      <a:cubicBezTo>
                        <a:pt x="66" y="57"/>
                        <a:pt x="58" y="50"/>
                        <a:pt x="42" y="46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56" y="41"/>
                        <a:pt x="64" y="33"/>
                        <a:pt x="64" y="21"/>
                      </a:cubicBezTo>
                      <a:cubicBezTo>
                        <a:pt x="64" y="9"/>
                        <a:pt x="52" y="0"/>
                        <a:pt x="31" y="0"/>
                      </a:cubicBezTo>
                      <a:cubicBezTo>
                        <a:pt x="22" y="0"/>
                        <a:pt x="12" y="1"/>
                        <a:pt x="3" y="5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12" y="19"/>
                        <a:pt x="19" y="17"/>
                        <a:pt x="26" y="17"/>
                      </a:cubicBezTo>
                      <a:cubicBezTo>
                        <a:pt x="37" y="17"/>
                        <a:pt x="40" y="21"/>
                        <a:pt x="40" y="27"/>
                      </a:cubicBezTo>
                      <a:cubicBezTo>
                        <a:pt x="40" y="35"/>
                        <a:pt x="32" y="38"/>
                        <a:pt x="19" y="39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38" y="58"/>
                        <a:pt x="44" y="62"/>
                        <a:pt x="44" y="72"/>
                      </a:cubicBezTo>
                      <a:cubicBezTo>
                        <a:pt x="44" y="79"/>
                        <a:pt x="37" y="85"/>
                        <a:pt x="27" y="85"/>
                      </a:cubicBezTo>
                      <a:cubicBezTo>
                        <a:pt x="18" y="85"/>
                        <a:pt x="11" y="83"/>
                        <a:pt x="3" y="8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7" y="100"/>
                        <a:pt x="16" y="102"/>
                        <a:pt x="25" y="102"/>
                      </a:cubicBezTo>
                      <a:cubicBezTo>
                        <a:pt x="48" y="102"/>
                        <a:pt x="66" y="91"/>
                        <a:pt x="66" y="7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" name="Freeform 433"/>
                <p:cNvSpPr/>
                <p:nvPr/>
              </p:nvSpPr>
              <p:spPr bwMode="auto">
                <a:xfrm>
                  <a:off x="-7914802" y="8100591"/>
                  <a:ext cx="182580" cy="433628"/>
                </a:xfrm>
                <a:custGeom>
                  <a:avLst/>
                  <a:gdLst>
                    <a:gd name="T0" fmla="*/ 8 w 16"/>
                    <a:gd name="T1" fmla="*/ 10 h 38"/>
                    <a:gd name="T2" fmla="*/ 8 w 16"/>
                    <a:gd name="T3" fmla="*/ 38 h 38"/>
                    <a:gd name="T4" fmla="*/ 16 w 16"/>
                    <a:gd name="T5" fmla="*/ 38 h 38"/>
                    <a:gd name="T6" fmla="*/ 16 w 16"/>
                    <a:gd name="T7" fmla="*/ 0 h 38"/>
                    <a:gd name="T8" fmla="*/ 12 w 16"/>
                    <a:gd name="T9" fmla="*/ 0 h 38"/>
                    <a:gd name="T10" fmla="*/ 0 w 16"/>
                    <a:gd name="T11" fmla="*/ 6 h 38"/>
                    <a:gd name="T12" fmla="*/ 1 w 16"/>
                    <a:gd name="T13" fmla="*/ 13 h 38"/>
                    <a:gd name="T14" fmla="*/ 8 w 16"/>
                    <a:gd name="T15" fmla="*/ 1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38">
                      <a:moveTo>
                        <a:pt x="8" y="10"/>
                      </a:moveTo>
                      <a:lnTo>
                        <a:pt x="8" y="38"/>
                      </a:lnTo>
                      <a:lnTo>
                        <a:pt x="16" y="38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0" y="6"/>
                      </a:lnTo>
                      <a:lnTo>
                        <a:pt x="1" y="13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7" name="文本框 6"/>
            <p:cNvSpPr txBox="1"/>
            <p:nvPr/>
          </p:nvSpPr>
          <p:spPr>
            <a:xfrm>
              <a:off x="4789394" y="3797575"/>
              <a:ext cx="2259330" cy="544572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汇报人：王思远</a:t>
              </a:r>
              <a:endParaRPr lang="zh-CN" altLang="en-US" dirty="0">
                <a:solidFill>
                  <a:srgbClr val="8B0012"/>
                </a:solidFill>
                <a:latin typeface="方正中等线简体" panose="02000000000000000000" pitchFamily="2" charset="-122"/>
                <a:ea typeface="方正中等线简体" panose="02000000000000000000" pitchFamily="2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45923" y="4497029"/>
              <a:ext cx="4043082" cy="520826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汇报日期：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2026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年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XX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月</a:t>
              </a:r>
              <a:r>
                <a:rPr lang="en-US" altLang="zh-CN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XX</a:t>
              </a:r>
              <a:r>
                <a:rPr lang="zh-CN" altLang="en-US" dirty="0">
                  <a:solidFill>
                    <a:srgbClr val="8B0012"/>
                  </a:solidFill>
                  <a:latin typeface="方正中等线简体" panose="02000000000000000000" pitchFamily="2" charset="-122"/>
                  <a:ea typeface="方正中等线简体" panose="02000000000000000000" pitchFamily="2" charset="-122"/>
                </a:rPr>
                <a:t>日</a:t>
              </a:r>
              <a:endParaRPr lang="zh-CN" altLang="en-US" dirty="0">
                <a:solidFill>
                  <a:srgbClr val="8B0012"/>
                </a:solidFill>
                <a:latin typeface="方正中等线简体" panose="02000000000000000000" pitchFamily="2" charset="-122"/>
                <a:ea typeface="方正中等线简体" panose="02000000000000000000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19830" y="1751669"/>
            <a:ext cx="8301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kern="1600" dirty="0">
                <a:latin typeface="方正大标宋简体" panose="02000000000000000000" pitchFamily="2" charset="-122"/>
                <a:ea typeface="方正大标宋简体" panose="02000000000000000000" pitchFamily="2" charset="-122"/>
              </a:rPr>
              <a:t>谢谢！</a:t>
            </a:r>
            <a:endParaRPr lang="zh-CN" sz="5400" kern="1600" dirty="0"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7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8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9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0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1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2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3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4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7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38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39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0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1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2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3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4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5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6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7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8.xml><?xml version="1.0" encoding="utf-8"?>
<p:tagLst xmlns:p="http://schemas.openxmlformats.org/presentationml/2006/main">
  <p:tag name="KSO_WM_DIAGRAM_VIRTUALLY_FRAME" val="{&quot;height&quot;:314.19999999999993,&quot;left&quot;:54.75000000000002,&quot;top&quot;:152.64000000000001,&quot;width&quot;:824.3700000000001}"/>
</p:tagLst>
</file>

<file path=ppt/tags/tag49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0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1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2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3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4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5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6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7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58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59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0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1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2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3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4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5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6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7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8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69.xml><?xml version="1.0" encoding="utf-8"?>
<p:tagLst xmlns:p="http://schemas.openxmlformats.org/presentationml/2006/main">
  <p:tag name="KSO_WM_DIAGRAM_VIRTUALLY_FRAME" val="{&quot;height&quot;:185.76,&quot;left&quot;:66.05,&quot;top&quot;:176.95999999999998,&quot;width&quot;:806.4}"/>
</p:tagLst>
</file>

<file path=ppt/tags/tag70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1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2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3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4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5.xml><?xml version="1.0" encoding="utf-8"?>
<p:tagLst xmlns:p="http://schemas.openxmlformats.org/presentationml/2006/main">
  <p:tag name="KSO_WM_DIAGRAM_VIRTUALLY_FRAME" val="{&quot;height&quot;:180,&quot;left&quot;:446.4,&quot;top&quot;:167.85,&quot;width&quot;:450}"/>
</p:tagLst>
</file>

<file path=ppt/tags/tag76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77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78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79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0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1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2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3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4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5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6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ags/tag87.xml><?xml version="1.0" encoding="utf-8"?>
<p:tagLst xmlns:p="http://schemas.openxmlformats.org/presentationml/2006/main">
  <p:tag name="KSO_WM_DIAGRAM_VIRTUALLY_FRAME" val="{&quot;height&quot;:177.84,&quot;left&quot;:64.8,&quot;top&quot;:165.6,&quot;width&quot;:811.4399999999999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10015</Words>
  <Application>WPS 演示</Application>
  <PresentationFormat>宽屏</PresentationFormat>
  <Paragraphs>1051</Paragraphs>
  <Slides>31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66" baseType="lpstr">
      <vt:lpstr>Arial</vt:lpstr>
      <vt:lpstr>宋体</vt:lpstr>
      <vt:lpstr>Wingdings</vt:lpstr>
      <vt:lpstr>方正大标宋简体</vt:lpstr>
      <vt:lpstr>微软雅黑</vt:lpstr>
      <vt:lpstr>方正小标宋简体</vt:lpstr>
      <vt:lpstr>微软雅黑 Light</vt:lpstr>
      <vt:lpstr>方正中等线简体</vt:lpstr>
      <vt:lpstr>Arial Black</vt:lpstr>
      <vt:lpstr>EB Garamond ExtraBold</vt:lpstr>
      <vt:lpstr>Garamond</vt:lpstr>
      <vt:lpstr>思源黑体 CN Heavy</vt:lpstr>
      <vt:lpstr>方正正中黑简体</vt:lpstr>
      <vt:lpstr>思源黑体 CN Bold</vt:lpstr>
      <vt:lpstr>等线</vt:lpstr>
      <vt:lpstr>方正楷体简体</vt:lpstr>
      <vt:lpstr>思源黑体 Bold</vt:lpstr>
      <vt:lpstr>方正书宋简体</vt:lpstr>
      <vt:lpstr>思源黑体</vt:lpstr>
      <vt:lpstr>Arial Unicode MS</vt:lpstr>
      <vt:lpstr>等线 Light</vt:lpstr>
      <vt:lpstr>KSOF10C3A506</vt:lpstr>
      <vt:lpstr>Segoe Print</vt:lpstr>
      <vt:lpstr>思源黑体 2</vt:lpstr>
      <vt:lpstr>方正粗宋简体</vt:lpstr>
      <vt:lpstr>思源黑体 1 Bold</vt:lpstr>
      <vt:lpstr>黑体</vt:lpstr>
      <vt:lpstr>KSOF615CD7A2</vt:lpstr>
      <vt:lpstr>微软雅黑</vt:lpstr>
      <vt:lpstr>KSOFCE745A90</vt:lpstr>
      <vt:lpstr>Consolas</vt:lpstr>
      <vt:lpstr>Consolas</vt:lpstr>
      <vt:lpstr>Consolas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范心怡</cp:lastModifiedBy>
  <cp:revision>17</cp:revision>
  <dcterms:created xsi:type="dcterms:W3CDTF">2025-12-03T04:45:00Z</dcterms:created>
  <dcterms:modified xsi:type="dcterms:W3CDTF">2026-06-13T15:49:59Z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8B28768629894ACA8202718EE72CF5A8_12</vt:lpwstr>
  </property>
</Properties>
</file>